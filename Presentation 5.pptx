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8" r:id="rId4"/>
  </p:sldMasterIdLst>
  <p:notesMasterIdLst>
    <p:notesMasterId r:id="rId27"/>
  </p:notesMasterIdLst>
  <p:handoutMasterIdLst>
    <p:handoutMasterId r:id="rId28"/>
  </p:handoutMasterIdLst>
  <p:sldIdLst>
    <p:sldId id="278" r:id="rId5"/>
    <p:sldId id="293" r:id="rId6"/>
    <p:sldId id="282" r:id="rId7"/>
    <p:sldId id="294" r:id="rId8"/>
    <p:sldId id="298" r:id="rId9"/>
    <p:sldId id="300" r:id="rId10"/>
    <p:sldId id="295" r:id="rId11"/>
    <p:sldId id="297" r:id="rId12"/>
    <p:sldId id="296" r:id="rId13"/>
    <p:sldId id="301" r:id="rId14"/>
    <p:sldId id="303" r:id="rId15"/>
    <p:sldId id="283" r:id="rId16"/>
    <p:sldId id="305" r:id="rId17"/>
    <p:sldId id="299" r:id="rId18"/>
    <p:sldId id="284" r:id="rId19"/>
    <p:sldId id="285" r:id="rId20"/>
    <p:sldId id="286" r:id="rId21"/>
    <p:sldId id="287" r:id="rId22"/>
    <p:sldId id="289" r:id="rId23"/>
    <p:sldId id="292" r:id="rId24"/>
    <p:sldId id="304" r:id="rId25"/>
    <p:sldId id="302"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3840" userDrawn="1">
          <p15:clr>
            <a:srgbClr val="F26B43"/>
          </p15:clr>
        </p15:guide>
        <p15:guide id="3" orient="horz" pos="216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993B4FD-EAE2-46F0-9D20-E80D74B550DD}" v="7" dt="2025-11-11T19:32:59.901"/>
  </p1510:revLst>
</p1510:revInfo>
</file>

<file path=ppt/tableStyles.xml><?xml version="1.0" encoding="utf-8"?>
<a:tblStyleLst xmlns:a="http://schemas.openxmlformats.org/drawingml/2006/main" def="{72833802-FEF1-4C79-8D5D-14CF1EAF98D9}">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357" autoAdjust="0"/>
    <p:restoredTop sz="61877" autoAdjust="0"/>
  </p:normalViewPr>
  <p:slideViewPr>
    <p:cSldViewPr snapToGrid="0">
      <p:cViewPr varScale="1">
        <p:scale>
          <a:sx n="43" d="100"/>
          <a:sy n="43" d="100"/>
        </p:scale>
        <p:origin x="1560" y="48"/>
      </p:cViewPr>
      <p:guideLst>
        <p:guide pos="3840"/>
        <p:guide orient="horz" pos="2160"/>
      </p:guideLst>
    </p:cSldViewPr>
  </p:slideViewPr>
  <p:outlineViewPr>
    <p:cViewPr>
      <p:scale>
        <a:sx n="33" d="100"/>
        <a:sy n="33" d="100"/>
      </p:scale>
      <p:origin x="0" y="-4320"/>
    </p:cViewPr>
  </p:outlineViewPr>
  <p:notesTextViewPr>
    <p:cViewPr>
      <p:scale>
        <a:sx n="1" d="1"/>
        <a:sy n="1" d="1"/>
      </p:scale>
      <p:origin x="0" y="0"/>
    </p:cViewPr>
  </p:notesTextViewPr>
  <p:sorterViewPr>
    <p:cViewPr>
      <p:scale>
        <a:sx n="100" d="100"/>
        <a:sy n="100" d="100"/>
      </p:scale>
      <p:origin x="0" y="-1757"/>
    </p:cViewPr>
  </p:sorterViewPr>
  <p:notesViewPr>
    <p:cSldViewPr snapToGrid="0">
      <p:cViewPr varScale="1">
        <p:scale>
          <a:sx n="67" d="100"/>
          <a:sy n="67" d="100"/>
        </p:scale>
        <p:origin x="3120" y="7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notesMaster" Target="notesMasters/notesMaster1.xml"/><Relationship Id="rId30" Type="http://schemas.openxmlformats.org/officeDocument/2006/relationships/viewProps" Target="viewProps.xml"/><Relationship Id="rId8"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95F4DCF1-ECAF-F7A7-2FE7-5E8E893BC44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2C1330B0-5BAC-7408-8C3C-78D8336840E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17BC71B-6527-4638-937B-C93EB849CB02}" type="datetimeFigureOut">
              <a:rPr lang="en-US" smtClean="0"/>
              <a:t>9/29/2026</a:t>
            </a:fld>
            <a:endParaRPr lang="en-US" dirty="0"/>
          </a:p>
        </p:txBody>
      </p:sp>
      <p:sp>
        <p:nvSpPr>
          <p:cNvPr id="4" name="Footer Placeholder 3">
            <a:extLst>
              <a:ext uri="{FF2B5EF4-FFF2-40B4-BE49-F238E27FC236}">
                <a16:creationId xmlns:a16="http://schemas.microsoft.com/office/drawing/2014/main" id="{F0D7EEB3-E0A5-7440-F7ED-F59975ED1E8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3F548D11-7466-6432-3BF5-64A1A1FA59C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FA70580-B89C-4157-871D-6B9318EE5F58}" type="slidenum">
              <a:rPr lang="en-US" smtClean="0"/>
              <a:t>‹#›</a:t>
            </a:fld>
            <a:endParaRPr lang="en-US" dirty="0"/>
          </a:p>
        </p:txBody>
      </p:sp>
    </p:spTree>
    <p:extLst>
      <p:ext uri="{BB962C8B-B14F-4D97-AF65-F5344CB8AC3E}">
        <p14:creationId xmlns:p14="http://schemas.microsoft.com/office/powerpoint/2010/main" val="29431574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25465A2-8C9C-419F-9FD8-234480873777}" type="datetimeFigureOut">
              <a:rPr lang="en-US" smtClean="0"/>
              <a:t>9/29/2026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7AF00E9-A49D-4007-B3B9-A3783809E505}" type="slidenum">
              <a:rPr lang="en-US" smtClean="0"/>
              <a:t>‹#›</a:t>
            </a:fld>
            <a:endParaRPr lang="en-US" dirty="0"/>
          </a:p>
        </p:txBody>
      </p:sp>
    </p:spTree>
    <p:extLst>
      <p:ext uri="{BB962C8B-B14F-4D97-AF65-F5344CB8AC3E}">
        <p14:creationId xmlns:p14="http://schemas.microsoft.com/office/powerpoint/2010/main" val="2209697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7AF00E9-A49D-4007-B3B9-A3783809E505}" type="slidenum">
              <a:rPr lang="en-US" smtClean="0"/>
              <a:t>1</a:t>
            </a:fld>
            <a:endParaRPr lang="en-US" dirty="0"/>
          </a:p>
        </p:txBody>
      </p:sp>
    </p:spTree>
    <p:extLst>
      <p:ext uri="{BB962C8B-B14F-4D97-AF65-F5344CB8AC3E}">
        <p14:creationId xmlns:p14="http://schemas.microsoft.com/office/powerpoint/2010/main" val="21892237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ea typeface="Calibri"/>
              <a:cs typeface="Calibri"/>
            </a:endParaRPr>
          </a:p>
        </p:txBody>
      </p:sp>
      <p:sp>
        <p:nvSpPr>
          <p:cNvPr id="4" name="Slide Number Placeholder 3"/>
          <p:cNvSpPr>
            <a:spLocks noGrp="1"/>
          </p:cNvSpPr>
          <p:nvPr>
            <p:ph type="sldNum" sz="quarter" idx="5"/>
          </p:nvPr>
        </p:nvSpPr>
        <p:spPr/>
        <p:txBody>
          <a:bodyPr/>
          <a:lstStyle/>
          <a:p>
            <a:fld id="{E7AF00E9-A49D-4007-B3B9-A3783809E505}" type="slidenum">
              <a:rPr lang="en-US" smtClean="0"/>
              <a:t>3</a:t>
            </a:fld>
            <a:endParaRPr lang="en-US" dirty="0"/>
          </a:p>
        </p:txBody>
      </p:sp>
    </p:spTree>
    <p:extLst>
      <p:ext uri="{BB962C8B-B14F-4D97-AF65-F5344CB8AC3E}">
        <p14:creationId xmlns:p14="http://schemas.microsoft.com/office/powerpoint/2010/main" val="5606498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Calibri"/>
                <a:cs typeface="Calibri"/>
              </a:rPr>
              <a:t>Solution, methodology-&gt; modular </a:t>
            </a:r>
            <a:r>
              <a:rPr lang="en-US" dirty="0" err="1">
                <a:ea typeface="Calibri"/>
                <a:cs typeface="Calibri"/>
              </a:rPr>
              <a:t>design,RL</a:t>
            </a:r>
            <a:r>
              <a:rPr lang="en-US" dirty="0">
                <a:ea typeface="Calibri"/>
                <a:cs typeface="Calibri"/>
              </a:rPr>
              <a:t>, prompt engineering, </a:t>
            </a:r>
            <a:r>
              <a:rPr lang="en-US" dirty="0" err="1">
                <a:ea typeface="Calibri"/>
                <a:cs typeface="Calibri"/>
              </a:rPr>
              <a:t>implementation,evaluation</a:t>
            </a:r>
            <a:r>
              <a:rPr lang="en-US" dirty="0">
                <a:ea typeface="Calibri"/>
                <a:cs typeface="Calibri"/>
              </a:rPr>
              <a:t> </a:t>
            </a:r>
            <a:r>
              <a:rPr lang="en-US" dirty="0" err="1">
                <a:ea typeface="Calibri"/>
                <a:cs typeface="Calibri"/>
              </a:rPr>
              <a:t>metrics,</a:t>
            </a:r>
            <a:r>
              <a:rPr lang="en-US" dirty="0" err="1"/>
              <a:t>experiments,key</a:t>
            </a:r>
            <a:r>
              <a:rPr lang="en-US" dirty="0"/>
              <a:t> findings, future work, </a:t>
            </a:r>
            <a:r>
              <a:rPr lang="en-US" dirty="0" err="1"/>
              <a:t>implications,summary</a:t>
            </a:r>
            <a:endParaRPr lang="en-US" dirty="0" err="1">
              <a:ea typeface="Calibri"/>
              <a:cs typeface="Calibri"/>
            </a:endParaRPr>
          </a:p>
          <a:p>
            <a:r>
              <a:rPr lang="en-US" dirty="0">
                <a:ea typeface="Calibri"/>
                <a:cs typeface="Calibri"/>
              </a:rPr>
              <a:t>Results as a graph would be better and what are the evaluation metrics for the loss functions in SSL, explain the components in the design of the </a:t>
            </a:r>
            <a:r>
              <a:rPr lang="en-US" dirty="0" err="1">
                <a:ea typeface="Calibri"/>
                <a:cs typeface="Calibri"/>
              </a:rPr>
              <a:t>frameworkand</a:t>
            </a:r>
            <a:r>
              <a:rPr lang="en-US" dirty="0">
                <a:ea typeface="Calibri"/>
                <a:cs typeface="Calibri"/>
              </a:rPr>
              <a:t> though the f1 score is better in some other baseline models-&gt; they are either focusing  on one kind of may be?</a:t>
            </a:r>
          </a:p>
        </p:txBody>
      </p:sp>
      <p:sp>
        <p:nvSpPr>
          <p:cNvPr id="4" name="Slide Number Placeholder 3"/>
          <p:cNvSpPr>
            <a:spLocks noGrp="1"/>
          </p:cNvSpPr>
          <p:nvPr>
            <p:ph type="sldNum" sz="quarter" idx="5"/>
          </p:nvPr>
        </p:nvSpPr>
        <p:spPr/>
        <p:txBody>
          <a:bodyPr/>
          <a:lstStyle/>
          <a:p>
            <a:fld id="{E7AF00E9-A49D-4007-B3B9-A3783809E505}" type="slidenum">
              <a:rPr lang="en-US" smtClean="0"/>
              <a:t>4</a:t>
            </a:fld>
            <a:endParaRPr lang="en-US" dirty="0"/>
          </a:p>
        </p:txBody>
      </p:sp>
    </p:spTree>
    <p:extLst>
      <p:ext uri="{BB962C8B-B14F-4D97-AF65-F5344CB8AC3E}">
        <p14:creationId xmlns:p14="http://schemas.microsoft.com/office/powerpoint/2010/main" val="23502042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pPr marL="171450" indent="-171450">
              <a:buFont typeface="Arial"/>
              <a:buChar char="•"/>
            </a:pPr>
            <a:r>
              <a:rPr lang="en-US"/>
              <a:t>Many prior works tried to mix different data types (like MedCLIP, RAIM, GLoRIA, LDAM).</a:t>
            </a:r>
          </a:p>
          <a:p>
            <a:pPr marL="171450" indent="-171450">
              <a:buFont typeface="Arial"/>
              <a:buChar char="•"/>
            </a:pPr>
            <a:r>
              <a:rPr lang="en-US"/>
              <a:t>Most combined </a:t>
            </a:r>
            <a:r>
              <a:rPr lang="en-US" b="1"/>
              <a:t>images + text</a:t>
            </a:r>
            <a:r>
              <a:rPr lang="en-US"/>
              <a:t> or </a:t>
            </a:r>
            <a:r>
              <a:rPr lang="en-US" b="1"/>
              <a:t>lab tests + disease labels</a:t>
            </a:r>
            <a:r>
              <a:rPr lang="en-US"/>
              <a:t>, but didn’t fully unify them into one representation.</a:t>
            </a:r>
          </a:p>
          <a:p>
            <a:pPr marL="171450" indent="-171450">
              <a:buFont typeface="Arial"/>
              <a:buChar char="•"/>
            </a:pPr>
            <a:r>
              <a:rPr lang="en-US"/>
              <a:t>These methods lacked fine-grained alignment across diverse data modalities.</a:t>
            </a:r>
          </a:p>
          <a:p>
            <a:r>
              <a:rPr lang="en-US" dirty="0"/>
              <a:t>“Earlier models could align images and text or fuse lab data with notes, but they lacked a truly unified space where all modalities interact seamlessly. This gap motivated the development of </a:t>
            </a:r>
            <a:r>
              <a:rPr lang="en-US" dirty="0" err="1"/>
              <a:t>ProMedTS</a:t>
            </a:r>
            <a:r>
              <a:rPr lang="en-US" dirty="0"/>
              <a:t>.</a:t>
            </a:r>
            <a:endParaRPr lang="en-US" dirty="0">
              <a:ea typeface="Calibri"/>
              <a:cs typeface="Calibri"/>
            </a:endParaRPr>
          </a:p>
        </p:txBody>
      </p:sp>
      <p:sp>
        <p:nvSpPr>
          <p:cNvPr id="4" name="Slide Number Placeholder 3"/>
          <p:cNvSpPr>
            <a:spLocks noGrp="1"/>
          </p:cNvSpPr>
          <p:nvPr>
            <p:ph type="sldNum" sz="quarter" idx="5"/>
          </p:nvPr>
        </p:nvSpPr>
        <p:spPr/>
        <p:txBody>
          <a:bodyPr/>
          <a:lstStyle/>
          <a:p>
            <a:fld id="{E7AF00E9-A49D-4007-B3B9-A3783809E505}" type="slidenum">
              <a:rPr lang="en-US" smtClean="0"/>
              <a:t>5</a:t>
            </a:fld>
            <a:endParaRPr lang="en-US" dirty="0"/>
          </a:p>
        </p:txBody>
      </p:sp>
    </p:spTree>
    <p:extLst>
      <p:ext uri="{BB962C8B-B14F-4D97-AF65-F5344CB8AC3E}">
        <p14:creationId xmlns:p14="http://schemas.microsoft.com/office/powerpoint/2010/main" val="15596493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a:buChar char="•"/>
            </a:pPr>
            <a:r>
              <a:rPr lang="en-US" dirty="0"/>
              <a:t>“LLMs like GPT4-Med and </a:t>
            </a:r>
            <a:r>
              <a:rPr lang="en-US" dirty="0" err="1"/>
              <a:t>MedPalm</a:t>
            </a:r>
            <a:r>
              <a:rPr lang="en-US"/>
              <a:t> can reason from text extremely well, but they struggle with time-based numeric data — for example, lab trends.Newer models (GatorTron, MedPalm, GPT4-Med) use LLMs for medical reasoning and Q&amp;A.</a:t>
            </a:r>
          </a:p>
          <a:p>
            <a:pPr marL="171450" indent="-171450">
              <a:buFont typeface="Arial"/>
              <a:buChar char="•"/>
            </a:pPr>
            <a:r>
              <a:rPr lang="en-US"/>
              <a:t>But they still mostly process </a:t>
            </a:r>
            <a:r>
              <a:rPr lang="en-US" b="1"/>
              <a:t>text</a:t>
            </a:r>
            <a:r>
              <a:rPr lang="en-US"/>
              <a:t>, not mixed modalities like time-series.</a:t>
            </a:r>
          </a:p>
          <a:p>
            <a:pPr marL="171450" indent="-171450">
              <a:buFont typeface="Arial"/>
              <a:buChar char="•"/>
            </a:pPr>
            <a:r>
              <a:rPr lang="en-US"/>
              <a:t>Some frameworks like </a:t>
            </a:r>
            <a:r>
              <a:rPr lang="en-US" b="1"/>
              <a:t>EHR-KnowGen</a:t>
            </a:r>
            <a:r>
              <a:rPr lang="en-US"/>
              <a:t> turn structured data into text but ignore temporal patterns.</a:t>
            </a:r>
          </a:p>
          <a:p>
            <a:pPr marL="171450" indent="-171450">
              <a:buFont typeface="Arial"/>
              <a:buChar char="•"/>
            </a:pPr>
            <a:r>
              <a:rPr lang="en-US"/>
              <a:t>Thus, there’s still no model that truly fuses </a:t>
            </a:r>
            <a:r>
              <a:rPr lang="en-US" b="1"/>
              <a:t>language + time-series</a:t>
            </a:r>
            <a:r>
              <a:rPr lang="en-US"/>
              <a:t> effectively.</a:t>
            </a:r>
          </a:p>
          <a:p>
            <a:r>
              <a:rPr lang="en-US" dirty="0"/>
              <a:t> </a:t>
            </a:r>
            <a:r>
              <a:rPr lang="en-US" dirty="0" err="1"/>
              <a:t>ProMedTS</a:t>
            </a:r>
            <a:r>
              <a:rPr lang="en-US" dirty="0"/>
              <a:t> was designed to bridge this </a:t>
            </a:r>
            <a:r>
              <a:rPr lang="en-US" dirty="0" err="1"/>
              <a:t>gap.”</a:t>
            </a:r>
            <a:r>
              <a:rPr lang="en-US" i="1" dirty="0" err="1"/>
              <a:t>Can</a:t>
            </a:r>
            <a:r>
              <a:rPr lang="en-US" i="1" dirty="0"/>
              <a:t> we create a model that fuses structured time-series and unstructured text seamlessly — while using self-supervised prompt guidance to learn without labels?</a:t>
            </a:r>
            <a:r>
              <a:rPr lang="en-US" dirty="0"/>
              <a:t>”</a:t>
            </a:r>
            <a:endParaRPr lang="en-US"/>
          </a:p>
        </p:txBody>
      </p:sp>
      <p:sp>
        <p:nvSpPr>
          <p:cNvPr id="4" name="Slide Number Placeholder 3"/>
          <p:cNvSpPr>
            <a:spLocks noGrp="1"/>
          </p:cNvSpPr>
          <p:nvPr>
            <p:ph type="sldNum" sz="quarter" idx="5"/>
          </p:nvPr>
        </p:nvSpPr>
        <p:spPr/>
        <p:txBody>
          <a:bodyPr/>
          <a:lstStyle/>
          <a:p>
            <a:fld id="{E7AF00E9-A49D-4007-B3B9-A3783809E505}" type="slidenum">
              <a:rPr lang="en-US" smtClean="0"/>
              <a:t>6</a:t>
            </a:fld>
            <a:endParaRPr lang="en-US" dirty="0"/>
          </a:p>
        </p:txBody>
      </p:sp>
    </p:spTree>
    <p:extLst>
      <p:ext uri="{BB962C8B-B14F-4D97-AF65-F5344CB8AC3E}">
        <p14:creationId xmlns:p14="http://schemas.microsoft.com/office/powerpoint/2010/main" val="15697210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err="1"/>
              <a:t>ProMedTS</a:t>
            </a:r>
            <a:r>
              <a:rPr lang="en-US" dirty="0"/>
              <a:t>, a lightweight and effective modality fusion framework that leverages self-supervised time series prompt learning for multimodal EHR integration. By bridging the modality gap between medical notes and lab test results, </a:t>
            </a:r>
            <a:r>
              <a:rPr lang="en-US" dirty="0" err="1"/>
              <a:t>ProMedTS</a:t>
            </a:r>
            <a:r>
              <a:rPr lang="en-US" dirty="0"/>
              <a:t> enables LLMs to process structured and unstructured medical data more effectively</a:t>
            </a:r>
            <a:endParaRPr lang="en-US" dirty="0">
              <a:ea typeface="Calibri"/>
              <a:cs typeface="Calibri"/>
            </a:endParaRPr>
          </a:p>
          <a:p>
            <a:r>
              <a:rPr lang="en-US" dirty="0"/>
              <a:t>Example:</a:t>
            </a:r>
            <a:endParaRPr lang="en-US" dirty="0">
              <a:ea typeface="Calibri"/>
              <a:cs typeface="Calibri"/>
            </a:endParaRPr>
          </a:p>
          <a:p>
            <a:r>
              <a:rPr lang="en-US" dirty="0"/>
              <a:t>“Creatinine increased rapidly in the last 12 hours.”</a:t>
            </a:r>
            <a:br>
              <a:rPr lang="en-US" dirty="0">
                <a:cs typeface="+mn-lt"/>
              </a:rPr>
            </a:br>
            <a:r>
              <a:rPr lang="en-US" dirty="0"/>
              <a:t> “Hemoglobin level dropped below normal threshold.”</a:t>
            </a:r>
            <a:br>
              <a:rPr lang="en-US" dirty="0">
                <a:cs typeface="+mn-lt"/>
              </a:rPr>
            </a:br>
            <a:r>
              <a:rPr lang="en-US" dirty="0"/>
              <a:t> “Glucose fluctuated above normal range.” -&gt;Appendix A.2</a:t>
            </a:r>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E7AF00E9-A49D-4007-B3B9-A3783809E505}" type="slidenum">
              <a:rPr lang="en-US" smtClean="0"/>
              <a:t>7</a:t>
            </a:fld>
            <a:endParaRPr lang="en-US" dirty="0"/>
          </a:p>
        </p:txBody>
      </p:sp>
    </p:spTree>
    <p:extLst>
      <p:ext uri="{BB962C8B-B14F-4D97-AF65-F5344CB8AC3E}">
        <p14:creationId xmlns:p14="http://schemas.microsoft.com/office/powerpoint/2010/main" val="356227131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modules share the same Clinical-</a:t>
            </a:r>
            <a:r>
              <a:rPr lang="en-US" dirty="0" err="1"/>
              <a:t>BERTstructured</a:t>
            </a:r>
            <a:r>
              <a:rPr lang="en-US" dirty="0"/>
              <a:t> model for clinical tokens embedding and are extended to support cross-attention, self-attention, and prompt generation</a:t>
            </a:r>
          </a:p>
          <a:p>
            <a:r>
              <a:rPr lang="en-US" dirty="0"/>
              <a:t>The inputs to the MTIF module are medical notes M and lab test anomaly descriptions C, which are encoded separately by Clinical-BERT via the multi-head self-attention mechanism: </a:t>
            </a:r>
            <a:endParaRPr lang="en-US" dirty="0">
              <a:ea typeface="Calibri"/>
              <a:cs typeface="Calibri"/>
            </a:endParaRPr>
          </a:p>
        </p:txBody>
      </p:sp>
      <p:sp>
        <p:nvSpPr>
          <p:cNvPr id="4" name="Slide Number Placeholder 3"/>
          <p:cNvSpPr>
            <a:spLocks noGrp="1"/>
          </p:cNvSpPr>
          <p:nvPr>
            <p:ph type="sldNum" sz="quarter" idx="5"/>
          </p:nvPr>
        </p:nvSpPr>
        <p:spPr/>
        <p:txBody>
          <a:bodyPr/>
          <a:lstStyle/>
          <a:p>
            <a:fld id="{E7AF00E9-A49D-4007-B3B9-A3783809E505}" type="slidenum">
              <a:rPr lang="en-US" smtClean="0"/>
              <a:t>8</a:t>
            </a:fld>
            <a:endParaRPr lang="en-US" dirty="0"/>
          </a:p>
        </p:txBody>
      </p:sp>
    </p:spTree>
    <p:extLst>
      <p:ext uri="{BB962C8B-B14F-4D97-AF65-F5344CB8AC3E}">
        <p14:creationId xmlns:p14="http://schemas.microsoft.com/office/powerpoint/2010/main" val="30907172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series anomaly descriptions are generated using the IQR method (Vinutha et al., 2018) to identify anomalies, capturing their timing and polarity (above or below standard values) and </a:t>
            </a:r>
            <a:r>
              <a:rPr lang="en-US" dirty="0" err="1"/>
              <a:t>describi</a:t>
            </a:r>
          </a:p>
          <a:p>
            <a:pPr marL="171450" indent="-171450">
              <a:buFont typeface="Arial"/>
              <a:buChar char="•"/>
            </a:pPr>
            <a:r>
              <a:rPr lang="en-US" b="1"/>
              <a:t>P</a:t>
            </a:r>
            <a:r>
              <a:rPr lang="en-US"/>
              <a:t> acts as a </a:t>
            </a:r>
            <a:r>
              <a:rPr lang="en-US" b="1"/>
              <a:t>connector</a:t>
            </a:r>
            <a:r>
              <a:rPr lang="en-US"/>
              <a:t> between </a:t>
            </a:r>
            <a:r>
              <a:rPr lang="en-US" b="1"/>
              <a:t>C (text)</a:t>
            </a:r>
            <a:r>
              <a:rPr lang="en-US"/>
              <a:t> and </a:t>
            </a:r>
            <a:r>
              <a:rPr lang="en-US" b="1"/>
              <a:t>T (time-series)</a:t>
            </a:r>
            <a:r>
              <a:rPr lang="en-US"/>
              <a:t>.</a:t>
            </a:r>
          </a:p>
          <a:p>
            <a:pPr marL="171450" indent="-171450">
              <a:buFont typeface="Arial"/>
              <a:buChar char="•"/>
            </a:pPr>
            <a:r>
              <a:rPr lang="en-US"/>
              <a:t>In training, the model learns how P should adapt so that </a:t>
            </a:r>
            <a:r>
              <a:rPr lang="en-US" b="1"/>
              <a:t>time-series information blends smoothly into the LLM input space</a:t>
            </a:r>
            <a:endParaRPr lang="en-US"/>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E7AF00E9-A49D-4007-B3B9-A3783809E505}" type="slidenum">
              <a:rPr lang="en-US" smtClean="0"/>
              <a:t>9</a:t>
            </a:fld>
            <a:endParaRPr lang="en-US" dirty="0"/>
          </a:p>
        </p:txBody>
      </p:sp>
    </p:spTree>
    <p:extLst>
      <p:ext uri="{BB962C8B-B14F-4D97-AF65-F5344CB8AC3E}">
        <p14:creationId xmlns:p14="http://schemas.microsoft.com/office/powerpoint/2010/main" val="124923194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Cross-Modal Contrastive Alignment (</a:t>
            </a:r>
            <a:r>
              <a:rPr lang="en-US" dirty="0" err="1"/>
              <a:t>Lcontrast</a:t>
            </a:r>
            <a:r>
              <a:rPr lang="en-US" dirty="0"/>
              <a:t>) -&gt; </a:t>
            </a:r>
          </a:p>
          <a:p>
            <a:r>
              <a:rPr lang="en-US" dirty="0"/>
              <a:t>Brings embeddings </a:t>
            </a:r>
            <a:r>
              <a:rPr lang="en-US" b="1" dirty="0"/>
              <a:t>closer</a:t>
            </a:r>
            <a:r>
              <a:rPr lang="en-US" dirty="0"/>
              <a:t> if text &amp; labs are from the same patient.</a:t>
            </a:r>
          </a:p>
          <a:p>
            <a:r>
              <a:rPr lang="en-US" dirty="0"/>
              <a:t>Pushes apart mismatched pairs.</a:t>
            </a:r>
            <a:endParaRPr lang="en-US" dirty="0">
              <a:ea typeface="Calibri" panose="020F0502020204030204"/>
              <a:cs typeface="Calibri" panose="020F0502020204030204"/>
            </a:endParaRPr>
          </a:p>
          <a:p>
            <a:r>
              <a:rPr lang="en-US" dirty="0"/>
              <a:t>Teaches model to connect high-level language meaning with overall lab patterns (coarse-grained alignment). </a:t>
            </a:r>
            <a:endParaRPr lang="en-US" dirty="0">
              <a:ea typeface="Calibri" panose="020F0502020204030204"/>
              <a:cs typeface="Calibri" panose="020F0502020204030204"/>
            </a:endParaRPr>
          </a:p>
          <a:p>
            <a:r>
              <a:rPr lang="en-US" dirty="0"/>
              <a:t>Intra-Modal Matching (Lmatch</a:t>
            </a:r>
            <a:r>
              <a:rPr lang="en-US"/>
              <a:t>)-&gt; How it works</a:t>
            </a:r>
          </a:p>
          <a:p>
            <a:pPr marL="171450" indent="-171450">
              <a:buFont typeface="Arial"/>
              <a:buChar char="•"/>
            </a:pPr>
            <a:r>
              <a:rPr lang="en-US"/>
              <a:t>Treats this as a </a:t>
            </a:r>
            <a:r>
              <a:rPr lang="en-US" b="1"/>
              <a:t>binary classification problem</a:t>
            </a:r>
            <a:r>
              <a:rPr lang="en-US"/>
              <a:t>:</a:t>
            </a:r>
            <a:br>
              <a:rPr lang="en-US" dirty="0"/>
            </a:br>
            <a:r>
              <a:rPr lang="en-US"/>
              <a:t> “Does this anomaly text describe this lab trend?”</a:t>
            </a:r>
          </a:p>
          <a:p>
            <a:pPr marL="171450" indent="-171450">
              <a:buFont typeface="Arial"/>
              <a:buChar char="•"/>
            </a:pPr>
            <a:r>
              <a:rPr lang="en-US"/>
              <a:t>Uses </a:t>
            </a:r>
            <a:r>
              <a:rPr lang="en-US" b="1"/>
              <a:t>Clinical-BERT with cross-attention</a:t>
            </a:r>
            <a:r>
              <a:rPr lang="en-US"/>
              <a:t>:</a:t>
            </a:r>
          </a:p>
          <a:p>
            <a:pPr marL="171450" indent="-171450">
              <a:buFont typeface="Arial"/>
              <a:buChar char="•"/>
            </a:pPr>
            <a:r>
              <a:rPr lang="en-US">
                <a:ea typeface="Calibri"/>
                <a:cs typeface="Calibri"/>
              </a:rPr>
              <a:t>WHY-&gt; </a:t>
            </a:r>
            <a:r>
              <a:rPr lang="en-US"/>
              <a:t>Captures </a:t>
            </a:r>
            <a:r>
              <a:rPr lang="en-US" b="1"/>
              <a:t>fine-grained temporal details</a:t>
            </a:r>
            <a:r>
              <a:rPr lang="en-US"/>
              <a:t>.</a:t>
            </a:r>
            <a:endParaRPr lang="en-US" dirty="0">
              <a:ea typeface="Calibri"/>
              <a:cs typeface="Calibri"/>
            </a:endParaRPr>
          </a:p>
          <a:p>
            <a:pPr marL="171450" indent="-171450">
              <a:buFont typeface="Arial"/>
              <a:buChar char="•"/>
            </a:pPr>
            <a:r>
              <a:rPr lang="en-US" dirty="0"/>
              <a:t>Makes sure each anomaly caption truly reflects its own time-series, not just random similarity.</a:t>
            </a:r>
            <a:endParaRPr lang="en-US" dirty="0">
              <a:ea typeface="Calibri"/>
              <a:cs typeface="Calibri"/>
            </a:endParaRPr>
          </a:p>
          <a:p>
            <a:pPr marL="171450" indent="-171450">
              <a:buFont typeface="Arial"/>
              <a:buChar char="•"/>
            </a:pPr>
            <a:r>
              <a:rPr lang="en-US" dirty="0"/>
              <a:t>Strengthens the </a:t>
            </a:r>
            <a:r>
              <a:rPr lang="en-US" i="1" dirty="0"/>
              <a:t>intra-modality</a:t>
            </a:r>
            <a:r>
              <a:rPr lang="en-US" dirty="0"/>
              <a:t> consistency — internal coherence of the same data type.</a:t>
            </a:r>
            <a:endParaRPr lang="en-US" dirty="0">
              <a:ea typeface="Calibri"/>
              <a:cs typeface="Calibri"/>
            </a:endParaRPr>
          </a:p>
          <a:p>
            <a:r>
              <a:rPr lang="en-US" dirty="0"/>
              <a:t>Anomaly Description Reconstruction (Lgen</a:t>
            </a:r>
            <a:r>
              <a:rPr lang="en-US"/>
              <a:t>)-&gt; This loss trains the model to </a:t>
            </a:r>
            <a:r>
              <a:rPr lang="en-US" b="1"/>
              <a:t>generate the anomaly description</a:t>
            </a:r>
            <a:r>
              <a:rPr lang="en-US"/>
              <a:t> (text) </a:t>
            </a:r>
            <a:r>
              <a:rPr lang="en-US" i="1"/>
              <a:t>from</a:t>
            </a:r>
            <a:r>
              <a:rPr lang="en-US"/>
              <a:t> the time-series embedding.</a:t>
            </a:r>
          </a:p>
          <a:p>
            <a:pPr marL="171450" indent="-171450">
              <a:buFont typeface="Arial"/>
              <a:buChar char="•"/>
            </a:pPr>
            <a:r>
              <a:rPr lang="en-US"/>
              <a:t>Think of it as:</a:t>
            </a:r>
            <a:br>
              <a:rPr lang="en-US" dirty="0"/>
            </a:br>
            <a:r>
              <a:rPr lang="en-US"/>
              <a:t> “Can the model write back the caption if it only sees the lab data?”</a:t>
            </a:r>
          </a:p>
          <a:p>
            <a:pPr marL="171450" indent="-171450">
              <a:buFont typeface="Arial"/>
              <a:buChar char="•"/>
            </a:pPr>
            <a:r>
              <a:rPr lang="en-US">
                <a:ea typeface="Calibri"/>
                <a:cs typeface="Calibri"/>
              </a:rPr>
              <a:t>WHY-&gt;</a:t>
            </a:r>
            <a:r>
              <a:rPr lang="en-US"/>
              <a:t>Ensures time-series prompts encode </a:t>
            </a:r>
            <a:r>
              <a:rPr lang="en-US" b="1"/>
              <a:t>semantic meaning</a:t>
            </a:r>
            <a:r>
              <a:rPr lang="en-US"/>
              <a:t> (“creatinine increased”) </a:t>
            </a:r>
            <a:r>
              <a:rPr lang="en-US" i="1"/>
              <a:t>and</a:t>
            </a:r>
            <a:r>
              <a:rPr lang="en-US" dirty="0"/>
              <a:t> </a:t>
            </a:r>
            <a:r>
              <a:rPr lang="en-US" b="1"/>
              <a:t>temporal behavior</a:t>
            </a:r>
            <a:r>
              <a:rPr lang="en-US"/>
              <a:t> (rise/fall patterns).</a:t>
            </a:r>
            <a:endParaRPr lang="en-US" dirty="0">
              <a:ea typeface="Calibri"/>
              <a:cs typeface="Calibri"/>
            </a:endParaRPr>
          </a:p>
          <a:p>
            <a:pPr marL="171450" indent="-171450">
              <a:buFont typeface="Arial"/>
              <a:buChar char="•"/>
            </a:pPr>
            <a:r>
              <a:rPr lang="en-US"/>
              <a:t>Brings language and numeric data into a shared latent space.</a:t>
            </a:r>
          </a:p>
          <a:p>
            <a:pPr marL="171450" indent="-171450">
              <a:buFont typeface="Arial"/>
              <a:buChar char="•"/>
            </a:pPr>
            <a:r>
              <a:rPr lang="en-US"/>
              <a:t>Improves interpretability — we can generate explanations.</a:t>
            </a:r>
          </a:p>
          <a:p>
            <a:r>
              <a:rPr lang="en-US" dirty="0"/>
              <a:t>Together, they ensure that time-series and text representations live in the </a:t>
            </a:r>
            <a:r>
              <a:rPr lang="en-US" b="1" dirty="0"/>
              <a:t>same semantic space</a:t>
            </a:r>
            <a:r>
              <a:rPr lang="en-US" dirty="0"/>
              <a:t> — so the model can </a:t>
            </a:r>
            <a:r>
              <a:rPr lang="en-US" i="1" dirty="0"/>
              <a:t>think and reason</a:t>
            </a:r>
            <a:r>
              <a:rPr lang="en-US" dirty="0"/>
              <a:t> across modalities.</a:t>
            </a:r>
            <a:endParaRPr lang="en-US" dirty="0">
              <a:ea typeface="Calibri"/>
              <a:cs typeface="Calibri"/>
            </a:endParaRPr>
          </a:p>
          <a:p>
            <a:endParaRPr lang="en-US" dirty="0">
              <a:ea typeface="Calibri"/>
              <a:cs typeface="Calibri"/>
            </a:endParaRPr>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E7AF00E9-A49D-4007-B3B9-A3783809E505}" type="slidenum">
              <a:rPr lang="en-US" smtClean="0"/>
              <a:t>10</a:t>
            </a:fld>
            <a:endParaRPr lang="en-US" dirty="0"/>
          </a:p>
        </p:txBody>
      </p:sp>
    </p:spTree>
    <p:extLst>
      <p:ext uri="{BB962C8B-B14F-4D97-AF65-F5344CB8AC3E}">
        <p14:creationId xmlns:p14="http://schemas.microsoft.com/office/powerpoint/2010/main" val="213650645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numeric lab results are first passed through the Time-Series Prompt Embedding module, which converts them into vector prompts that the LLM can understand.</a:t>
            </a:r>
            <a:br>
              <a:rPr lang="en-US" dirty="0">
                <a:cs typeface="+mn-lt"/>
              </a:rPr>
            </a:br>
            <a:r>
              <a:rPr lang="en-US" dirty="0"/>
              <a:t> A small tunable layer aligns the dimensions so they fit smoothly with the LLM input.</a:t>
            </a:r>
            <a:br>
              <a:rPr lang="en-US" dirty="0">
                <a:cs typeface="+mn-lt"/>
              </a:rPr>
            </a:br>
            <a:r>
              <a:rPr lang="en-US" dirty="0"/>
              <a:t> These prompt embeddings are then attached in front of the medical notes — like adding an extra prefix to the LLM’s text input.</a:t>
            </a:r>
            <a:br>
              <a:rPr lang="en-US" dirty="0">
                <a:cs typeface="+mn-lt"/>
              </a:rPr>
            </a:br>
            <a:r>
              <a:rPr lang="en-US" dirty="0"/>
              <a:t> The model is then fine-tuned to process both modalities together, meaning it reads the patient’s lab trends and their doctor’s notes at the same time.</a:t>
            </a:r>
            <a:br>
              <a:rPr lang="en-US" dirty="0">
                <a:cs typeface="+mn-lt"/>
              </a:rPr>
            </a:br>
            <a:r>
              <a:rPr lang="en-US" dirty="0"/>
              <a:t> This helps the LLM make more accurate and context-aware disease predictions.</a:t>
            </a:r>
          </a:p>
        </p:txBody>
      </p:sp>
      <p:sp>
        <p:nvSpPr>
          <p:cNvPr id="4" name="Slide Number Placeholder 3"/>
          <p:cNvSpPr>
            <a:spLocks noGrp="1"/>
          </p:cNvSpPr>
          <p:nvPr>
            <p:ph type="sldNum" sz="quarter" idx="5"/>
          </p:nvPr>
        </p:nvSpPr>
        <p:spPr/>
        <p:txBody>
          <a:bodyPr/>
          <a:lstStyle/>
          <a:p>
            <a:fld id="{E7AF00E9-A49D-4007-B3B9-A3783809E505}" type="slidenum">
              <a:rPr lang="en-US" smtClean="0"/>
              <a:t>11</a:t>
            </a:fld>
            <a:endParaRPr lang="en-US" dirty="0"/>
          </a:p>
        </p:txBody>
      </p:sp>
    </p:spTree>
    <p:extLst>
      <p:ext uri="{BB962C8B-B14F-4D97-AF65-F5344CB8AC3E}">
        <p14:creationId xmlns:p14="http://schemas.microsoft.com/office/powerpoint/2010/main" val="38462231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publicly available EHR dataset containing deidentified patients who were admitted to ICUs be-</a:t>
            </a:r>
          </a:p>
          <a:p>
            <a:r>
              <a:rPr lang="en-US" dirty="0"/>
              <a:t>It includes medical discharge summaries, lab test results, chest x-ray images and more. Our analysis focuses on EHR data from approximately 27,000 patients, including complete medical discharge summaries and lab test results. Our study targets 25 disease phenotypes as defined in the MIMIC-III benchmark (Harutyunyan et al., 2019a).</a:t>
            </a:r>
            <a:endParaRPr lang="en-US" dirty="0">
              <a:ea typeface="Calibri"/>
              <a:cs typeface="Calibri"/>
            </a:endParaRPr>
          </a:p>
          <a:p>
            <a:r>
              <a:rPr lang="en-US" dirty="0"/>
              <a:t>Data splitting follows the guidelines (Harutyunyan et al., 2019b) using a 4:1 ratio for training and testing</a:t>
            </a:r>
            <a:endParaRPr lang="en-US" dirty="0">
              <a:ea typeface="Calibri" panose="020F0502020204030204"/>
              <a:cs typeface="Calibri" panose="020F0502020204030204"/>
            </a:endParaRPr>
          </a:p>
        </p:txBody>
      </p:sp>
      <p:sp>
        <p:nvSpPr>
          <p:cNvPr id="4" name="Slide Number Placeholder 3"/>
          <p:cNvSpPr>
            <a:spLocks noGrp="1"/>
          </p:cNvSpPr>
          <p:nvPr>
            <p:ph type="sldNum" sz="quarter" idx="5"/>
          </p:nvPr>
        </p:nvSpPr>
        <p:spPr/>
        <p:txBody>
          <a:bodyPr/>
          <a:lstStyle/>
          <a:p>
            <a:fld id="{E7AF00E9-A49D-4007-B3B9-A3783809E505}" type="slidenum">
              <a:rPr lang="en-US" smtClean="0"/>
              <a:t>12</a:t>
            </a:fld>
            <a:endParaRPr lang="en-US" dirty="0"/>
          </a:p>
        </p:txBody>
      </p:sp>
    </p:spTree>
    <p:extLst>
      <p:ext uri="{BB962C8B-B14F-4D97-AF65-F5344CB8AC3E}">
        <p14:creationId xmlns:p14="http://schemas.microsoft.com/office/powerpoint/2010/main" val="2231635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disease diagnosis task, we adopt two scales of FlanT5 (Chung et al., 2024), OPT-0.1B, and QWEN2.5-0.5B as the frozen LLM to validate our model’s effectiveness. To ensure a fair comparison, all baselines also employ Flan-T5-small as their backbone.</a:t>
            </a:r>
          </a:p>
        </p:txBody>
      </p:sp>
      <p:sp>
        <p:nvSpPr>
          <p:cNvPr id="4" name="Slide Number Placeholder 3"/>
          <p:cNvSpPr>
            <a:spLocks noGrp="1"/>
          </p:cNvSpPr>
          <p:nvPr>
            <p:ph type="sldNum" sz="quarter" idx="5"/>
          </p:nvPr>
        </p:nvSpPr>
        <p:spPr/>
        <p:txBody>
          <a:bodyPr/>
          <a:lstStyle/>
          <a:p>
            <a:fld id="{E7AF00E9-A49D-4007-B3B9-A3783809E505}" type="slidenum">
              <a:rPr lang="en-US" smtClean="0"/>
              <a:t>14</a:t>
            </a:fld>
            <a:endParaRPr lang="en-US" dirty="0"/>
          </a:p>
        </p:txBody>
      </p:sp>
    </p:spTree>
    <p:extLst>
      <p:ext uri="{BB962C8B-B14F-4D97-AF65-F5344CB8AC3E}">
        <p14:creationId xmlns:p14="http://schemas.microsoft.com/office/powerpoint/2010/main" val="93760671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1 shows the evaluation performance of disease diagnosis for our model </a:t>
            </a:r>
            <a:r>
              <a:rPr lang="en-US" dirty="0" err="1"/>
              <a:t>ProMedTS</a:t>
            </a:r>
            <a:r>
              <a:rPr lang="en-US" dirty="0"/>
              <a:t> with all baselines -&gt; 4.3</a:t>
            </a:r>
          </a:p>
          <a:p>
            <a:r>
              <a:rPr lang="en-US" dirty="0"/>
              <a:t>Multimodal models (e.g., EHR-</a:t>
            </a:r>
            <a:r>
              <a:rPr lang="en-US" dirty="0" err="1"/>
              <a:t>KnowGen</a:t>
            </a:r>
            <a:r>
              <a:rPr lang="en-US" dirty="0"/>
              <a:t>, </a:t>
            </a:r>
            <a:r>
              <a:rPr lang="en-US" dirty="0" err="1"/>
              <a:t>LLaMA</a:t>
            </a:r>
            <a:r>
              <a:rPr lang="en-US" dirty="0"/>
              <a:t>) exceed single-modality baselines (e.g., </a:t>
            </a:r>
            <a:r>
              <a:rPr lang="en-US" dirty="0" err="1"/>
              <a:t>TimeLLM</a:t>
            </a:r>
            <a:r>
              <a:rPr lang="en-US" dirty="0"/>
              <a:t>, PROMPTEHR), confirming the benefits of integrating text and time series</a:t>
            </a:r>
            <a:endParaRPr lang="en-US" dirty="0">
              <a:ea typeface="Calibri"/>
              <a:cs typeface="Calibri"/>
            </a:endParaRPr>
          </a:p>
          <a:p>
            <a:r>
              <a:rPr lang="en-US" dirty="0"/>
              <a:t>“</a:t>
            </a:r>
            <a:r>
              <a:rPr lang="en-US" err="1"/>
              <a:t>ProMedTS</a:t>
            </a:r>
            <a:r>
              <a:rPr lang="en-US"/>
              <a:t> achieves the best micro- and macro-F1 on both datasets, improving by nearly 5–8 points over prior multimodal methods. This confirms that self-supervised prompt fusion effectively captures relationships between medical text and time-series lab data.” </a:t>
            </a:r>
            <a:endParaRPr lang="en-US" dirty="0">
              <a:ea typeface="Calibri" panose="020F0502020204030204"/>
              <a:cs typeface="Calibri" panose="020F0502020204030204"/>
            </a:endParaRPr>
          </a:p>
          <a:p>
            <a:r>
              <a:rPr lang="en-US"/>
              <a:t>4.6 </a:t>
            </a:r>
            <a:r>
              <a:rPr lang="en-US" b="1"/>
              <a:t>Prompt Length Sensitivity</a:t>
            </a:r>
            <a:endParaRPr lang="en-US"/>
          </a:p>
          <a:p>
            <a:pPr marL="171450" indent="-171450">
              <a:buFont typeface="Arial"/>
              <a:buChar char="•"/>
            </a:pPr>
            <a:r>
              <a:rPr lang="en-US"/>
              <a:t>Tested different prompt lengths (12, 24, 36).</a:t>
            </a:r>
          </a:p>
          <a:p>
            <a:pPr marL="171450" indent="-171450">
              <a:buFont typeface="Arial"/>
              <a:buChar char="•"/>
            </a:pPr>
            <a:r>
              <a:rPr lang="en-US" dirty="0"/>
              <a:t>Found 24 is optimal — balanced accuracy and computation</a:t>
            </a:r>
            <a:endParaRPr lang="en-US" dirty="0">
              <a:ea typeface="Calibri"/>
              <a:cs typeface="Calibri"/>
            </a:endParaRPr>
          </a:p>
          <a:p>
            <a:r>
              <a:rPr lang="en-US" dirty="0"/>
              <a:t>-&gt;Sensitivity Analysis of Time Series Prompt Length , Evaluating the Role of Anomaly Descriptions, </a:t>
            </a:r>
            <a:endParaRPr lang="en-US" dirty="0">
              <a:ea typeface="Calibri"/>
              <a:cs typeface="Calibri"/>
            </a:endParaRPr>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E7AF00E9-A49D-4007-B3B9-A3783809E505}" type="slidenum">
              <a:rPr lang="en-US" smtClean="0"/>
              <a:t>15</a:t>
            </a:fld>
            <a:endParaRPr lang="en-US" dirty="0"/>
          </a:p>
        </p:txBody>
      </p:sp>
    </p:spTree>
    <p:extLst>
      <p:ext uri="{BB962C8B-B14F-4D97-AF65-F5344CB8AC3E}">
        <p14:creationId xmlns:p14="http://schemas.microsoft.com/office/powerpoint/2010/main" val="38678997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7AF00E9-A49D-4007-B3B9-A3783809E505}" type="slidenum">
              <a:rPr lang="en-US" smtClean="0"/>
              <a:t>16</a:t>
            </a:fld>
            <a:endParaRPr lang="en-US" dirty="0"/>
          </a:p>
        </p:txBody>
      </p:sp>
    </p:spTree>
    <p:extLst>
      <p:ext uri="{BB962C8B-B14F-4D97-AF65-F5344CB8AC3E}">
        <p14:creationId xmlns:p14="http://schemas.microsoft.com/office/powerpoint/2010/main" val="43305670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ctr"/>
            <a:r>
              <a:rPr lang="en-US" dirty="0"/>
              <a:t>Chain-of-Thought rationale (Wei et al., 2022) via knowledge distillation -&gt;EXPLAINABILITY OF DISEASE PREDICTION </a:t>
            </a:r>
            <a:endParaRPr lang="en-US" b="1" dirty="0">
              <a:ea typeface="Calibri"/>
              <a:cs typeface="Calibri"/>
            </a:endParaRPr>
          </a:p>
          <a:p>
            <a:r>
              <a:rPr lang="en-US" b="1" dirty="0"/>
              <a:t>Lack of Explainability</a:t>
            </a:r>
            <a:endParaRPr lang="en-US" dirty="0"/>
          </a:p>
          <a:p>
            <a:r>
              <a:rPr lang="en-US" dirty="0"/>
              <a:t>The model focuses on aligning data modalities but </a:t>
            </a:r>
            <a:r>
              <a:rPr lang="en-US" b="1" dirty="0"/>
              <a:t>does not explain its predictions</a:t>
            </a:r>
            <a:r>
              <a:rPr lang="en-US" dirty="0"/>
              <a:t> (e.g., how or why it diagnosed a disease).</a:t>
            </a:r>
            <a:endParaRPr lang="en-US" dirty="0">
              <a:ea typeface="Calibri"/>
              <a:cs typeface="Calibri"/>
            </a:endParaRPr>
          </a:p>
          <a:p>
            <a:r>
              <a:rPr lang="en-US" dirty="0"/>
              <a:t>Clinicians need interpretability to trust AI systems. Without it, clinical adoption is limited.</a:t>
            </a:r>
            <a:endParaRPr lang="en-US" dirty="0">
              <a:ea typeface="Calibri"/>
              <a:cs typeface="Calibri"/>
            </a:endParaRPr>
          </a:p>
          <a:p>
            <a:r>
              <a:rPr lang="en-US" b="1" dirty="0"/>
              <a:t>High-Level Disease Focus</a:t>
            </a:r>
            <a:endParaRPr lang="en-US" dirty="0">
              <a:ea typeface="Calibri"/>
              <a:cs typeface="Calibri"/>
            </a:endParaRPr>
          </a:p>
          <a:p>
            <a:r>
              <a:rPr lang="en-US" dirty="0" err="1"/>
              <a:t>ProMedTS</a:t>
            </a:r>
            <a:r>
              <a:rPr lang="en-US" dirty="0"/>
              <a:t> predicts </a:t>
            </a:r>
            <a:r>
              <a:rPr lang="en-US" i="1" dirty="0"/>
              <a:t>broad disease phenotypes</a:t>
            </a:r>
            <a:r>
              <a:rPr lang="en-US" dirty="0"/>
              <a:t> (like “heart disease”) rather than </a:t>
            </a:r>
            <a:r>
              <a:rPr lang="en-US" b="1" dirty="0"/>
              <a:t>specific clinical events</a:t>
            </a:r>
            <a:r>
              <a:rPr lang="en-US" dirty="0"/>
              <a:t>.</a:t>
            </a:r>
            <a:endParaRPr lang="en-US" dirty="0">
              <a:ea typeface="Calibri"/>
              <a:cs typeface="Calibri"/>
            </a:endParaRPr>
          </a:p>
          <a:p>
            <a:r>
              <a:rPr lang="en-US" dirty="0"/>
              <a:t>It’s too general for practical hospital tasks like predicting </a:t>
            </a:r>
            <a:r>
              <a:rPr lang="en-US" i="1" dirty="0"/>
              <a:t>postoperative complications</a:t>
            </a:r>
            <a:r>
              <a:rPr lang="en-US" dirty="0"/>
              <a:t>, </a:t>
            </a:r>
            <a:r>
              <a:rPr lang="en-US" i="1" dirty="0"/>
              <a:t>sepsis</a:t>
            </a:r>
            <a:r>
              <a:rPr lang="en-US" dirty="0"/>
              <a:t>, etc.</a:t>
            </a:r>
            <a:endParaRPr lang="en-US" dirty="0">
              <a:ea typeface="Calibri"/>
              <a:cs typeface="Calibri"/>
            </a:endParaRPr>
          </a:p>
          <a:p>
            <a:r>
              <a:rPr lang="en-US" dirty="0"/>
              <a:t> </a:t>
            </a:r>
            <a:r>
              <a:rPr lang="en-US" b="1" dirty="0"/>
              <a:t>Limited Evaluation Scope</a:t>
            </a:r>
            <a:endParaRPr lang="en-US" dirty="0"/>
          </a:p>
          <a:p>
            <a:r>
              <a:rPr lang="en-US" dirty="0"/>
              <a:t>It was only tested on </a:t>
            </a:r>
            <a:r>
              <a:rPr lang="en-US" b="1" dirty="0"/>
              <a:t>two datasets (MIMIC-III &amp; MIMIC-IV)</a:t>
            </a:r>
            <a:r>
              <a:rPr lang="en-US" dirty="0"/>
              <a:t> — both ICU-based EHRs, not other hospital or surgical data.</a:t>
            </a:r>
            <a:endParaRPr lang="en-US" dirty="0">
              <a:ea typeface="Calibri"/>
              <a:cs typeface="Calibri"/>
            </a:endParaRPr>
          </a:p>
          <a:p>
            <a:r>
              <a:rPr lang="en-US" dirty="0"/>
              <a:t>Limits generalization to other settings or patient populations.</a:t>
            </a:r>
            <a:endParaRPr lang="en-US" dirty="0">
              <a:ea typeface="Calibri"/>
              <a:cs typeface="Calibri"/>
            </a:endParaRPr>
          </a:p>
          <a:p>
            <a:endParaRPr lang="en-US" b="1" dirty="0">
              <a:ea typeface="Calibri"/>
              <a:cs typeface="Calibri"/>
            </a:endParaRPr>
          </a:p>
          <a:p>
            <a:r>
              <a:rPr lang="en-US" b="1" dirty="0"/>
              <a:t>Waveform Data Exclusion</a:t>
            </a:r>
            <a:endParaRPr lang="en-US" dirty="0">
              <a:ea typeface="Calibri"/>
              <a:cs typeface="Calibri"/>
            </a:endParaRPr>
          </a:p>
          <a:p>
            <a:r>
              <a:rPr lang="en-US" dirty="0" err="1"/>
              <a:t>ProMedTS</a:t>
            </a:r>
            <a:r>
              <a:rPr lang="en-US" dirty="0"/>
              <a:t> only handled structured labs and notes — real EHRs like MOVER also include </a:t>
            </a:r>
            <a:r>
              <a:rPr lang="en-US" b="1" dirty="0"/>
              <a:t>continuous physiological waveforms</a:t>
            </a:r>
            <a:r>
              <a:rPr lang="en-US" dirty="0"/>
              <a:t> (vital signs, ECG). Ignoring these loses fine-grained temporal info.</a:t>
            </a:r>
          </a:p>
          <a:p>
            <a:r>
              <a:rPr lang="en-US" dirty="0"/>
              <a:t>You plan to start without waveforms due to size constraints but integrate them later — that’s part of your design.</a:t>
            </a:r>
            <a:endParaRPr lang="en-US" dirty="0">
              <a:ea typeface="Calibri"/>
              <a:cs typeface="Calibri"/>
            </a:endParaRPr>
          </a:p>
          <a:p>
            <a:r>
              <a:rPr lang="en-US" b="1" dirty="0"/>
              <a:t>Computational Cost &amp; Data Volume</a:t>
            </a:r>
            <a:endParaRPr lang="en-US" dirty="0"/>
          </a:p>
          <a:p>
            <a:r>
              <a:rPr lang="en-US" dirty="0"/>
              <a:t>The method relies on Clinical-BERT, </a:t>
            </a:r>
            <a:r>
              <a:rPr lang="en-US" dirty="0" err="1"/>
              <a:t>PatchTST</a:t>
            </a:r>
            <a:r>
              <a:rPr lang="en-US" dirty="0"/>
              <a:t>, and large LLMs — making it computationally heavy. MOVER is larger than MIMIC-IV, so scaling can be challenging.</a:t>
            </a:r>
            <a:endParaRPr lang="en-US" dirty="0">
              <a:ea typeface="Calibri"/>
              <a:cs typeface="Calibri"/>
            </a:endParaRPr>
          </a:p>
          <a:p>
            <a:r>
              <a:rPr lang="en-US" dirty="0"/>
              <a:t>Use lighter models or modular training (e.g., freezing LLM weights, using prompt tuning only).</a:t>
            </a:r>
            <a:endParaRPr lang="en-US" dirty="0">
              <a:ea typeface="Calibri"/>
              <a:cs typeface="Calibri"/>
            </a:endParaRPr>
          </a:p>
          <a:p>
            <a:r>
              <a:rPr lang="en-US" b="1" dirty="0"/>
              <a:t>Anomaly Caption Bias</a:t>
            </a:r>
            <a:endParaRPr lang="en-US" dirty="0"/>
          </a:p>
          <a:p>
            <a:r>
              <a:rPr lang="en-US" dirty="0"/>
              <a:t>The anomaly descriptions are generated using </a:t>
            </a:r>
            <a:r>
              <a:rPr lang="en-US" b="1" dirty="0"/>
              <a:t>rule-based templates</a:t>
            </a:r>
            <a:r>
              <a:rPr lang="en-US" dirty="0"/>
              <a:t>, not medically verified text — possible semantic bias or oversimplification.</a:t>
            </a:r>
            <a:endParaRPr lang="en-US" dirty="0">
              <a:ea typeface="Calibri"/>
              <a:cs typeface="Calibri"/>
            </a:endParaRPr>
          </a:p>
          <a:p>
            <a:r>
              <a:rPr lang="en-US" dirty="0"/>
              <a:t>Consider validating anomaly captions with domain experts or refining the caption templates.</a:t>
            </a:r>
            <a:endParaRPr lang="en-US" dirty="0">
              <a:ea typeface="Calibri"/>
              <a:cs typeface="Calibri"/>
            </a:endParaRPr>
          </a:p>
          <a:p>
            <a:r>
              <a:rPr lang="en-US" b="1" dirty="0"/>
              <a:t>Limited Clinical Validation</a:t>
            </a:r>
            <a:endParaRPr lang="en-US" dirty="0"/>
          </a:p>
          <a:p>
            <a:r>
              <a:rPr lang="en-US" dirty="0"/>
              <a:t>The paper evaluated metrics like F1, but </a:t>
            </a:r>
            <a:r>
              <a:rPr lang="en-US" b="1" dirty="0"/>
              <a:t>no clinician-in-the-loop</a:t>
            </a:r>
            <a:r>
              <a:rPr lang="en-US" dirty="0"/>
              <a:t> validation was done to confirm medical usefulness.</a:t>
            </a:r>
            <a:endParaRPr lang="en-US" dirty="0">
              <a:ea typeface="Calibri"/>
              <a:cs typeface="Calibri"/>
            </a:endParaRPr>
          </a:p>
          <a:p>
            <a:r>
              <a:rPr lang="en-US" dirty="0"/>
              <a:t>You could incorporate explainability tools (attention or SHAP) to improve trust and interpretability.</a:t>
            </a:r>
            <a:endParaRPr lang="en-US" dirty="0">
              <a:ea typeface="Calibri"/>
              <a:cs typeface="Calibri"/>
            </a:endParaRPr>
          </a:p>
          <a:p>
            <a:r>
              <a:rPr lang="en-US" dirty="0"/>
              <a:t> </a:t>
            </a:r>
            <a:r>
              <a:rPr lang="en-US" b="1" dirty="0"/>
              <a:t>Static EHR Segments</a:t>
            </a:r>
            <a:endParaRPr lang="en-US" dirty="0"/>
          </a:p>
          <a:p>
            <a:r>
              <a:rPr lang="en-US" dirty="0"/>
              <a:t>The model doesn’t account for </a:t>
            </a:r>
            <a:r>
              <a:rPr lang="en-US" b="1" dirty="0"/>
              <a:t>temporal evolution of EHR data over hospital stays</a:t>
            </a:r>
            <a:r>
              <a:rPr lang="en-US" dirty="0"/>
              <a:t> (it treats notes + labs as static).</a:t>
            </a:r>
            <a:endParaRPr lang="en-US" dirty="0">
              <a:ea typeface="Calibri"/>
              <a:cs typeface="Calibri"/>
            </a:endParaRPr>
          </a:p>
          <a:p>
            <a:r>
              <a:rPr lang="en-US" dirty="0"/>
              <a:t>You might experiment with dynamic temporal encoding or chronological prompts.</a:t>
            </a:r>
            <a:endParaRPr lang="en-US" dirty="0">
              <a:ea typeface="Calibri"/>
              <a:cs typeface="Calibri"/>
            </a:endParaRPr>
          </a:p>
          <a:p>
            <a:r>
              <a:rPr lang="en-US" b="1" dirty="0"/>
              <a:t>Overfitting to Specific LLMs</a:t>
            </a:r>
            <a:endParaRPr lang="en-US" dirty="0"/>
          </a:p>
          <a:p>
            <a:r>
              <a:rPr lang="en-US" dirty="0"/>
              <a:t>It used frozen LLMs like Flan-T5, OPT, Qwen — might not generalize to others or newer ones.</a:t>
            </a:r>
            <a:endParaRPr lang="en-US" dirty="0">
              <a:ea typeface="Calibri"/>
              <a:cs typeface="Calibri"/>
            </a:endParaRPr>
          </a:p>
          <a:p>
            <a:r>
              <a:rPr lang="en-US" dirty="0"/>
              <a:t>Future work could benchmark with medical LLMs (e.g., Med-</a:t>
            </a:r>
            <a:r>
              <a:rPr lang="en-US" dirty="0" err="1"/>
              <a:t>PaLM</a:t>
            </a:r>
            <a:r>
              <a:rPr lang="en-US" dirty="0"/>
              <a:t>, </a:t>
            </a:r>
            <a:r>
              <a:rPr lang="en-US" dirty="0" err="1"/>
              <a:t>BioGPT</a:t>
            </a:r>
            <a:r>
              <a:rPr lang="en-US" dirty="0"/>
              <a:t>).</a:t>
            </a:r>
            <a:endParaRPr lang="en-US" dirty="0">
              <a:ea typeface="Calibri"/>
              <a:cs typeface="Calibri"/>
            </a:endParaRPr>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E7AF00E9-A49D-4007-B3B9-A3783809E505}" type="slidenum">
              <a:rPr lang="en-US" smtClean="0"/>
              <a:t>17</a:t>
            </a:fld>
            <a:endParaRPr lang="en-US" dirty="0"/>
          </a:p>
        </p:txBody>
      </p:sp>
    </p:spTree>
    <p:extLst>
      <p:ext uri="{BB962C8B-B14F-4D97-AF65-F5344CB8AC3E}">
        <p14:creationId xmlns:p14="http://schemas.microsoft.com/office/powerpoint/2010/main" val="307048898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4 illustrates the parameter counts and computation times of baseline models on the two datasets. Our model, </a:t>
            </a:r>
            <a:r>
              <a:rPr lang="en-US" dirty="0" err="1"/>
              <a:t>ProMedTS</a:t>
            </a:r>
            <a:r>
              <a:rPr lang="en-US" dirty="0"/>
              <a:t>, matches the parameter counts and computation times of multimodal baselines such as LDAM and FROZEN, while using 25× fewer parameters and requiring one-third less training time than </a:t>
            </a:r>
            <a:r>
              <a:rPr lang="en-US" dirty="0" err="1"/>
              <a:t>LLaMA</a:t>
            </a:r>
            <a:r>
              <a:rPr lang="en-US" dirty="0"/>
              <a:t>, all while achieving superior diagnostic performance, highlighting its efficiency and effectiveness in </a:t>
            </a:r>
            <a:r>
              <a:rPr lang="en-US" dirty="0" err="1"/>
              <a:t>languagetime</a:t>
            </a:r>
            <a:r>
              <a:rPr lang="en-US" dirty="0"/>
              <a:t> series multimodal alignment and fusion.</a:t>
            </a:r>
          </a:p>
          <a:p>
            <a:endParaRPr lang="en-US" dirty="0">
              <a:ea typeface="Calibri"/>
              <a:cs typeface="Calibri"/>
            </a:endParaRPr>
          </a:p>
          <a:p>
            <a:r>
              <a:rPr lang="en-US" dirty="0"/>
              <a:t>In future work, we plan to extend our approach to apply to larger and more diverse datasets, such as Time-MMD (Liu et al., 2024), conduct experiments with different clinical tasks, explore additional LLM architectures, and investigate further improvements in modality alignment techniques.</a:t>
            </a:r>
            <a:endParaRPr lang="en-US" dirty="0">
              <a:ea typeface="Calibri"/>
              <a:cs typeface="Calibri"/>
            </a:endParaRPr>
          </a:p>
        </p:txBody>
      </p:sp>
      <p:sp>
        <p:nvSpPr>
          <p:cNvPr id="4" name="Slide Number Placeholder 3"/>
          <p:cNvSpPr>
            <a:spLocks noGrp="1"/>
          </p:cNvSpPr>
          <p:nvPr>
            <p:ph type="sldNum" sz="quarter" idx="5"/>
          </p:nvPr>
        </p:nvSpPr>
        <p:spPr/>
        <p:txBody>
          <a:bodyPr/>
          <a:lstStyle/>
          <a:p>
            <a:fld id="{E7AF00E9-A49D-4007-B3B9-A3783809E505}" type="slidenum">
              <a:rPr lang="en-US" smtClean="0"/>
              <a:t>18</a:t>
            </a:fld>
            <a:endParaRPr lang="en-US" dirty="0"/>
          </a:p>
        </p:txBody>
      </p:sp>
    </p:spTree>
    <p:extLst>
      <p:ext uri="{BB962C8B-B14F-4D97-AF65-F5344CB8AC3E}">
        <p14:creationId xmlns:p14="http://schemas.microsoft.com/office/powerpoint/2010/main" val="11321731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p:cNvSpPr>
            <a:spLocks noGrp="1"/>
          </p:cNvSpPr>
          <p:nvPr>
            <p:ph type="dt" sz="half" idx="10"/>
          </p:nvPr>
        </p:nvSpPr>
        <p:spPr/>
        <p:txBody>
          <a:bodyPr/>
          <a:lstStyle/>
          <a:p>
            <a:fld id="{C764DE79-268F-4C1A-8933-263129D2AF90}" type="datetimeFigureOut">
              <a:rPr lang="en-US" dirty="0"/>
              <a:t>9/29/2026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0225860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C764DE79-268F-4C1A-8933-263129D2AF90}" type="datetimeFigureOut">
              <a:rPr lang="en-US" dirty="0"/>
              <a:t>9/29/2026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1548077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dirty="0"/>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9/29/2026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3102418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C764DE79-268F-4C1A-8933-263129D2AF90}" type="datetimeFigureOut">
              <a:rPr lang="en-US" dirty="0"/>
              <a:t>9/29/2026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6965523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dirty="0"/>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C764DE79-268F-4C1A-8933-263129D2AF90}" type="datetimeFigureOut">
              <a:rPr lang="en-US" dirty="0"/>
              <a:t>9/29/2026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9489159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C764DE79-268F-4C1A-8933-263129D2AF90}" type="datetimeFigureOut">
              <a:rPr lang="en-US" dirty="0"/>
              <a:t>9/29/2026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1110371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9/29/2026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42458264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dirty="0"/>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9/29/2026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7499777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dirty="0"/>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9/29/2026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5522486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C764DE79-268F-4C1A-8933-263129D2AF90}" type="datetimeFigureOut">
              <a:rPr lang="en-US" dirty="0"/>
              <a:t>9/29/2026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9458422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dirty="0"/>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C764DE79-268F-4C1A-8933-263129D2AF90}" type="datetimeFigureOut">
              <a:rPr lang="en-US" dirty="0"/>
              <a:t>9/29/2026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5943998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 subtitle +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72C41-A024-2F33-1F04-21E003FA7291}"/>
              </a:ext>
            </a:extLst>
          </p:cNvPr>
          <p:cNvSpPr>
            <a:spLocks noGrp="1"/>
          </p:cNvSpPr>
          <p:nvPr>
            <p:ph type="ctrTitle" hasCustomPrompt="1"/>
          </p:nvPr>
        </p:nvSpPr>
        <p:spPr>
          <a:xfrm>
            <a:off x="550863" y="196900"/>
            <a:ext cx="4159160" cy="3155900"/>
          </a:xfrm>
        </p:spPr>
        <p:txBody>
          <a:bodyPr lIns="91440" anchor="b">
            <a:noAutofit/>
          </a:bodyPr>
          <a:lstStyle>
            <a:lvl1pPr algn="l">
              <a:defRPr sz="4000"/>
            </a:lvl1pPr>
          </a:lstStyle>
          <a:p>
            <a:r>
              <a:rPr lang="en-US" dirty="0"/>
              <a:t>Click to add title</a:t>
            </a:r>
          </a:p>
        </p:txBody>
      </p:sp>
      <p:sp>
        <p:nvSpPr>
          <p:cNvPr id="3" name="Subtitle 2">
            <a:extLst>
              <a:ext uri="{FF2B5EF4-FFF2-40B4-BE49-F238E27FC236}">
                <a16:creationId xmlns:a16="http://schemas.microsoft.com/office/drawing/2014/main" id="{473BC2DF-9C2A-052C-AD2C-0A8ABAA50374}"/>
              </a:ext>
            </a:extLst>
          </p:cNvPr>
          <p:cNvSpPr>
            <a:spLocks noGrp="1"/>
          </p:cNvSpPr>
          <p:nvPr>
            <p:ph type="subTitle" idx="1" hasCustomPrompt="1"/>
          </p:nvPr>
        </p:nvSpPr>
        <p:spPr>
          <a:xfrm>
            <a:off x="547271" y="3505200"/>
            <a:ext cx="4159160" cy="2352356"/>
          </a:xfrm>
        </p:spPr>
        <p:txBody>
          <a:bodyPr lIns="91440" rIns="91440">
            <a:noAutofit/>
          </a:bodyPr>
          <a:lstStyle>
            <a:lvl1pPr marL="0" indent="0" algn="l">
              <a:lnSpc>
                <a:spcPct val="100000"/>
              </a:lnSpc>
              <a:spcAft>
                <a:spcPts val="0"/>
              </a:spcAft>
              <a:buFont typeface="Arial" panose="020B0604020202020204" pitchFamily="34" charset="0"/>
              <a:buNone/>
              <a:defRPr sz="24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14" name="Oval 13">
            <a:extLst>
              <a:ext uri="{FF2B5EF4-FFF2-40B4-BE49-F238E27FC236}">
                <a16:creationId xmlns:a16="http://schemas.microsoft.com/office/drawing/2014/main" id="{60ABD6E1-FE78-D78B-E80C-09490F5D8D05}"/>
              </a:ext>
              <a:ext uri="{C183D7F6-B498-43B3-948B-1728B52AA6E4}">
                <adec:decorative xmlns:adec="http://schemas.microsoft.com/office/drawing/2017/decorative" val="1"/>
              </a:ext>
            </a:extLst>
          </p:cNvPr>
          <p:cNvSpPr>
            <a:spLocks noChangeAspect="1"/>
          </p:cNvSpPr>
          <p:nvPr userDrawn="1"/>
        </p:nvSpPr>
        <p:spPr>
          <a:xfrm>
            <a:off x="5668780" y="5059009"/>
            <a:ext cx="1080000" cy="1080000"/>
          </a:xfrm>
          <a:prstGeom prst="ellipse">
            <a:avLst/>
          </a:prstGeom>
          <a:gradFill flip="none" rotWithShape="1">
            <a:gsLst>
              <a:gs pos="100000">
                <a:schemeClr val="bg2">
                  <a:lumMod val="50000"/>
                  <a:lumOff val="50000"/>
                </a:schemeClr>
              </a:gs>
              <a:gs pos="60000">
                <a:schemeClr val="bg2">
                  <a:lumMod val="100000"/>
                </a:schemeClr>
              </a:gs>
            </a:gsLst>
            <a:path path="circle">
              <a:fillToRect l="100000" b="100000"/>
            </a:path>
            <a:tileRect t="-100000" r="-100000"/>
          </a:gradFill>
          <a:ln>
            <a:noFill/>
          </a:ln>
          <a:effectLst>
            <a:innerShdw blurRad="254000" dist="127000" dir="2700000">
              <a:schemeClr val="accent1">
                <a:lumMod val="60000"/>
                <a:lumOff val="40000"/>
                <a:alpha val="4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nvGrpSpPr>
          <p:cNvPr id="10" name="Group 9">
            <a:extLst>
              <a:ext uri="{FF2B5EF4-FFF2-40B4-BE49-F238E27FC236}">
                <a16:creationId xmlns:a16="http://schemas.microsoft.com/office/drawing/2014/main" id="{62BB1BCD-5C1C-ED05-D6B4-F92367209BEF}"/>
              </a:ext>
              <a:ext uri="{C183D7F6-B498-43B3-948B-1728B52AA6E4}">
                <adec:decorative xmlns:adec="http://schemas.microsoft.com/office/drawing/2017/decorative" val="1"/>
              </a:ext>
            </a:extLst>
          </p:cNvPr>
          <p:cNvGrpSpPr/>
          <p:nvPr userDrawn="1"/>
        </p:nvGrpSpPr>
        <p:grpSpPr>
          <a:xfrm>
            <a:off x="10822156" y="4143453"/>
            <a:ext cx="734257" cy="760506"/>
            <a:chOff x="5243759" y="1363788"/>
            <a:chExt cx="734257" cy="760506"/>
          </a:xfrm>
        </p:grpSpPr>
        <p:sp>
          <p:nvSpPr>
            <p:cNvPr id="11" name="Freeform 5">
              <a:extLst>
                <a:ext uri="{FF2B5EF4-FFF2-40B4-BE49-F238E27FC236}">
                  <a16:creationId xmlns:a16="http://schemas.microsoft.com/office/drawing/2014/main" id="{700A5CAB-28E9-FB7A-E72E-39F3ADE58C6B}"/>
                </a:ext>
              </a:extLst>
            </p:cNvPr>
            <p:cNvSpPr>
              <a:spLocks/>
            </p:cNvSpPr>
            <p:nvPr/>
          </p:nvSpPr>
          <p:spPr bwMode="auto">
            <a:xfrm rot="1800000">
              <a:off x="5356930" y="1363788"/>
              <a:ext cx="621086" cy="364601"/>
            </a:xfrm>
            <a:custGeom>
              <a:avLst/>
              <a:gdLst>
                <a:gd name="T0" fmla="*/ 266 w 540"/>
                <a:gd name="T1" fmla="*/ 0 h 317"/>
                <a:gd name="T2" fmla="*/ 0 w 540"/>
                <a:gd name="T3" fmla="*/ 158 h 317"/>
                <a:gd name="T4" fmla="*/ 266 w 540"/>
                <a:gd name="T5" fmla="*/ 317 h 317"/>
                <a:gd name="T6" fmla="*/ 540 w 540"/>
                <a:gd name="T7" fmla="*/ 158 h 317"/>
                <a:gd name="T8" fmla="*/ 266 w 540"/>
                <a:gd name="T9" fmla="*/ 0 h 317"/>
              </a:gdLst>
              <a:ahLst/>
              <a:cxnLst>
                <a:cxn ang="0">
                  <a:pos x="T0" y="T1"/>
                </a:cxn>
                <a:cxn ang="0">
                  <a:pos x="T2" y="T3"/>
                </a:cxn>
                <a:cxn ang="0">
                  <a:pos x="T4" y="T5"/>
                </a:cxn>
                <a:cxn ang="0">
                  <a:pos x="T6" y="T7"/>
                </a:cxn>
                <a:cxn ang="0">
                  <a:pos x="T8" y="T9"/>
                </a:cxn>
              </a:cxnLst>
              <a:rect l="0" t="0" r="r" b="b"/>
              <a:pathLst>
                <a:path w="540" h="317">
                  <a:moveTo>
                    <a:pt x="266" y="0"/>
                  </a:moveTo>
                  <a:lnTo>
                    <a:pt x="0" y="158"/>
                  </a:lnTo>
                  <a:lnTo>
                    <a:pt x="266" y="317"/>
                  </a:lnTo>
                  <a:lnTo>
                    <a:pt x="540" y="158"/>
                  </a:lnTo>
                  <a:lnTo>
                    <a:pt x="266"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2" name="Freeform 6">
              <a:extLst>
                <a:ext uri="{FF2B5EF4-FFF2-40B4-BE49-F238E27FC236}">
                  <a16:creationId xmlns:a16="http://schemas.microsoft.com/office/drawing/2014/main" id="{2BA2D9BC-CA87-28FA-7A02-455E740EACAB}"/>
                </a:ext>
              </a:extLst>
            </p:cNvPr>
            <p:cNvSpPr>
              <a:spLocks/>
            </p:cNvSpPr>
            <p:nvPr/>
          </p:nvSpPr>
          <p:spPr bwMode="auto">
            <a:xfrm rot="1800000">
              <a:off x="5243759" y="1430747"/>
              <a:ext cx="305942" cy="538275"/>
            </a:xfrm>
            <a:custGeom>
              <a:avLst/>
              <a:gdLst>
                <a:gd name="T0" fmla="*/ 266 w 266"/>
                <a:gd name="T1" fmla="*/ 468 h 468"/>
                <a:gd name="T2" fmla="*/ 0 w 266"/>
                <a:gd name="T3" fmla="*/ 310 h 468"/>
                <a:gd name="T4" fmla="*/ 0 w 266"/>
                <a:gd name="T5" fmla="*/ 310 h 468"/>
                <a:gd name="T6" fmla="*/ 0 w 266"/>
                <a:gd name="T7" fmla="*/ 0 h 468"/>
                <a:gd name="T8" fmla="*/ 0 w 266"/>
                <a:gd name="T9" fmla="*/ 0 h 468"/>
                <a:gd name="T10" fmla="*/ 266 w 266"/>
                <a:gd name="T11" fmla="*/ 159 h 468"/>
                <a:gd name="T12" fmla="*/ 266 w 266"/>
                <a:gd name="T13" fmla="*/ 468 h 468"/>
              </a:gdLst>
              <a:ahLst/>
              <a:cxnLst>
                <a:cxn ang="0">
                  <a:pos x="T0" y="T1"/>
                </a:cxn>
                <a:cxn ang="0">
                  <a:pos x="T2" y="T3"/>
                </a:cxn>
                <a:cxn ang="0">
                  <a:pos x="T4" y="T5"/>
                </a:cxn>
                <a:cxn ang="0">
                  <a:pos x="T6" y="T7"/>
                </a:cxn>
                <a:cxn ang="0">
                  <a:pos x="T8" y="T9"/>
                </a:cxn>
                <a:cxn ang="0">
                  <a:pos x="T10" y="T11"/>
                </a:cxn>
                <a:cxn ang="0">
                  <a:pos x="T12" y="T13"/>
                </a:cxn>
              </a:cxnLst>
              <a:rect l="0" t="0" r="r" b="b"/>
              <a:pathLst>
                <a:path w="266" h="468">
                  <a:moveTo>
                    <a:pt x="266" y="468"/>
                  </a:moveTo>
                  <a:lnTo>
                    <a:pt x="0" y="310"/>
                  </a:lnTo>
                  <a:lnTo>
                    <a:pt x="0" y="310"/>
                  </a:lnTo>
                  <a:lnTo>
                    <a:pt x="0" y="0"/>
                  </a:lnTo>
                  <a:lnTo>
                    <a:pt x="0" y="0"/>
                  </a:lnTo>
                  <a:lnTo>
                    <a:pt x="266" y="159"/>
                  </a:lnTo>
                  <a:lnTo>
                    <a:pt x="266" y="468"/>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980000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3" name="Freeform 8">
              <a:extLst>
                <a:ext uri="{FF2B5EF4-FFF2-40B4-BE49-F238E27FC236}">
                  <a16:creationId xmlns:a16="http://schemas.microsoft.com/office/drawing/2014/main" id="{734E5ADF-EEF0-2501-9D7B-8FC1A49F60A7}"/>
                </a:ext>
              </a:extLst>
            </p:cNvPr>
            <p:cNvSpPr>
              <a:spLocks/>
            </p:cNvSpPr>
            <p:nvPr/>
          </p:nvSpPr>
          <p:spPr bwMode="auto">
            <a:xfrm rot="1800000">
              <a:off x="5508097" y="1586019"/>
              <a:ext cx="315144" cy="538275"/>
            </a:xfrm>
            <a:custGeom>
              <a:avLst/>
              <a:gdLst>
                <a:gd name="T0" fmla="*/ 274 w 274"/>
                <a:gd name="T1" fmla="*/ 0 h 468"/>
                <a:gd name="T2" fmla="*/ 274 w 274"/>
                <a:gd name="T3" fmla="*/ 310 h 468"/>
                <a:gd name="T4" fmla="*/ 274 w 274"/>
                <a:gd name="T5" fmla="*/ 310 h 468"/>
                <a:gd name="T6" fmla="*/ 0 w 274"/>
                <a:gd name="T7" fmla="*/ 468 h 468"/>
                <a:gd name="T8" fmla="*/ 0 w 274"/>
                <a:gd name="T9" fmla="*/ 159 h 468"/>
                <a:gd name="T10" fmla="*/ 274 w 274"/>
                <a:gd name="T11" fmla="*/ 0 h 468"/>
                <a:gd name="T12" fmla="*/ 274 w 274"/>
                <a:gd name="T13" fmla="*/ 0 h 468"/>
              </a:gdLst>
              <a:ahLst/>
              <a:cxnLst>
                <a:cxn ang="0">
                  <a:pos x="T0" y="T1"/>
                </a:cxn>
                <a:cxn ang="0">
                  <a:pos x="T2" y="T3"/>
                </a:cxn>
                <a:cxn ang="0">
                  <a:pos x="T4" y="T5"/>
                </a:cxn>
                <a:cxn ang="0">
                  <a:pos x="T6" y="T7"/>
                </a:cxn>
                <a:cxn ang="0">
                  <a:pos x="T8" y="T9"/>
                </a:cxn>
                <a:cxn ang="0">
                  <a:pos x="T10" y="T11"/>
                </a:cxn>
                <a:cxn ang="0">
                  <a:pos x="T12" y="T13"/>
                </a:cxn>
              </a:cxnLst>
              <a:rect l="0" t="0" r="r" b="b"/>
              <a:pathLst>
                <a:path w="274" h="468">
                  <a:moveTo>
                    <a:pt x="274" y="0"/>
                  </a:moveTo>
                  <a:lnTo>
                    <a:pt x="274" y="310"/>
                  </a:lnTo>
                  <a:lnTo>
                    <a:pt x="274" y="310"/>
                  </a:lnTo>
                  <a:lnTo>
                    <a:pt x="0" y="468"/>
                  </a:lnTo>
                  <a:lnTo>
                    <a:pt x="0" y="159"/>
                  </a:lnTo>
                  <a:lnTo>
                    <a:pt x="274" y="0"/>
                  </a:lnTo>
                  <a:lnTo>
                    <a:pt x="274"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8000000" scaled="0"/>
              <a:tileRect/>
            </a:gradFill>
            <a:ln>
              <a:noFill/>
            </a:ln>
            <a:effectLst>
              <a:innerShdw blurRad="254000">
                <a:schemeClr val="accent1">
                  <a:lumMod val="60000"/>
                  <a:lumOff val="40000"/>
                  <a:alpha val="6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sp>
        <p:nvSpPr>
          <p:cNvPr id="8" name="Picture Placeholder 14">
            <a:extLst>
              <a:ext uri="{FF2B5EF4-FFF2-40B4-BE49-F238E27FC236}">
                <a16:creationId xmlns:a16="http://schemas.microsoft.com/office/drawing/2014/main" id="{780F3839-9B1B-2346-C1F4-E876E6AE32E1}"/>
              </a:ext>
            </a:extLst>
          </p:cNvPr>
          <p:cNvSpPr>
            <a:spLocks noGrp="1"/>
          </p:cNvSpPr>
          <p:nvPr>
            <p:ph type="pic" sz="quarter" idx="13"/>
          </p:nvPr>
        </p:nvSpPr>
        <p:spPr>
          <a:xfrm>
            <a:off x="5678049" y="788713"/>
            <a:ext cx="5132388" cy="5132388"/>
          </a:xfrm>
          <a:custGeom>
            <a:avLst/>
            <a:gdLst>
              <a:gd name="connsiteX0" fmla="*/ 2566194 w 5132388"/>
              <a:gd name="connsiteY0" fmla="*/ 0 h 5132388"/>
              <a:gd name="connsiteX1" fmla="*/ 5132388 w 5132388"/>
              <a:gd name="connsiteY1" fmla="*/ 2566194 h 5132388"/>
              <a:gd name="connsiteX2" fmla="*/ 2566194 w 5132388"/>
              <a:gd name="connsiteY2" fmla="*/ 5132388 h 5132388"/>
              <a:gd name="connsiteX3" fmla="*/ 0 w 5132388"/>
              <a:gd name="connsiteY3" fmla="*/ 2566194 h 5132388"/>
              <a:gd name="connsiteX4" fmla="*/ 2566194 w 5132388"/>
              <a:gd name="connsiteY4" fmla="*/ 0 h 51323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32388" h="5132388">
                <a:moveTo>
                  <a:pt x="2566194" y="0"/>
                </a:moveTo>
                <a:cubicBezTo>
                  <a:pt x="3983464" y="0"/>
                  <a:pt x="5132388" y="1148924"/>
                  <a:pt x="5132388" y="2566194"/>
                </a:cubicBezTo>
                <a:cubicBezTo>
                  <a:pt x="5132388" y="3983464"/>
                  <a:pt x="3983464" y="5132388"/>
                  <a:pt x="2566194" y="5132388"/>
                </a:cubicBezTo>
                <a:cubicBezTo>
                  <a:pt x="1148924" y="5132388"/>
                  <a:pt x="0" y="3983464"/>
                  <a:pt x="0" y="2566194"/>
                </a:cubicBezTo>
                <a:cubicBezTo>
                  <a:pt x="0" y="1148924"/>
                  <a:pt x="1148924" y="0"/>
                  <a:pt x="2566194" y="0"/>
                </a:cubicBezTo>
                <a:close/>
              </a:path>
            </a:pathLst>
          </a:custGeom>
          <a:solidFill>
            <a:schemeClr val="accent5"/>
          </a:solidFill>
        </p:spPr>
        <p:txBody>
          <a:bodyPr wrap="square" tIns="365760">
            <a:noAutofit/>
          </a:bodyPr>
          <a:lstStyle>
            <a:lvl1pPr marL="0" indent="0" algn="ctr">
              <a:buNone/>
              <a:defRPr sz="1800"/>
            </a:lvl1pPr>
          </a:lstStyle>
          <a:p>
            <a:r>
              <a:rPr lang="en-US" dirty="0"/>
              <a:t>Click icon to add picture</a:t>
            </a:r>
          </a:p>
        </p:txBody>
      </p:sp>
      <p:sp>
        <p:nvSpPr>
          <p:cNvPr id="4" name="Date Placeholder 3">
            <a:extLst>
              <a:ext uri="{FF2B5EF4-FFF2-40B4-BE49-F238E27FC236}">
                <a16:creationId xmlns:a16="http://schemas.microsoft.com/office/drawing/2014/main" id="{C0070940-5919-2C95-2278-32E50BF14DD1}"/>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1957D599-49CF-19FE-6D86-C5EDB765F41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28931DF1-1C8D-86B9-BFDD-098FFC00FDC2}"/>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1854369400"/>
      </p:ext>
    </p:extLst>
  </p:cSld>
  <p:clrMapOvr>
    <a:masterClrMapping/>
  </p:clrMapOvr>
  <p:hf hdr="0" ftr="0"/>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grpSp>
        <p:nvGrpSpPr>
          <p:cNvPr id="23" name="Group 22">
            <a:extLst>
              <a:ext uri="{FF2B5EF4-FFF2-40B4-BE49-F238E27FC236}">
                <a16:creationId xmlns:a16="http://schemas.microsoft.com/office/drawing/2014/main" id="{43C4A872-A473-BFD2-150E-387250C2B4DA}"/>
              </a:ext>
              <a:ext uri="{C183D7F6-B498-43B3-948B-1728B52AA6E4}">
                <adec:decorative xmlns:adec="http://schemas.microsoft.com/office/drawing/2017/decorative" val="1"/>
              </a:ext>
            </a:extLst>
          </p:cNvPr>
          <p:cNvGrpSpPr/>
          <p:nvPr userDrawn="1"/>
        </p:nvGrpSpPr>
        <p:grpSpPr>
          <a:xfrm>
            <a:off x="613998" y="5334748"/>
            <a:ext cx="678135" cy="990000"/>
            <a:chOff x="10490969" y="1448827"/>
            <a:chExt cx="678135" cy="990000"/>
          </a:xfrm>
        </p:grpSpPr>
        <p:sp>
          <p:nvSpPr>
            <p:cNvPr id="24" name="Freeform: Shape 23">
              <a:extLst>
                <a:ext uri="{FF2B5EF4-FFF2-40B4-BE49-F238E27FC236}">
                  <a16:creationId xmlns:a16="http://schemas.microsoft.com/office/drawing/2014/main" id="{C5C8D53B-A579-BCFA-58E8-C386DABC92CD}"/>
                </a:ext>
              </a:extLst>
            </p:cNvPr>
            <p:cNvSpPr>
              <a:spLocks noChangeAspect="1"/>
            </p:cNvSpPr>
            <p:nvPr/>
          </p:nvSpPr>
          <p:spPr>
            <a:xfrm rot="2700000" flipH="1" flipV="1">
              <a:off x="10268976" y="1743588"/>
              <a:ext cx="926985" cy="463493"/>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solidFill>
            <a:ln>
              <a:noFill/>
            </a:ln>
            <a:effectLst>
              <a:innerShdw blurRad="127000" dist="50800" dir="13500000">
                <a:schemeClr val="accent1">
                  <a:lumMod val="40000"/>
                  <a:lumOff val="6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5" name="Oval 24">
              <a:extLst>
                <a:ext uri="{FF2B5EF4-FFF2-40B4-BE49-F238E27FC236}">
                  <a16:creationId xmlns:a16="http://schemas.microsoft.com/office/drawing/2014/main" id="{23A34CAC-4A03-ADDB-E97F-8675E68FC0B3}"/>
                </a:ext>
              </a:extLst>
            </p:cNvPr>
            <p:cNvSpPr/>
            <p:nvPr/>
          </p:nvSpPr>
          <p:spPr>
            <a:xfrm rot="8100000" flipH="1" flipV="1">
              <a:off x="11115555" y="1939340"/>
              <a:ext cx="53549" cy="233295"/>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6" name="Oval 25">
              <a:extLst>
                <a:ext uri="{FF2B5EF4-FFF2-40B4-BE49-F238E27FC236}">
                  <a16:creationId xmlns:a16="http://schemas.microsoft.com/office/drawing/2014/main" id="{0C733506-2F0D-8F31-52D1-5244F04A706B}"/>
                </a:ext>
              </a:extLst>
            </p:cNvPr>
            <p:cNvSpPr/>
            <p:nvPr/>
          </p:nvSpPr>
          <p:spPr>
            <a:xfrm rot="8100000" flipH="1" flipV="1">
              <a:off x="10625042" y="1448827"/>
              <a:ext cx="53549" cy="233295"/>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7" name="Freeform: Shape 26">
              <a:extLst>
                <a:ext uri="{FF2B5EF4-FFF2-40B4-BE49-F238E27FC236}">
                  <a16:creationId xmlns:a16="http://schemas.microsoft.com/office/drawing/2014/main" id="{29356E3D-E14C-9C43-7CE4-A7156B1E10DB}"/>
                </a:ext>
              </a:extLst>
            </p:cNvPr>
            <p:cNvSpPr>
              <a:spLocks noChangeAspect="1"/>
            </p:cNvSpPr>
            <p:nvPr/>
          </p:nvSpPr>
          <p:spPr>
            <a:xfrm rot="2700000" flipH="1" flipV="1">
              <a:off x="10292519" y="1686748"/>
              <a:ext cx="926985" cy="530086"/>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lumMod val="50000"/>
                <a:lumOff val="50000"/>
                <a:alpha val="20000"/>
              </a:schemeClr>
            </a:solidFill>
            <a:ln>
              <a:noFill/>
            </a:ln>
            <a:effectLst>
              <a:softEdge rad="1016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sp>
        <p:nvSpPr>
          <p:cNvPr id="20" name="Title 19">
            <a:extLst>
              <a:ext uri="{FF2B5EF4-FFF2-40B4-BE49-F238E27FC236}">
                <a16:creationId xmlns:a16="http://schemas.microsoft.com/office/drawing/2014/main" id="{85C652DA-55F6-9691-4254-344E0A4E9ABF}"/>
              </a:ext>
            </a:extLst>
          </p:cNvPr>
          <p:cNvSpPr>
            <a:spLocks noGrp="1"/>
          </p:cNvSpPr>
          <p:nvPr>
            <p:ph type="title" hasCustomPrompt="1"/>
          </p:nvPr>
        </p:nvSpPr>
        <p:spPr>
          <a:xfrm>
            <a:off x="550863" y="483924"/>
            <a:ext cx="11090275" cy="1684059"/>
          </a:xfrm>
        </p:spPr>
        <p:txBody>
          <a:bodyPr anchor="b">
            <a:normAutofit/>
          </a:bodyPr>
          <a:lstStyle>
            <a:lvl1pPr>
              <a:defRPr sz="4000"/>
            </a:lvl1pPr>
          </a:lstStyle>
          <a:p>
            <a:r>
              <a:rPr lang="en-US" dirty="0"/>
              <a:t>Click to add title</a:t>
            </a:r>
          </a:p>
        </p:txBody>
      </p:sp>
      <p:sp>
        <p:nvSpPr>
          <p:cNvPr id="22" name="Content Placeholder 21">
            <a:extLst>
              <a:ext uri="{FF2B5EF4-FFF2-40B4-BE49-F238E27FC236}">
                <a16:creationId xmlns:a16="http://schemas.microsoft.com/office/drawing/2014/main" id="{4DB7AC4F-2818-7F0D-AC6A-736D5F2C7392}"/>
              </a:ext>
            </a:extLst>
          </p:cNvPr>
          <p:cNvSpPr>
            <a:spLocks noGrp="1"/>
          </p:cNvSpPr>
          <p:nvPr>
            <p:ph sz="quarter" idx="13" hasCustomPrompt="1"/>
          </p:nvPr>
        </p:nvSpPr>
        <p:spPr>
          <a:xfrm>
            <a:off x="550863" y="2419350"/>
            <a:ext cx="11090274" cy="3913188"/>
          </a:xfrm>
        </p:spPr>
        <p:txBody>
          <a:bodyPr>
            <a:normAutofit/>
          </a:bodyPr>
          <a:lstStyle>
            <a:lvl1pPr marL="0" indent="0">
              <a:buNone/>
              <a:defRPr sz="1800">
                <a:solidFill>
                  <a:schemeClr val="tx1"/>
                </a:solidFill>
              </a:defRPr>
            </a:lvl1pPr>
            <a:lvl2pPr>
              <a:defRPr sz="1200">
                <a:solidFill>
                  <a:schemeClr val="tx1"/>
                </a:solidFill>
              </a:defRPr>
            </a:lvl2pPr>
            <a:lvl3pPr>
              <a:defRPr sz="1200">
                <a:solidFill>
                  <a:schemeClr val="tx1"/>
                </a:solidFill>
              </a:defRPr>
            </a:lvl3pPr>
            <a:lvl4pPr>
              <a:defRPr sz="1200">
                <a:solidFill>
                  <a:schemeClr val="tx1"/>
                </a:solidFill>
              </a:defRPr>
            </a:lvl4pPr>
            <a:lvl5pPr>
              <a:defRPr sz="1200">
                <a:solidFill>
                  <a:schemeClr val="tx1"/>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Date Placeholder 1">
            <a:extLst>
              <a:ext uri="{FF2B5EF4-FFF2-40B4-BE49-F238E27FC236}">
                <a16:creationId xmlns:a16="http://schemas.microsoft.com/office/drawing/2014/main" id="{AB81B449-7B97-41DC-B23F-65EDCBD316A6}"/>
              </a:ext>
            </a:extLst>
          </p:cNvPr>
          <p:cNvSpPr>
            <a:spLocks noGrp="1"/>
          </p:cNvSpPr>
          <p:nvPr>
            <p:ph type="dt" sz="half" idx="10"/>
          </p:nvPr>
        </p:nvSpPr>
        <p:spPr/>
        <p:txBody>
          <a:bodyPr/>
          <a:lstStyle/>
          <a:p>
            <a:r>
              <a:rPr lang="en-US"/>
              <a:t>20XX</a:t>
            </a:r>
            <a:endParaRPr lang="en-US" dirty="0"/>
          </a:p>
        </p:txBody>
      </p:sp>
      <p:sp>
        <p:nvSpPr>
          <p:cNvPr id="3" name="Footer Placeholder 2">
            <a:extLst>
              <a:ext uri="{FF2B5EF4-FFF2-40B4-BE49-F238E27FC236}">
                <a16:creationId xmlns:a16="http://schemas.microsoft.com/office/drawing/2014/main" id="{7C6B46D5-337B-4906-8412-4EEA3884FA7E}"/>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E436F230-C9A7-407A-B923-873839C8D8A0}"/>
              </a:ext>
            </a:extLst>
          </p:cNvPr>
          <p:cNvSpPr>
            <a:spLocks noGrp="1"/>
          </p:cNvSpPr>
          <p:nvPr>
            <p:ph type="sldNum" sz="quarter" idx="12"/>
          </p:nvPr>
        </p:nvSpPr>
        <p:spPr/>
        <p:txBody>
          <a:bodyPr/>
          <a:lstStyle/>
          <a:p>
            <a:fld id="{DBA1B0FB-D917-4C8C-928F-313BD683BF39}" type="slidenum">
              <a:rPr lang="en-US" smtClean="0"/>
              <a:t>‹#›</a:t>
            </a:fld>
            <a:endParaRPr lang="en-US" dirty="0"/>
          </a:p>
        </p:txBody>
      </p:sp>
      <p:grpSp>
        <p:nvGrpSpPr>
          <p:cNvPr id="5" name="Group 4">
            <a:extLst>
              <a:ext uri="{FF2B5EF4-FFF2-40B4-BE49-F238E27FC236}">
                <a16:creationId xmlns:a16="http://schemas.microsoft.com/office/drawing/2014/main" id="{6C61DF04-D7CB-2B19-8BB9-3E90A661973E}"/>
              </a:ext>
              <a:ext uri="{C183D7F6-B498-43B3-948B-1728B52AA6E4}">
                <adec:decorative xmlns:adec="http://schemas.microsoft.com/office/drawing/2017/decorative" val="1"/>
              </a:ext>
            </a:extLst>
          </p:cNvPr>
          <p:cNvGrpSpPr/>
          <p:nvPr userDrawn="1"/>
        </p:nvGrpSpPr>
        <p:grpSpPr>
          <a:xfrm>
            <a:off x="9010824" y="1514007"/>
            <a:ext cx="734257" cy="760506"/>
            <a:chOff x="5243759" y="1363788"/>
            <a:chExt cx="734257" cy="760506"/>
          </a:xfrm>
        </p:grpSpPr>
        <p:sp>
          <p:nvSpPr>
            <p:cNvPr id="6" name="Freeform 5">
              <a:extLst>
                <a:ext uri="{FF2B5EF4-FFF2-40B4-BE49-F238E27FC236}">
                  <a16:creationId xmlns:a16="http://schemas.microsoft.com/office/drawing/2014/main" id="{5DE1CC00-F893-E215-8086-65B6605C5FC9}"/>
                </a:ext>
              </a:extLst>
            </p:cNvPr>
            <p:cNvSpPr>
              <a:spLocks/>
            </p:cNvSpPr>
            <p:nvPr/>
          </p:nvSpPr>
          <p:spPr bwMode="auto">
            <a:xfrm rot="1800000">
              <a:off x="5356930" y="1363788"/>
              <a:ext cx="621086" cy="364601"/>
            </a:xfrm>
            <a:custGeom>
              <a:avLst/>
              <a:gdLst>
                <a:gd name="T0" fmla="*/ 266 w 540"/>
                <a:gd name="T1" fmla="*/ 0 h 317"/>
                <a:gd name="T2" fmla="*/ 0 w 540"/>
                <a:gd name="T3" fmla="*/ 158 h 317"/>
                <a:gd name="T4" fmla="*/ 266 w 540"/>
                <a:gd name="T5" fmla="*/ 317 h 317"/>
                <a:gd name="T6" fmla="*/ 540 w 540"/>
                <a:gd name="T7" fmla="*/ 158 h 317"/>
                <a:gd name="T8" fmla="*/ 266 w 540"/>
                <a:gd name="T9" fmla="*/ 0 h 317"/>
              </a:gdLst>
              <a:ahLst/>
              <a:cxnLst>
                <a:cxn ang="0">
                  <a:pos x="T0" y="T1"/>
                </a:cxn>
                <a:cxn ang="0">
                  <a:pos x="T2" y="T3"/>
                </a:cxn>
                <a:cxn ang="0">
                  <a:pos x="T4" y="T5"/>
                </a:cxn>
                <a:cxn ang="0">
                  <a:pos x="T6" y="T7"/>
                </a:cxn>
                <a:cxn ang="0">
                  <a:pos x="T8" y="T9"/>
                </a:cxn>
              </a:cxnLst>
              <a:rect l="0" t="0" r="r" b="b"/>
              <a:pathLst>
                <a:path w="540" h="317">
                  <a:moveTo>
                    <a:pt x="266" y="0"/>
                  </a:moveTo>
                  <a:lnTo>
                    <a:pt x="0" y="158"/>
                  </a:lnTo>
                  <a:lnTo>
                    <a:pt x="266" y="317"/>
                  </a:lnTo>
                  <a:lnTo>
                    <a:pt x="540" y="158"/>
                  </a:lnTo>
                  <a:lnTo>
                    <a:pt x="266"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7" name="Freeform 6">
              <a:extLst>
                <a:ext uri="{FF2B5EF4-FFF2-40B4-BE49-F238E27FC236}">
                  <a16:creationId xmlns:a16="http://schemas.microsoft.com/office/drawing/2014/main" id="{6EBF50D9-F9B8-ADB3-8B4A-AF19564EE6EB}"/>
                </a:ext>
              </a:extLst>
            </p:cNvPr>
            <p:cNvSpPr>
              <a:spLocks/>
            </p:cNvSpPr>
            <p:nvPr/>
          </p:nvSpPr>
          <p:spPr bwMode="auto">
            <a:xfrm rot="1800000">
              <a:off x="5243759" y="1430747"/>
              <a:ext cx="305942" cy="538275"/>
            </a:xfrm>
            <a:custGeom>
              <a:avLst/>
              <a:gdLst>
                <a:gd name="T0" fmla="*/ 266 w 266"/>
                <a:gd name="T1" fmla="*/ 468 h 468"/>
                <a:gd name="T2" fmla="*/ 0 w 266"/>
                <a:gd name="T3" fmla="*/ 310 h 468"/>
                <a:gd name="T4" fmla="*/ 0 w 266"/>
                <a:gd name="T5" fmla="*/ 310 h 468"/>
                <a:gd name="T6" fmla="*/ 0 w 266"/>
                <a:gd name="T7" fmla="*/ 0 h 468"/>
                <a:gd name="T8" fmla="*/ 0 w 266"/>
                <a:gd name="T9" fmla="*/ 0 h 468"/>
                <a:gd name="T10" fmla="*/ 266 w 266"/>
                <a:gd name="T11" fmla="*/ 159 h 468"/>
                <a:gd name="T12" fmla="*/ 266 w 266"/>
                <a:gd name="T13" fmla="*/ 468 h 468"/>
              </a:gdLst>
              <a:ahLst/>
              <a:cxnLst>
                <a:cxn ang="0">
                  <a:pos x="T0" y="T1"/>
                </a:cxn>
                <a:cxn ang="0">
                  <a:pos x="T2" y="T3"/>
                </a:cxn>
                <a:cxn ang="0">
                  <a:pos x="T4" y="T5"/>
                </a:cxn>
                <a:cxn ang="0">
                  <a:pos x="T6" y="T7"/>
                </a:cxn>
                <a:cxn ang="0">
                  <a:pos x="T8" y="T9"/>
                </a:cxn>
                <a:cxn ang="0">
                  <a:pos x="T10" y="T11"/>
                </a:cxn>
                <a:cxn ang="0">
                  <a:pos x="T12" y="T13"/>
                </a:cxn>
              </a:cxnLst>
              <a:rect l="0" t="0" r="r" b="b"/>
              <a:pathLst>
                <a:path w="266" h="468">
                  <a:moveTo>
                    <a:pt x="266" y="468"/>
                  </a:moveTo>
                  <a:lnTo>
                    <a:pt x="0" y="310"/>
                  </a:lnTo>
                  <a:lnTo>
                    <a:pt x="0" y="310"/>
                  </a:lnTo>
                  <a:lnTo>
                    <a:pt x="0" y="0"/>
                  </a:lnTo>
                  <a:lnTo>
                    <a:pt x="0" y="0"/>
                  </a:lnTo>
                  <a:lnTo>
                    <a:pt x="266" y="159"/>
                  </a:lnTo>
                  <a:lnTo>
                    <a:pt x="266" y="468"/>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980000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8" name="Freeform 8">
              <a:extLst>
                <a:ext uri="{FF2B5EF4-FFF2-40B4-BE49-F238E27FC236}">
                  <a16:creationId xmlns:a16="http://schemas.microsoft.com/office/drawing/2014/main" id="{80BE1060-7183-58F8-EEBF-64135EE82BC5}"/>
                </a:ext>
              </a:extLst>
            </p:cNvPr>
            <p:cNvSpPr>
              <a:spLocks/>
            </p:cNvSpPr>
            <p:nvPr/>
          </p:nvSpPr>
          <p:spPr bwMode="auto">
            <a:xfrm rot="1800000">
              <a:off x="5508097" y="1586019"/>
              <a:ext cx="315144" cy="538275"/>
            </a:xfrm>
            <a:custGeom>
              <a:avLst/>
              <a:gdLst>
                <a:gd name="T0" fmla="*/ 274 w 274"/>
                <a:gd name="T1" fmla="*/ 0 h 468"/>
                <a:gd name="T2" fmla="*/ 274 w 274"/>
                <a:gd name="T3" fmla="*/ 310 h 468"/>
                <a:gd name="T4" fmla="*/ 274 w 274"/>
                <a:gd name="T5" fmla="*/ 310 h 468"/>
                <a:gd name="T6" fmla="*/ 0 w 274"/>
                <a:gd name="T7" fmla="*/ 468 h 468"/>
                <a:gd name="T8" fmla="*/ 0 w 274"/>
                <a:gd name="T9" fmla="*/ 159 h 468"/>
                <a:gd name="T10" fmla="*/ 274 w 274"/>
                <a:gd name="T11" fmla="*/ 0 h 468"/>
                <a:gd name="T12" fmla="*/ 274 w 274"/>
                <a:gd name="T13" fmla="*/ 0 h 468"/>
              </a:gdLst>
              <a:ahLst/>
              <a:cxnLst>
                <a:cxn ang="0">
                  <a:pos x="T0" y="T1"/>
                </a:cxn>
                <a:cxn ang="0">
                  <a:pos x="T2" y="T3"/>
                </a:cxn>
                <a:cxn ang="0">
                  <a:pos x="T4" y="T5"/>
                </a:cxn>
                <a:cxn ang="0">
                  <a:pos x="T6" y="T7"/>
                </a:cxn>
                <a:cxn ang="0">
                  <a:pos x="T8" y="T9"/>
                </a:cxn>
                <a:cxn ang="0">
                  <a:pos x="T10" y="T11"/>
                </a:cxn>
                <a:cxn ang="0">
                  <a:pos x="T12" y="T13"/>
                </a:cxn>
              </a:cxnLst>
              <a:rect l="0" t="0" r="r" b="b"/>
              <a:pathLst>
                <a:path w="274" h="468">
                  <a:moveTo>
                    <a:pt x="274" y="0"/>
                  </a:moveTo>
                  <a:lnTo>
                    <a:pt x="274" y="310"/>
                  </a:lnTo>
                  <a:lnTo>
                    <a:pt x="274" y="310"/>
                  </a:lnTo>
                  <a:lnTo>
                    <a:pt x="0" y="468"/>
                  </a:lnTo>
                  <a:lnTo>
                    <a:pt x="0" y="159"/>
                  </a:lnTo>
                  <a:lnTo>
                    <a:pt x="274" y="0"/>
                  </a:lnTo>
                  <a:lnTo>
                    <a:pt x="274"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8000000" scaled="0"/>
              <a:tileRect/>
            </a:gradFill>
            <a:ln>
              <a:noFill/>
            </a:ln>
            <a:effectLst>
              <a:innerShdw blurRad="254000">
                <a:schemeClr val="accent1">
                  <a:lumMod val="60000"/>
                  <a:lumOff val="40000"/>
                  <a:alpha val="6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sp>
        <p:nvSpPr>
          <p:cNvPr id="11" name="Oval 10">
            <a:extLst>
              <a:ext uri="{FF2B5EF4-FFF2-40B4-BE49-F238E27FC236}">
                <a16:creationId xmlns:a16="http://schemas.microsoft.com/office/drawing/2014/main" id="{E597A3BE-0D13-9033-E3FD-78202DB799C8}"/>
              </a:ext>
              <a:ext uri="{C183D7F6-B498-43B3-948B-1728B52AA6E4}">
                <adec:decorative xmlns:adec="http://schemas.microsoft.com/office/drawing/2017/decorative" val="1"/>
              </a:ext>
            </a:extLst>
          </p:cNvPr>
          <p:cNvSpPr>
            <a:spLocks noChangeAspect="1"/>
          </p:cNvSpPr>
          <p:nvPr userDrawn="1"/>
        </p:nvSpPr>
        <p:spPr>
          <a:xfrm>
            <a:off x="10168304" y="385236"/>
            <a:ext cx="1080000" cy="1080000"/>
          </a:xfrm>
          <a:prstGeom prst="ellipse">
            <a:avLst/>
          </a:prstGeom>
          <a:gradFill flip="none" rotWithShape="1">
            <a:gsLst>
              <a:gs pos="100000">
                <a:schemeClr val="bg2">
                  <a:lumMod val="50000"/>
                  <a:lumOff val="50000"/>
                </a:schemeClr>
              </a:gs>
              <a:gs pos="60000">
                <a:schemeClr val="bg2">
                  <a:lumMod val="100000"/>
                </a:schemeClr>
              </a:gs>
            </a:gsLst>
            <a:path path="circle">
              <a:fillToRect l="100000" b="100000"/>
            </a:path>
            <a:tileRect t="-100000" r="-100000"/>
          </a:gradFill>
          <a:ln>
            <a:noFill/>
          </a:ln>
          <a:effectLst>
            <a:innerShdw blurRad="254000" dist="127000" dir="2700000">
              <a:schemeClr val="accent1">
                <a:lumMod val="60000"/>
                <a:lumOff val="40000"/>
                <a:alpha val="4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nvGrpSpPr>
          <p:cNvPr id="12" name="Group 11">
            <a:extLst>
              <a:ext uri="{FF2B5EF4-FFF2-40B4-BE49-F238E27FC236}">
                <a16:creationId xmlns:a16="http://schemas.microsoft.com/office/drawing/2014/main" id="{D8867D9A-3F3B-94C3-244B-0006226AEF73}"/>
              </a:ext>
              <a:ext uri="{C183D7F6-B498-43B3-948B-1728B52AA6E4}">
                <adec:decorative xmlns:adec="http://schemas.microsoft.com/office/drawing/2017/decorative" val="1"/>
              </a:ext>
            </a:extLst>
          </p:cNvPr>
          <p:cNvGrpSpPr/>
          <p:nvPr userDrawn="1"/>
        </p:nvGrpSpPr>
        <p:grpSpPr>
          <a:xfrm flipH="1">
            <a:off x="9063019" y="3199533"/>
            <a:ext cx="3597052" cy="2615018"/>
            <a:chOff x="4541453" y="3199533"/>
            <a:chExt cx="3597052" cy="2615018"/>
          </a:xfrm>
        </p:grpSpPr>
        <p:sp>
          <p:nvSpPr>
            <p:cNvPr id="13" name="Freeform: Shape 38">
              <a:extLst>
                <a:ext uri="{FF2B5EF4-FFF2-40B4-BE49-F238E27FC236}">
                  <a16:creationId xmlns:a16="http://schemas.microsoft.com/office/drawing/2014/main" id="{955FC3D1-6227-A188-CCDB-11D573FD807A}"/>
                </a:ext>
              </a:extLst>
            </p:cNvPr>
            <p:cNvSpPr>
              <a:spLocks noChangeAspect="1"/>
            </p:cNvSpPr>
            <p:nvPr/>
          </p:nvSpPr>
          <p:spPr>
            <a:xfrm rot="18900000" flipV="1">
              <a:off x="4602175" y="3958416"/>
              <a:ext cx="3536330" cy="1853969"/>
            </a:xfrm>
            <a:custGeom>
              <a:avLst/>
              <a:gdLst>
                <a:gd name="connsiteX0" fmla="*/ 3536330 w 3536330"/>
                <a:gd name="connsiteY0" fmla="*/ 1853969 h 1853969"/>
                <a:gd name="connsiteX1" fmla="*/ 1682362 w 3536330"/>
                <a:gd name="connsiteY1" fmla="*/ 0 h 1853969"/>
                <a:gd name="connsiteX2" fmla="*/ 52157 w 3536330"/>
                <a:gd name="connsiteY2" fmla="*/ 970257 h 1853969"/>
                <a:gd name="connsiteX3" fmla="*/ 0 w 3536330"/>
                <a:gd name="connsiteY3" fmla="*/ 1078528 h 1853969"/>
                <a:gd name="connsiteX4" fmla="*/ 757215 w 3536330"/>
                <a:gd name="connsiteY4" fmla="*/ 1835743 h 1853969"/>
                <a:gd name="connsiteX5" fmla="*/ 774211 w 3536330"/>
                <a:gd name="connsiteY5" fmla="*/ 1667149 h 1853969"/>
                <a:gd name="connsiteX6" fmla="*/ 1682362 w 3536330"/>
                <a:gd name="connsiteY6" fmla="*/ 926985 h 1853969"/>
                <a:gd name="connsiteX7" fmla="*/ 2609345 w 3536330"/>
                <a:gd name="connsiteY7" fmla="*/ 1853969 h 18539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36330" h="1853969">
                  <a:moveTo>
                    <a:pt x="3536330" y="1853969"/>
                  </a:moveTo>
                  <a:cubicBezTo>
                    <a:pt x="3536330" y="830051"/>
                    <a:pt x="2706280" y="0"/>
                    <a:pt x="1682362" y="0"/>
                  </a:cubicBezTo>
                  <a:cubicBezTo>
                    <a:pt x="978418" y="0"/>
                    <a:pt x="366107" y="392328"/>
                    <a:pt x="52157" y="970257"/>
                  </a:cubicBezTo>
                  <a:lnTo>
                    <a:pt x="0" y="1078528"/>
                  </a:lnTo>
                  <a:lnTo>
                    <a:pt x="757215" y="1835743"/>
                  </a:lnTo>
                  <a:lnTo>
                    <a:pt x="774211" y="1667149"/>
                  </a:lnTo>
                  <a:cubicBezTo>
                    <a:pt x="860649" y="1244739"/>
                    <a:pt x="1234397" y="926985"/>
                    <a:pt x="1682362" y="926985"/>
                  </a:cubicBezTo>
                  <a:cubicBezTo>
                    <a:pt x="2194320" y="926985"/>
                    <a:pt x="2609345" y="1342010"/>
                    <a:pt x="2609345" y="1853969"/>
                  </a:cubicBezTo>
                  <a:close/>
                </a:path>
              </a:pathLst>
            </a:custGeom>
            <a:gradFill flip="none" rotWithShape="1">
              <a:gsLst>
                <a:gs pos="97000">
                  <a:schemeClr val="bg2"/>
                </a:gs>
                <a:gs pos="31000">
                  <a:schemeClr val="bg2">
                    <a:lumMod val="90000"/>
                    <a:lumOff val="10000"/>
                  </a:schemeClr>
                </a:gs>
              </a:gsLst>
              <a:lin ang="15000000" scaled="0"/>
              <a:tileRect/>
            </a:gradFill>
            <a:ln>
              <a:noFill/>
            </a:ln>
            <a:effectLst>
              <a:innerShdw blurRad="355600" dist="101600" dir="16200000">
                <a:schemeClr val="accent1">
                  <a:lumMod val="60000"/>
                  <a:lumOff val="40000"/>
                  <a:alpha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14" name="Group 13">
              <a:extLst>
                <a:ext uri="{FF2B5EF4-FFF2-40B4-BE49-F238E27FC236}">
                  <a16:creationId xmlns:a16="http://schemas.microsoft.com/office/drawing/2014/main" id="{AE6BE70E-C41E-449D-A48C-4EB6BB7DC20D}"/>
                </a:ext>
              </a:extLst>
            </p:cNvPr>
            <p:cNvGrpSpPr/>
            <p:nvPr/>
          </p:nvGrpSpPr>
          <p:grpSpPr>
            <a:xfrm>
              <a:off x="4541453" y="3199533"/>
              <a:ext cx="3478701" cy="2615018"/>
              <a:chOff x="-481151" y="3199533"/>
              <a:chExt cx="3478701" cy="2615018"/>
            </a:xfrm>
          </p:grpSpPr>
          <p:sp>
            <p:nvSpPr>
              <p:cNvPr id="15" name="Freeform: Shape 32">
                <a:extLst>
                  <a:ext uri="{FF2B5EF4-FFF2-40B4-BE49-F238E27FC236}">
                    <a16:creationId xmlns:a16="http://schemas.microsoft.com/office/drawing/2014/main" id="{B7C0B12B-49BE-7855-18FB-8583C8DD9617}"/>
                  </a:ext>
                </a:extLst>
              </p:cNvPr>
              <p:cNvSpPr>
                <a:spLocks noChangeAspect="1"/>
              </p:cNvSpPr>
              <p:nvPr userDrawn="1"/>
            </p:nvSpPr>
            <p:spPr>
              <a:xfrm rot="18900000" flipV="1">
                <a:off x="-481151" y="3649708"/>
                <a:ext cx="3478701" cy="2164843"/>
              </a:xfrm>
              <a:custGeom>
                <a:avLst/>
                <a:gdLst>
                  <a:gd name="connsiteX0" fmla="*/ 3478701 w 3478701"/>
                  <a:gd name="connsiteY0" fmla="*/ 2164843 h 2164843"/>
                  <a:gd name="connsiteX1" fmla="*/ 1624733 w 3478701"/>
                  <a:gd name="connsiteY1" fmla="*/ 0 h 2164843"/>
                  <a:gd name="connsiteX2" fmla="*/ 87393 w 3478701"/>
                  <a:gd name="connsiteY2" fmla="*/ 954459 h 2164843"/>
                  <a:gd name="connsiteX3" fmla="*/ 0 w 3478701"/>
                  <a:gd name="connsiteY3" fmla="*/ 1122434 h 2164843"/>
                  <a:gd name="connsiteX4" fmla="*/ 736015 w 3478701"/>
                  <a:gd name="connsiteY4" fmla="*/ 1858449 h 2164843"/>
                  <a:gd name="connsiteX5" fmla="*/ 739424 w 3478701"/>
                  <a:gd name="connsiteY5" fmla="*/ 1842964 h 2164843"/>
                  <a:gd name="connsiteX6" fmla="*/ 1624733 w 3478701"/>
                  <a:gd name="connsiteY6" fmla="*/ 1082422 h 2164843"/>
                  <a:gd name="connsiteX7" fmla="*/ 2551716 w 3478701"/>
                  <a:gd name="connsiteY7" fmla="*/ 2164843 h 2164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78701" h="2164843">
                    <a:moveTo>
                      <a:pt x="3478701" y="2164843"/>
                    </a:moveTo>
                    <a:cubicBezTo>
                      <a:pt x="3478701" y="969234"/>
                      <a:pt x="2648651" y="0"/>
                      <a:pt x="1624733" y="0"/>
                    </a:cubicBezTo>
                    <a:cubicBezTo>
                      <a:pt x="984784" y="0"/>
                      <a:pt x="420564" y="378607"/>
                      <a:pt x="87393" y="954459"/>
                    </a:cubicBezTo>
                    <a:lnTo>
                      <a:pt x="0" y="1122434"/>
                    </a:lnTo>
                    <a:lnTo>
                      <a:pt x="736015" y="1858449"/>
                    </a:lnTo>
                    <a:lnTo>
                      <a:pt x="739424" y="1842964"/>
                    </a:lnTo>
                    <a:cubicBezTo>
                      <a:pt x="856791" y="1402344"/>
                      <a:pt x="1208766" y="1082422"/>
                      <a:pt x="1624733" y="1082422"/>
                    </a:cubicBezTo>
                    <a:cubicBezTo>
                      <a:pt x="2136692" y="1082422"/>
                      <a:pt x="2551716" y="1567038"/>
                      <a:pt x="2551716" y="2164843"/>
                    </a:cubicBezTo>
                    <a:close/>
                  </a:path>
                </a:pathLst>
              </a:custGeom>
              <a:solidFill>
                <a:schemeClr val="bg2">
                  <a:lumMod val="50000"/>
                  <a:lumOff val="50000"/>
                  <a:alpha val="40000"/>
                </a:schemeClr>
              </a:solidFill>
              <a:ln>
                <a:noFill/>
              </a:ln>
              <a:effectLst>
                <a:softEdge rad="38100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Oval 15">
                <a:extLst>
                  <a:ext uri="{FF2B5EF4-FFF2-40B4-BE49-F238E27FC236}">
                    <a16:creationId xmlns:a16="http://schemas.microsoft.com/office/drawing/2014/main" id="{67C78A37-D378-70D3-D6E3-AB9400EB583E}"/>
                  </a:ext>
                </a:extLst>
              </p:cNvPr>
              <p:cNvSpPr/>
              <p:nvPr userDrawn="1"/>
            </p:nvSpPr>
            <p:spPr>
              <a:xfrm rot="13500000" flipV="1">
                <a:off x="1512277" y="2840042"/>
                <a:ext cx="214196" cy="933178"/>
              </a:xfrm>
              <a:prstGeom prst="ellipse">
                <a:avLst/>
              </a:prstGeom>
              <a:solidFill>
                <a:schemeClr val="bg2">
                  <a:lumMod val="90000"/>
                  <a:lumOff val="10000"/>
                </a:schemeClr>
              </a:soli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grpSp>
      <p:grpSp>
        <p:nvGrpSpPr>
          <p:cNvPr id="17" name="Group 16">
            <a:extLst>
              <a:ext uri="{FF2B5EF4-FFF2-40B4-BE49-F238E27FC236}">
                <a16:creationId xmlns:a16="http://schemas.microsoft.com/office/drawing/2014/main" id="{02491172-466F-19CC-B639-A1C3CAB1D43A}"/>
              </a:ext>
              <a:ext uri="{C183D7F6-B498-43B3-948B-1728B52AA6E4}">
                <adec:decorative xmlns:adec="http://schemas.microsoft.com/office/drawing/2017/decorative" val="1"/>
              </a:ext>
            </a:extLst>
          </p:cNvPr>
          <p:cNvGrpSpPr/>
          <p:nvPr userDrawn="1"/>
        </p:nvGrpSpPr>
        <p:grpSpPr>
          <a:xfrm>
            <a:off x="5690545" y="4100655"/>
            <a:ext cx="1335600" cy="1262947"/>
            <a:chOff x="10145015" y="2343978"/>
            <a:chExt cx="1335600" cy="1262947"/>
          </a:xfrm>
        </p:grpSpPr>
        <p:sp>
          <p:nvSpPr>
            <p:cNvPr id="18" name="Freeform: Shape 25">
              <a:extLst>
                <a:ext uri="{FF2B5EF4-FFF2-40B4-BE49-F238E27FC236}">
                  <a16:creationId xmlns:a16="http://schemas.microsoft.com/office/drawing/2014/main" id="{45EC885D-265C-397B-5DAF-57A66CDA30B5}"/>
                </a:ext>
              </a:extLst>
            </p:cNvPr>
            <p:cNvSpPr>
              <a:spLocks noChangeAspect="1"/>
            </p:cNvSpPr>
            <p:nvPr/>
          </p:nvSpPr>
          <p:spPr>
            <a:xfrm rot="8100000">
              <a:off x="10400615" y="2343978"/>
              <a:ext cx="1080000" cy="1262947"/>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80000"/>
                    <a:lumOff val="20000"/>
                  </a:schemeClr>
                </a:gs>
                <a:gs pos="100000">
                  <a:schemeClr val="bg2"/>
                </a:gs>
              </a:gsLst>
              <a:lin ang="600000" scaled="0"/>
            </a:gradFill>
            <a:ln>
              <a:noFill/>
            </a:ln>
            <a:effectLst>
              <a:innerShdw blurRad="254000" dist="101600" dir="7320000">
                <a:schemeClr val="accent1">
                  <a:lumMod val="60000"/>
                  <a:lumOff val="4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9" name="Oval 18">
              <a:extLst>
                <a:ext uri="{FF2B5EF4-FFF2-40B4-BE49-F238E27FC236}">
                  <a16:creationId xmlns:a16="http://schemas.microsoft.com/office/drawing/2014/main" id="{3601DB21-D937-2F89-DC26-063DFC7800C8}"/>
                </a:ext>
              </a:extLst>
            </p:cNvPr>
            <p:cNvSpPr/>
            <p:nvPr/>
          </p:nvSpPr>
          <p:spPr>
            <a:xfrm rot="13500000">
              <a:off x="10415015" y="2179851"/>
              <a:ext cx="540000" cy="1080000"/>
            </a:xfrm>
            <a:prstGeom prst="ellipse">
              <a:avLst/>
            </a:prstGeom>
            <a:gradFill>
              <a:gsLst>
                <a:gs pos="100000">
                  <a:schemeClr val="accent1">
                    <a:lumMod val="60000"/>
                    <a:lumOff val="40000"/>
                    <a:alpha val="0"/>
                  </a:schemeClr>
                </a:gs>
                <a:gs pos="0">
                  <a:schemeClr val="bg2">
                    <a:lumMod val="75000"/>
                    <a:lumOff val="25000"/>
                    <a:alpha val="33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spTree>
    <p:extLst>
      <p:ext uri="{BB962C8B-B14F-4D97-AF65-F5344CB8AC3E}">
        <p14:creationId xmlns:p14="http://schemas.microsoft.com/office/powerpoint/2010/main" val="2257932161"/>
      </p:ext>
    </p:extLst>
  </p:cSld>
  <p:clrMapOvr>
    <a:masterClrMapping/>
  </p:clrMapOvr>
  <p:hf hdr="0" ftr="0"/>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Content + picture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a:xfrm>
            <a:off x="600974" y="196900"/>
            <a:ext cx="4899628" cy="2331490"/>
          </a:xfrm>
        </p:spPr>
        <p:txBody>
          <a:bodyPr anchor="b" anchorCtr="0">
            <a:noAutofit/>
          </a:bodyPr>
          <a:lstStyle>
            <a:lvl1pPr algn="r">
              <a:defRPr sz="4000"/>
            </a:lvl1pPr>
          </a:lstStyle>
          <a:p>
            <a:r>
              <a:rPr lang="en-US" dirty="0"/>
              <a:t>Click to add title</a:t>
            </a:r>
          </a:p>
        </p:txBody>
      </p:sp>
      <p:sp>
        <p:nvSpPr>
          <p:cNvPr id="3" name="Content Placeholder 2">
            <a:extLst>
              <a:ext uri="{FF2B5EF4-FFF2-40B4-BE49-F238E27FC236}">
                <a16:creationId xmlns:a16="http://schemas.microsoft.com/office/drawing/2014/main" id="{0C813049-5F46-053E-6279-8183259649A6}"/>
              </a:ext>
            </a:extLst>
          </p:cNvPr>
          <p:cNvSpPr>
            <a:spLocks noGrp="1"/>
          </p:cNvSpPr>
          <p:nvPr>
            <p:ph sz="half" idx="1" hasCustomPrompt="1"/>
          </p:nvPr>
        </p:nvSpPr>
        <p:spPr>
          <a:xfrm>
            <a:off x="583162" y="2827209"/>
            <a:ext cx="4917440" cy="3442144"/>
          </a:xfrm>
        </p:spPr>
        <p:txBody>
          <a:bodyPr>
            <a:normAutofit/>
          </a:bodyPr>
          <a:lstStyle>
            <a:lvl1pPr marL="0" indent="0" algn="r">
              <a:buNone/>
              <a:defRPr sz="1800">
                <a:solidFill>
                  <a:schemeClr val="tx1"/>
                </a:solidFill>
              </a:defRPr>
            </a:lvl1pPr>
            <a:lvl2pPr algn="r">
              <a:defRPr sz="1200">
                <a:solidFill>
                  <a:schemeClr val="tx1"/>
                </a:solidFill>
              </a:defRPr>
            </a:lvl2pPr>
            <a:lvl3pPr algn="r">
              <a:defRPr sz="1200">
                <a:solidFill>
                  <a:schemeClr val="tx1"/>
                </a:solidFill>
              </a:defRPr>
            </a:lvl3pPr>
            <a:lvl4pPr algn="r">
              <a:defRPr sz="1200">
                <a:solidFill>
                  <a:schemeClr val="tx1"/>
                </a:solidFill>
              </a:defRPr>
            </a:lvl4pPr>
            <a:lvl5pPr algn="r">
              <a:defRPr sz="1200">
                <a:solidFill>
                  <a:schemeClr val="tx1"/>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Picture Placeholder 7">
            <a:extLst>
              <a:ext uri="{FF2B5EF4-FFF2-40B4-BE49-F238E27FC236}">
                <a16:creationId xmlns:a16="http://schemas.microsoft.com/office/drawing/2014/main" id="{BC013AD6-0EF3-2B25-DDBD-2DF706123AEE}"/>
              </a:ext>
            </a:extLst>
          </p:cNvPr>
          <p:cNvSpPr>
            <a:spLocks noGrp="1"/>
          </p:cNvSpPr>
          <p:nvPr>
            <p:ph type="pic" sz="quarter" idx="13"/>
          </p:nvPr>
        </p:nvSpPr>
        <p:spPr>
          <a:xfrm>
            <a:off x="6095588" y="0"/>
            <a:ext cx="6095998" cy="6858000"/>
          </a:xfrm>
        </p:spPr>
        <p:txBody>
          <a:bodyPr>
            <a:normAutofit/>
          </a:bodyPr>
          <a:lstStyle>
            <a:lvl1pPr marL="0" indent="0" algn="ctr">
              <a:buNone/>
              <a:defRPr sz="2000">
                <a:solidFill>
                  <a:schemeClr val="tx1"/>
                </a:solidFill>
              </a:defRPr>
            </a:lvl1pPr>
          </a:lstStyle>
          <a:p>
            <a:r>
              <a:rPr lang="en-US" dirty="0"/>
              <a:t>Click icon to add picture</a:t>
            </a:r>
          </a:p>
        </p:txBody>
      </p:sp>
      <p:grpSp>
        <p:nvGrpSpPr>
          <p:cNvPr id="4" name="Group 3">
            <a:extLst>
              <a:ext uri="{FF2B5EF4-FFF2-40B4-BE49-F238E27FC236}">
                <a16:creationId xmlns:a16="http://schemas.microsoft.com/office/drawing/2014/main" id="{A904CD02-7C7D-28DD-85A8-2FD92C29D32A}"/>
              </a:ext>
              <a:ext uri="{C183D7F6-B498-43B3-948B-1728B52AA6E4}">
                <adec:decorative xmlns:adec="http://schemas.microsoft.com/office/drawing/2017/decorative" val="1"/>
              </a:ext>
            </a:extLst>
          </p:cNvPr>
          <p:cNvGrpSpPr/>
          <p:nvPr userDrawn="1"/>
        </p:nvGrpSpPr>
        <p:grpSpPr>
          <a:xfrm>
            <a:off x="4803321" y="682622"/>
            <a:ext cx="734257" cy="760506"/>
            <a:chOff x="5243759" y="1363788"/>
            <a:chExt cx="734257" cy="760506"/>
          </a:xfrm>
        </p:grpSpPr>
        <p:sp>
          <p:nvSpPr>
            <p:cNvPr id="9" name="Freeform 5">
              <a:extLst>
                <a:ext uri="{FF2B5EF4-FFF2-40B4-BE49-F238E27FC236}">
                  <a16:creationId xmlns:a16="http://schemas.microsoft.com/office/drawing/2014/main" id="{FB7341D0-DC30-9661-B3E0-91DE7C379468}"/>
                </a:ext>
              </a:extLst>
            </p:cNvPr>
            <p:cNvSpPr>
              <a:spLocks/>
            </p:cNvSpPr>
            <p:nvPr/>
          </p:nvSpPr>
          <p:spPr bwMode="auto">
            <a:xfrm rot="1800000">
              <a:off x="5356930" y="1363788"/>
              <a:ext cx="621086" cy="364601"/>
            </a:xfrm>
            <a:custGeom>
              <a:avLst/>
              <a:gdLst>
                <a:gd name="T0" fmla="*/ 266 w 540"/>
                <a:gd name="T1" fmla="*/ 0 h 317"/>
                <a:gd name="T2" fmla="*/ 0 w 540"/>
                <a:gd name="T3" fmla="*/ 158 h 317"/>
                <a:gd name="T4" fmla="*/ 266 w 540"/>
                <a:gd name="T5" fmla="*/ 317 h 317"/>
                <a:gd name="T6" fmla="*/ 540 w 540"/>
                <a:gd name="T7" fmla="*/ 158 h 317"/>
                <a:gd name="T8" fmla="*/ 266 w 540"/>
                <a:gd name="T9" fmla="*/ 0 h 317"/>
              </a:gdLst>
              <a:ahLst/>
              <a:cxnLst>
                <a:cxn ang="0">
                  <a:pos x="T0" y="T1"/>
                </a:cxn>
                <a:cxn ang="0">
                  <a:pos x="T2" y="T3"/>
                </a:cxn>
                <a:cxn ang="0">
                  <a:pos x="T4" y="T5"/>
                </a:cxn>
                <a:cxn ang="0">
                  <a:pos x="T6" y="T7"/>
                </a:cxn>
                <a:cxn ang="0">
                  <a:pos x="T8" y="T9"/>
                </a:cxn>
              </a:cxnLst>
              <a:rect l="0" t="0" r="r" b="b"/>
              <a:pathLst>
                <a:path w="540" h="317">
                  <a:moveTo>
                    <a:pt x="266" y="0"/>
                  </a:moveTo>
                  <a:lnTo>
                    <a:pt x="0" y="158"/>
                  </a:lnTo>
                  <a:lnTo>
                    <a:pt x="266" y="317"/>
                  </a:lnTo>
                  <a:lnTo>
                    <a:pt x="540" y="158"/>
                  </a:lnTo>
                  <a:lnTo>
                    <a:pt x="266"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0" name="Freeform 6">
              <a:extLst>
                <a:ext uri="{FF2B5EF4-FFF2-40B4-BE49-F238E27FC236}">
                  <a16:creationId xmlns:a16="http://schemas.microsoft.com/office/drawing/2014/main" id="{92A118B5-9F91-EA1B-3F95-6BFA5095544C}"/>
                </a:ext>
              </a:extLst>
            </p:cNvPr>
            <p:cNvSpPr>
              <a:spLocks/>
            </p:cNvSpPr>
            <p:nvPr/>
          </p:nvSpPr>
          <p:spPr bwMode="auto">
            <a:xfrm rot="1800000">
              <a:off x="5243759" y="1430747"/>
              <a:ext cx="305942" cy="538275"/>
            </a:xfrm>
            <a:custGeom>
              <a:avLst/>
              <a:gdLst>
                <a:gd name="T0" fmla="*/ 266 w 266"/>
                <a:gd name="T1" fmla="*/ 468 h 468"/>
                <a:gd name="T2" fmla="*/ 0 w 266"/>
                <a:gd name="T3" fmla="*/ 310 h 468"/>
                <a:gd name="T4" fmla="*/ 0 w 266"/>
                <a:gd name="T5" fmla="*/ 310 h 468"/>
                <a:gd name="T6" fmla="*/ 0 w 266"/>
                <a:gd name="T7" fmla="*/ 0 h 468"/>
                <a:gd name="T8" fmla="*/ 0 w 266"/>
                <a:gd name="T9" fmla="*/ 0 h 468"/>
                <a:gd name="T10" fmla="*/ 266 w 266"/>
                <a:gd name="T11" fmla="*/ 159 h 468"/>
                <a:gd name="T12" fmla="*/ 266 w 266"/>
                <a:gd name="T13" fmla="*/ 468 h 468"/>
              </a:gdLst>
              <a:ahLst/>
              <a:cxnLst>
                <a:cxn ang="0">
                  <a:pos x="T0" y="T1"/>
                </a:cxn>
                <a:cxn ang="0">
                  <a:pos x="T2" y="T3"/>
                </a:cxn>
                <a:cxn ang="0">
                  <a:pos x="T4" y="T5"/>
                </a:cxn>
                <a:cxn ang="0">
                  <a:pos x="T6" y="T7"/>
                </a:cxn>
                <a:cxn ang="0">
                  <a:pos x="T8" y="T9"/>
                </a:cxn>
                <a:cxn ang="0">
                  <a:pos x="T10" y="T11"/>
                </a:cxn>
                <a:cxn ang="0">
                  <a:pos x="T12" y="T13"/>
                </a:cxn>
              </a:cxnLst>
              <a:rect l="0" t="0" r="r" b="b"/>
              <a:pathLst>
                <a:path w="266" h="468">
                  <a:moveTo>
                    <a:pt x="266" y="468"/>
                  </a:moveTo>
                  <a:lnTo>
                    <a:pt x="0" y="310"/>
                  </a:lnTo>
                  <a:lnTo>
                    <a:pt x="0" y="310"/>
                  </a:lnTo>
                  <a:lnTo>
                    <a:pt x="0" y="0"/>
                  </a:lnTo>
                  <a:lnTo>
                    <a:pt x="0" y="0"/>
                  </a:lnTo>
                  <a:lnTo>
                    <a:pt x="266" y="159"/>
                  </a:lnTo>
                  <a:lnTo>
                    <a:pt x="266" y="468"/>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980000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1" name="Freeform 8">
              <a:extLst>
                <a:ext uri="{FF2B5EF4-FFF2-40B4-BE49-F238E27FC236}">
                  <a16:creationId xmlns:a16="http://schemas.microsoft.com/office/drawing/2014/main" id="{208891A5-91FA-D924-CB46-E74B50635001}"/>
                </a:ext>
              </a:extLst>
            </p:cNvPr>
            <p:cNvSpPr>
              <a:spLocks/>
            </p:cNvSpPr>
            <p:nvPr/>
          </p:nvSpPr>
          <p:spPr bwMode="auto">
            <a:xfrm rot="1800000">
              <a:off x="5508097" y="1586019"/>
              <a:ext cx="315144" cy="538275"/>
            </a:xfrm>
            <a:custGeom>
              <a:avLst/>
              <a:gdLst>
                <a:gd name="T0" fmla="*/ 274 w 274"/>
                <a:gd name="T1" fmla="*/ 0 h 468"/>
                <a:gd name="T2" fmla="*/ 274 w 274"/>
                <a:gd name="T3" fmla="*/ 310 h 468"/>
                <a:gd name="T4" fmla="*/ 274 w 274"/>
                <a:gd name="T5" fmla="*/ 310 h 468"/>
                <a:gd name="T6" fmla="*/ 0 w 274"/>
                <a:gd name="T7" fmla="*/ 468 h 468"/>
                <a:gd name="T8" fmla="*/ 0 w 274"/>
                <a:gd name="T9" fmla="*/ 159 h 468"/>
                <a:gd name="T10" fmla="*/ 274 w 274"/>
                <a:gd name="T11" fmla="*/ 0 h 468"/>
                <a:gd name="T12" fmla="*/ 274 w 274"/>
                <a:gd name="T13" fmla="*/ 0 h 468"/>
              </a:gdLst>
              <a:ahLst/>
              <a:cxnLst>
                <a:cxn ang="0">
                  <a:pos x="T0" y="T1"/>
                </a:cxn>
                <a:cxn ang="0">
                  <a:pos x="T2" y="T3"/>
                </a:cxn>
                <a:cxn ang="0">
                  <a:pos x="T4" y="T5"/>
                </a:cxn>
                <a:cxn ang="0">
                  <a:pos x="T6" y="T7"/>
                </a:cxn>
                <a:cxn ang="0">
                  <a:pos x="T8" y="T9"/>
                </a:cxn>
                <a:cxn ang="0">
                  <a:pos x="T10" y="T11"/>
                </a:cxn>
                <a:cxn ang="0">
                  <a:pos x="T12" y="T13"/>
                </a:cxn>
              </a:cxnLst>
              <a:rect l="0" t="0" r="r" b="b"/>
              <a:pathLst>
                <a:path w="274" h="468">
                  <a:moveTo>
                    <a:pt x="274" y="0"/>
                  </a:moveTo>
                  <a:lnTo>
                    <a:pt x="274" y="310"/>
                  </a:lnTo>
                  <a:lnTo>
                    <a:pt x="274" y="310"/>
                  </a:lnTo>
                  <a:lnTo>
                    <a:pt x="0" y="468"/>
                  </a:lnTo>
                  <a:lnTo>
                    <a:pt x="0" y="159"/>
                  </a:lnTo>
                  <a:lnTo>
                    <a:pt x="274" y="0"/>
                  </a:lnTo>
                  <a:lnTo>
                    <a:pt x="274"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8000000" scaled="0"/>
              <a:tileRect/>
            </a:gradFill>
            <a:ln>
              <a:noFill/>
            </a:ln>
            <a:effectLst>
              <a:innerShdw blurRad="254000">
                <a:schemeClr val="accent1">
                  <a:lumMod val="60000"/>
                  <a:lumOff val="40000"/>
                  <a:alpha val="6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sp>
        <p:nvSpPr>
          <p:cNvPr id="15" name="Oval 14">
            <a:extLst>
              <a:ext uri="{FF2B5EF4-FFF2-40B4-BE49-F238E27FC236}">
                <a16:creationId xmlns:a16="http://schemas.microsoft.com/office/drawing/2014/main" id="{BE5F7483-2261-D4C4-30E3-2D379D8CA06D}"/>
              </a:ext>
              <a:ext uri="{C183D7F6-B498-43B3-948B-1728B52AA6E4}">
                <adec:decorative xmlns:adec="http://schemas.microsoft.com/office/drawing/2017/decorative" val="1"/>
              </a:ext>
            </a:extLst>
          </p:cNvPr>
          <p:cNvSpPr>
            <a:spLocks noChangeAspect="1"/>
          </p:cNvSpPr>
          <p:nvPr userDrawn="1"/>
        </p:nvSpPr>
        <p:spPr>
          <a:xfrm>
            <a:off x="1189378" y="5232629"/>
            <a:ext cx="1080000" cy="1080000"/>
          </a:xfrm>
          <a:prstGeom prst="ellipse">
            <a:avLst/>
          </a:prstGeom>
          <a:gradFill flip="none" rotWithShape="1">
            <a:gsLst>
              <a:gs pos="100000">
                <a:schemeClr val="bg2">
                  <a:lumMod val="50000"/>
                  <a:lumOff val="50000"/>
                </a:schemeClr>
              </a:gs>
              <a:gs pos="60000">
                <a:schemeClr val="bg2">
                  <a:lumMod val="100000"/>
                </a:schemeClr>
              </a:gs>
            </a:gsLst>
            <a:path path="circle">
              <a:fillToRect l="100000" b="100000"/>
            </a:path>
            <a:tileRect t="-100000" r="-100000"/>
          </a:gradFill>
          <a:ln>
            <a:noFill/>
          </a:ln>
          <a:effectLst>
            <a:innerShdw blurRad="254000" dist="127000" dir="2700000">
              <a:schemeClr val="accent1">
                <a:lumMod val="60000"/>
                <a:lumOff val="40000"/>
                <a:alpha val="4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Tree>
    <p:extLst>
      <p:ext uri="{BB962C8B-B14F-4D97-AF65-F5344CB8AC3E}">
        <p14:creationId xmlns:p14="http://schemas.microsoft.com/office/powerpoint/2010/main" val="3053291612"/>
      </p:ext>
    </p:extLst>
  </p:cSld>
  <p:clrMapOvr>
    <a:masterClrMapping/>
  </p:clrMapOvr>
  <p:hf hdr="0" ftr="0"/>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22" name="Oval 21">
            <a:extLst>
              <a:ext uri="{FF2B5EF4-FFF2-40B4-BE49-F238E27FC236}">
                <a16:creationId xmlns:a16="http://schemas.microsoft.com/office/drawing/2014/main" id="{94729CA3-91C4-4A89-9448-A2F0E409177A}"/>
              </a:ext>
              <a:ext uri="{C183D7F6-B498-43B3-948B-1728B52AA6E4}">
                <adec:decorative xmlns:adec="http://schemas.microsoft.com/office/drawing/2017/decorative" val="1"/>
              </a:ext>
            </a:extLst>
          </p:cNvPr>
          <p:cNvSpPr>
            <a:spLocks noChangeAspect="1"/>
          </p:cNvSpPr>
          <p:nvPr/>
        </p:nvSpPr>
        <p:spPr>
          <a:xfrm>
            <a:off x="11069864" y="333375"/>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 name="Title 1">
            <a:extLst>
              <a:ext uri="{FF2B5EF4-FFF2-40B4-BE49-F238E27FC236}">
                <a16:creationId xmlns:a16="http://schemas.microsoft.com/office/drawing/2014/main" id="{8978E540-142B-4A82-9C3F-E61BC190AEED}"/>
              </a:ext>
            </a:extLst>
          </p:cNvPr>
          <p:cNvSpPr>
            <a:spLocks noGrp="1"/>
          </p:cNvSpPr>
          <p:nvPr>
            <p:ph type="title" hasCustomPrompt="1"/>
          </p:nvPr>
        </p:nvSpPr>
        <p:spPr>
          <a:xfrm>
            <a:off x="550863" y="488315"/>
            <a:ext cx="11090274" cy="1332000"/>
          </a:xfrm>
        </p:spPr>
        <p:txBody>
          <a:bodyPr>
            <a:normAutofit/>
          </a:bodyPr>
          <a:lstStyle>
            <a:lvl1pPr>
              <a:lnSpc>
                <a:spcPct val="100000"/>
              </a:lnSpc>
              <a:defRPr sz="4000"/>
            </a:lvl1pPr>
          </a:lstStyle>
          <a:p>
            <a:r>
              <a:rPr lang="en-US" dirty="0"/>
              <a:t>Click to add title</a:t>
            </a:r>
          </a:p>
        </p:txBody>
      </p:sp>
      <p:grpSp>
        <p:nvGrpSpPr>
          <p:cNvPr id="11" name="Group 10">
            <a:extLst>
              <a:ext uri="{FF2B5EF4-FFF2-40B4-BE49-F238E27FC236}">
                <a16:creationId xmlns:a16="http://schemas.microsoft.com/office/drawing/2014/main" id="{6EFC6ED4-22DD-0C3B-D15A-218307AB6DF2}"/>
              </a:ext>
              <a:ext uri="{C183D7F6-B498-43B3-948B-1728B52AA6E4}">
                <adec:decorative xmlns:adec="http://schemas.microsoft.com/office/drawing/2017/decorative" val="1"/>
              </a:ext>
            </a:extLst>
          </p:cNvPr>
          <p:cNvGrpSpPr/>
          <p:nvPr userDrawn="1"/>
        </p:nvGrpSpPr>
        <p:grpSpPr>
          <a:xfrm>
            <a:off x="10379261" y="2030035"/>
            <a:ext cx="1335600" cy="1262947"/>
            <a:chOff x="10145015" y="2343978"/>
            <a:chExt cx="1335600" cy="1262947"/>
          </a:xfrm>
        </p:grpSpPr>
        <p:sp>
          <p:nvSpPr>
            <p:cNvPr id="12" name="Freeform: Shape 25">
              <a:extLst>
                <a:ext uri="{FF2B5EF4-FFF2-40B4-BE49-F238E27FC236}">
                  <a16:creationId xmlns:a16="http://schemas.microsoft.com/office/drawing/2014/main" id="{E4CD0F67-4BE8-1120-FCAE-806F9E18DD58}"/>
                </a:ext>
              </a:extLst>
            </p:cNvPr>
            <p:cNvSpPr>
              <a:spLocks noChangeAspect="1"/>
            </p:cNvSpPr>
            <p:nvPr/>
          </p:nvSpPr>
          <p:spPr>
            <a:xfrm rot="8100000">
              <a:off x="10400615" y="2343978"/>
              <a:ext cx="1080000" cy="1262947"/>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80000"/>
                    <a:lumOff val="20000"/>
                  </a:schemeClr>
                </a:gs>
                <a:gs pos="100000">
                  <a:schemeClr val="bg2"/>
                </a:gs>
              </a:gsLst>
              <a:lin ang="600000" scaled="0"/>
            </a:gradFill>
            <a:ln>
              <a:noFill/>
            </a:ln>
            <a:effectLst>
              <a:innerShdw blurRad="254000" dist="101600" dir="7320000">
                <a:schemeClr val="accent1">
                  <a:lumMod val="60000"/>
                  <a:lumOff val="4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4" name="Oval 13">
              <a:extLst>
                <a:ext uri="{FF2B5EF4-FFF2-40B4-BE49-F238E27FC236}">
                  <a16:creationId xmlns:a16="http://schemas.microsoft.com/office/drawing/2014/main" id="{59B74B85-E3CB-E24E-54C6-AB161411D93A}"/>
                </a:ext>
              </a:extLst>
            </p:cNvPr>
            <p:cNvSpPr/>
            <p:nvPr/>
          </p:nvSpPr>
          <p:spPr>
            <a:xfrm rot="13500000">
              <a:off x="10415015" y="2179851"/>
              <a:ext cx="540000" cy="1080000"/>
            </a:xfrm>
            <a:prstGeom prst="ellipse">
              <a:avLst/>
            </a:prstGeom>
            <a:gradFill>
              <a:gsLst>
                <a:gs pos="100000">
                  <a:schemeClr val="accent1">
                    <a:lumMod val="60000"/>
                    <a:lumOff val="40000"/>
                    <a:alpha val="0"/>
                  </a:schemeClr>
                </a:gs>
                <a:gs pos="0">
                  <a:schemeClr val="bg2">
                    <a:lumMod val="75000"/>
                    <a:lumOff val="25000"/>
                    <a:alpha val="33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sp>
        <p:nvSpPr>
          <p:cNvPr id="15" name="Freeform: Shape 21">
            <a:extLst>
              <a:ext uri="{FF2B5EF4-FFF2-40B4-BE49-F238E27FC236}">
                <a16:creationId xmlns:a16="http://schemas.microsoft.com/office/drawing/2014/main" id="{5781DEED-6608-D622-CA5E-C91FD8645ED6}"/>
              </a:ext>
              <a:ext uri="{C183D7F6-B498-43B3-948B-1728B52AA6E4}">
                <adec:decorative xmlns:adec="http://schemas.microsoft.com/office/drawing/2017/decorative" val="1"/>
              </a:ext>
            </a:extLst>
          </p:cNvPr>
          <p:cNvSpPr>
            <a:spLocks noChangeAspect="1"/>
          </p:cNvSpPr>
          <p:nvPr userDrawn="1"/>
        </p:nvSpPr>
        <p:spPr>
          <a:xfrm>
            <a:off x="4295775" y="0"/>
            <a:ext cx="360000" cy="274638"/>
          </a:xfrm>
          <a:custGeom>
            <a:avLst/>
            <a:gdLst>
              <a:gd name="connsiteX0" fmla="*/ 30714 w 360000"/>
              <a:gd name="connsiteY0" fmla="*/ 0 h 274638"/>
              <a:gd name="connsiteX1" fmla="*/ 329286 w 360000"/>
              <a:gd name="connsiteY1" fmla="*/ 0 h 274638"/>
              <a:gd name="connsiteX2" fmla="*/ 345855 w 360000"/>
              <a:gd name="connsiteY2" fmla="*/ 24574 h 274638"/>
              <a:gd name="connsiteX3" fmla="*/ 360000 w 360000"/>
              <a:gd name="connsiteY3" fmla="*/ 94638 h 274638"/>
              <a:gd name="connsiteX4" fmla="*/ 180000 w 360000"/>
              <a:gd name="connsiteY4" fmla="*/ 274638 h 274638"/>
              <a:gd name="connsiteX5" fmla="*/ 0 w 360000"/>
              <a:gd name="connsiteY5" fmla="*/ 94638 h 274638"/>
              <a:gd name="connsiteX6" fmla="*/ 14145 w 360000"/>
              <a:gd name="connsiteY6" fmla="*/ 24574 h 274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0000" h="274638">
                <a:moveTo>
                  <a:pt x="30714" y="0"/>
                </a:moveTo>
                <a:lnTo>
                  <a:pt x="329286" y="0"/>
                </a:lnTo>
                <a:lnTo>
                  <a:pt x="345855" y="24574"/>
                </a:lnTo>
                <a:cubicBezTo>
                  <a:pt x="354963" y="46109"/>
                  <a:pt x="360000" y="69785"/>
                  <a:pt x="360000" y="94638"/>
                </a:cubicBezTo>
                <a:cubicBezTo>
                  <a:pt x="360000" y="194049"/>
                  <a:pt x="279411" y="274638"/>
                  <a:pt x="180000" y="274638"/>
                </a:cubicBezTo>
                <a:cubicBezTo>
                  <a:pt x="80589" y="274638"/>
                  <a:pt x="0" y="194049"/>
                  <a:pt x="0" y="94638"/>
                </a:cubicBezTo>
                <a:cubicBezTo>
                  <a:pt x="0" y="69785"/>
                  <a:pt x="5037" y="46109"/>
                  <a:pt x="14145" y="24574"/>
                </a:cubicBezTo>
                <a:close/>
              </a:path>
            </a:pathLst>
          </a:cu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nvGrpSpPr>
          <p:cNvPr id="13" name="Group 12">
            <a:extLst>
              <a:ext uri="{FF2B5EF4-FFF2-40B4-BE49-F238E27FC236}">
                <a16:creationId xmlns:a16="http://schemas.microsoft.com/office/drawing/2014/main" id="{168347B7-45FA-4A01-924D-DC385B720B3E}"/>
              </a:ext>
              <a:ext uri="{C183D7F6-B498-43B3-948B-1728B52AA6E4}">
                <adec:decorative xmlns:adec="http://schemas.microsoft.com/office/drawing/2017/decorative" val="1"/>
              </a:ext>
            </a:extLst>
          </p:cNvPr>
          <p:cNvGrpSpPr/>
          <p:nvPr/>
        </p:nvGrpSpPr>
        <p:grpSpPr>
          <a:xfrm>
            <a:off x="331786" y="5528198"/>
            <a:ext cx="631474" cy="667800"/>
            <a:chOff x="2994153" y="1378666"/>
            <a:chExt cx="631474" cy="667800"/>
          </a:xfrm>
        </p:grpSpPr>
        <p:sp>
          <p:nvSpPr>
            <p:cNvPr id="20" name="Freeform: Shape 19">
              <a:extLst>
                <a:ext uri="{FF2B5EF4-FFF2-40B4-BE49-F238E27FC236}">
                  <a16:creationId xmlns:a16="http://schemas.microsoft.com/office/drawing/2014/main" id="{31167DA1-25D1-4E60-A62E-42B6F56A96EC}"/>
                </a:ext>
              </a:extLst>
            </p:cNvPr>
            <p:cNvSpPr>
              <a:spLocks noChangeAspect="1"/>
            </p:cNvSpPr>
            <p:nvPr/>
          </p:nvSpPr>
          <p:spPr>
            <a:xfrm rot="2700000">
              <a:off x="3039890" y="1332929"/>
              <a:ext cx="540000" cy="631474"/>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75000"/>
                    <a:lumOff val="25000"/>
                  </a:schemeClr>
                </a:gs>
                <a:gs pos="100000">
                  <a:schemeClr val="bg2"/>
                </a:gs>
              </a:gsLst>
              <a:lin ang="600000" scaled="0"/>
            </a:gradFill>
            <a:ln>
              <a:noFill/>
            </a:ln>
            <a:effectLst>
              <a:innerShdw blurRad="254000" dist="101600" dir="2700000">
                <a:schemeClr val="accent1">
                  <a:lumMod val="60000"/>
                  <a:lumOff val="4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1" name="Oval 20">
              <a:extLst>
                <a:ext uri="{FF2B5EF4-FFF2-40B4-BE49-F238E27FC236}">
                  <a16:creationId xmlns:a16="http://schemas.microsoft.com/office/drawing/2014/main" id="{6B7B7215-A661-477E-91D0-CDBE5564D2B9}"/>
                </a:ext>
              </a:extLst>
            </p:cNvPr>
            <p:cNvSpPr/>
            <p:nvPr/>
          </p:nvSpPr>
          <p:spPr>
            <a:xfrm rot="8100000">
              <a:off x="3047090" y="1506466"/>
              <a:ext cx="270000" cy="540000"/>
            </a:xfrm>
            <a:prstGeom prst="ellipse">
              <a:avLst/>
            </a:prstGeom>
            <a:gradFill>
              <a:gsLst>
                <a:gs pos="100000">
                  <a:schemeClr val="bg2">
                    <a:lumMod val="90000"/>
                    <a:lumOff val="10000"/>
                  </a:schemeClr>
                </a:gs>
                <a:gs pos="50000">
                  <a:schemeClr val="bg2">
                    <a:lumMod val="95000"/>
                    <a:lumOff val="5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sp>
        <p:nvSpPr>
          <p:cNvPr id="3" name="Content Placeholder 2">
            <a:extLst>
              <a:ext uri="{FF2B5EF4-FFF2-40B4-BE49-F238E27FC236}">
                <a16:creationId xmlns:a16="http://schemas.microsoft.com/office/drawing/2014/main" id="{02C6BF36-D4F5-4363-B440-BDAE50BBD4B6}"/>
              </a:ext>
            </a:extLst>
          </p:cNvPr>
          <p:cNvSpPr>
            <a:spLocks noGrp="1"/>
          </p:cNvSpPr>
          <p:nvPr>
            <p:ph sz="half" idx="1" hasCustomPrompt="1"/>
          </p:nvPr>
        </p:nvSpPr>
        <p:spPr>
          <a:xfrm>
            <a:off x="550862" y="1965095"/>
            <a:ext cx="5435600" cy="3995650"/>
          </a:xfrm>
        </p:spPr>
        <p:txBody>
          <a:bodyPr>
            <a:normAutofit/>
          </a:bodyPr>
          <a:lstStyle>
            <a:lvl1pPr marL="0" indent="0">
              <a:buNone/>
              <a:defRPr sz="1800">
                <a:solidFill>
                  <a:schemeClr val="tx1"/>
                </a:solidFill>
              </a:defRPr>
            </a:lvl1pPr>
            <a:lvl2pPr>
              <a:defRPr sz="1800">
                <a:solidFill>
                  <a:schemeClr val="tx1"/>
                </a:solidFill>
              </a:defRPr>
            </a:lvl2pPr>
            <a:lvl3pPr>
              <a:defRPr sz="1800">
                <a:solidFill>
                  <a:schemeClr val="tx1"/>
                </a:solidFill>
              </a:defRPr>
            </a:lvl3pPr>
            <a:lvl4pPr>
              <a:defRPr sz="1800">
                <a:solidFill>
                  <a:schemeClr val="tx1"/>
                </a:solidFill>
              </a:defRPr>
            </a:lvl4pPr>
            <a:lvl5pPr>
              <a:defRPr sz="1800">
                <a:solidFill>
                  <a:schemeClr val="tx1"/>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2">
            <a:extLst>
              <a:ext uri="{FF2B5EF4-FFF2-40B4-BE49-F238E27FC236}">
                <a16:creationId xmlns:a16="http://schemas.microsoft.com/office/drawing/2014/main" id="{C4B946DE-F802-2F36-2789-09D7F8604081}"/>
              </a:ext>
            </a:extLst>
          </p:cNvPr>
          <p:cNvSpPr>
            <a:spLocks noGrp="1"/>
          </p:cNvSpPr>
          <p:nvPr>
            <p:ph sz="half" idx="13" hasCustomPrompt="1"/>
          </p:nvPr>
        </p:nvSpPr>
        <p:spPr>
          <a:xfrm>
            <a:off x="6301305" y="1965095"/>
            <a:ext cx="5339397" cy="3995650"/>
          </a:xfrm>
        </p:spPr>
        <p:txBody>
          <a:bodyPr>
            <a:normAutofit/>
          </a:bodyPr>
          <a:lstStyle>
            <a:lvl1pPr marL="0" indent="0">
              <a:buNone/>
              <a:defRPr sz="1800">
                <a:solidFill>
                  <a:schemeClr val="tx1"/>
                </a:solidFill>
              </a:defRPr>
            </a:lvl1pPr>
            <a:lvl2pPr>
              <a:defRPr sz="1800">
                <a:solidFill>
                  <a:schemeClr val="tx1"/>
                </a:solidFill>
              </a:defRPr>
            </a:lvl2pPr>
            <a:lvl3pPr>
              <a:defRPr sz="1800">
                <a:solidFill>
                  <a:schemeClr val="tx1"/>
                </a:solidFill>
              </a:defRPr>
            </a:lvl3pPr>
            <a:lvl4pPr>
              <a:defRPr sz="1800">
                <a:solidFill>
                  <a:schemeClr val="tx1"/>
                </a:solidFill>
              </a:defRPr>
            </a:lvl4pPr>
            <a:lvl5pPr>
              <a:defRPr sz="1800">
                <a:solidFill>
                  <a:schemeClr val="tx1"/>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BB99A8AF-0998-4613-B1D8-C14ECBFFDF67}"/>
              </a:ext>
            </a:extLst>
          </p:cNvPr>
          <p:cNvSpPr>
            <a:spLocks noGrp="1"/>
          </p:cNvSpPr>
          <p:nvPr>
            <p:ph type="dt" sz="half" idx="10"/>
          </p:nvPr>
        </p:nvSpPr>
        <p:spPr/>
        <p:txBody>
          <a:bodyPr/>
          <a:lstStyle/>
          <a:p>
            <a:r>
              <a:rPr lang="en-US"/>
              <a:t>20XX</a:t>
            </a:r>
            <a:endParaRPr lang="en-US" dirty="0"/>
          </a:p>
        </p:txBody>
      </p:sp>
      <p:sp>
        <p:nvSpPr>
          <p:cNvPr id="6" name="Footer Placeholder 5">
            <a:extLst>
              <a:ext uri="{FF2B5EF4-FFF2-40B4-BE49-F238E27FC236}">
                <a16:creationId xmlns:a16="http://schemas.microsoft.com/office/drawing/2014/main" id="{66E44EAA-B8A9-4428-A9DF-1174DA940990}"/>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19E5C381-C899-4BF9-B584-2D78074D1CB2}"/>
              </a:ext>
            </a:extLst>
          </p:cNvPr>
          <p:cNvSpPr>
            <a:spLocks noGrp="1"/>
          </p:cNvSpPr>
          <p:nvPr>
            <p:ph type="sldNum" sz="quarter" idx="12"/>
          </p:nvPr>
        </p:nvSpPr>
        <p:spPr/>
        <p:txBody>
          <a:bodyPr/>
          <a:lstStyle/>
          <a:p>
            <a:fld id="{DBA1B0FB-D917-4C8C-928F-313BD683BF39}" type="slidenum">
              <a:rPr lang="en-US" smtClean="0"/>
              <a:t>‹#›</a:t>
            </a:fld>
            <a:endParaRPr lang="en-US" dirty="0"/>
          </a:p>
        </p:txBody>
      </p:sp>
    </p:spTree>
    <p:extLst>
      <p:ext uri="{BB962C8B-B14F-4D97-AF65-F5344CB8AC3E}">
        <p14:creationId xmlns:p14="http://schemas.microsoft.com/office/powerpoint/2010/main" val="1839429832"/>
      </p:ext>
    </p:extLst>
  </p:cSld>
  <p:clrMapOvr>
    <a:masterClrMapping/>
  </p:clrMapOvr>
  <p:hf hdr="0" ftr="0"/>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Title and Content 1">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C87E98C0-6053-9701-92D0-4EF9ADBC500C}"/>
              </a:ext>
              <a:ext uri="{C183D7F6-B498-43B3-948B-1728B52AA6E4}">
                <adec:decorative xmlns:adec="http://schemas.microsoft.com/office/drawing/2017/decorative" val="1"/>
              </a:ext>
            </a:extLst>
          </p:cNvPr>
          <p:cNvGrpSpPr/>
          <p:nvPr userDrawn="1"/>
        </p:nvGrpSpPr>
        <p:grpSpPr>
          <a:xfrm flipH="1" flipV="1">
            <a:off x="9063019" y="746716"/>
            <a:ext cx="3597052" cy="2615018"/>
            <a:chOff x="4541453" y="3199533"/>
            <a:chExt cx="3597052" cy="2615018"/>
          </a:xfrm>
        </p:grpSpPr>
        <p:sp>
          <p:nvSpPr>
            <p:cNvPr id="8" name="Freeform: Shape 38">
              <a:extLst>
                <a:ext uri="{FF2B5EF4-FFF2-40B4-BE49-F238E27FC236}">
                  <a16:creationId xmlns:a16="http://schemas.microsoft.com/office/drawing/2014/main" id="{C32B1A1D-760B-9D3D-A869-E50FC962A629}"/>
                </a:ext>
              </a:extLst>
            </p:cNvPr>
            <p:cNvSpPr>
              <a:spLocks noChangeAspect="1"/>
            </p:cNvSpPr>
            <p:nvPr/>
          </p:nvSpPr>
          <p:spPr>
            <a:xfrm rot="18900000" flipV="1">
              <a:off x="4602175" y="3958416"/>
              <a:ext cx="3536330" cy="1853969"/>
            </a:xfrm>
            <a:custGeom>
              <a:avLst/>
              <a:gdLst>
                <a:gd name="connsiteX0" fmla="*/ 3536330 w 3536330"/>
                <a:gd name="connsiteY0" fmla="*/ 1853969 h 1853969"/>
                <a:gd name="connsiteX1" fmla="*/ 1682362 w 3536330"/>
                <a:gd name="connsiteY1" fmla="*/ 0 h 1853969"/>
                <a:gd name="connsiteX2" fmla="*/ 52157 w 3536330"/>
                <a:gd name="connsiteY2" fmla="*/ 970257 h 1853969"/>
                <a:gd name="connsiteX3" fmla="*/ 0 w 3536330"/>
                <a:gd name="connsiteY3" fmla="*/ 1078528 h 1853969"/>
                <a:gd name="connsiteX4" fmla="*/ 757215 w 3536330"/>
                <a:gd name="connsiteY4" fmla="*/ 1835743 h 1853969"/>
                <a:gd name="connsiteX5" fmla="*/ 774211 w 3536330"/>
                <a:gd name="connsiteY5" fmla="*/ 1667149 h 1853969"/>
                <a:gd name="connsiteX6" fmla="*/ 1682362 w 3536330"/>
                <a:gd name="connsiteY6" fmla="*/ 926985 h 1853969"/>
                <a:gd name="connsiteX7" fmla="*/ 2609345 w 3536330"/>
                <a:gd name="connsiteY7" fmla="*/ 1853969 h 18539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36330" h="1853969">
                  <a:moveTo>
                    <a:pt x="3536330" y="1853969"/>
                  </a:moveTo>
                  <a:cubicBezTo>
                    <a:pt x="3536330" y="830051"/>
                    <a:pt x="2706280" y="0"/>
                    <a:pt x="1682362" y="0"/>
                  </a:cubicBezTo>
                  <a:cubicBezTo>
                    <a:pt x="978418" y="0"/>
                    <a:pt x="366107" y="392328"/>
                    <a:pt x="52157" y="970257"/>
                  </a:cubicBezTo>
                  <a:lnTo>
                    <a:pt x="0" y="1078528"/>
                  </a:lnTo>
                  <a:lnTo>
                    <a:pt x="757215" y="1835743"/>
                  </a:lnTo>
                  <a:lnTo>
                    <a:pt x="774211" y="1667149"/>
                  </a:lnTo>
                  <a:cubicBezTo>
                    <a:pt x="860649" y="1244739"/>
                    <a:pt x="1234397" y="926985"/>
                    <a:pt x="1682362" y="926985"/>
                  </a:cubicBezTo>
                  <a:cubicBezTo>
                    <a:pt x="2194320" y="926985"/>
                    <a:pt x="2609345" y="1342010"/>
                    <a:pt x="2609345" y="1853969"/>
                  </a:cubicBezTo>
                  <a:close/>
                </a:path>
              </a:pathLst>
            </a:custGeom>
            <a:gradFill flip="none" rotWithShape="1">
              <a:gsLst>
                <a:gs pos="97000">
                  <a:schemeClr val="bg2"/>
                </a:gs>
                <a:gs pos="31000">
                  <a:schemeClr val="bg2">
                    <a:lumMod val="90000"/>
                    <a:lumOff val="10000"/>
                  </a:schemeClr>
                </a:gs>
              </a:gsLst>
              <a:lin ang="15000000" scaled="0"/>
              <a:tileRect/>
            </a:gradFill>
            <a:ln>
              <a:noFill/>
            </a:ln>
            <a:effectLst>
              <a:innerShdw blurRad="355600" dist="101600" dir="16200000">
                <a:schemeClr val="accent1">
                  <a:lumMod val="60000"/>
                  <a:lumOff val="40000"/>
                  <a:alpha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9" name="Group 8">
              <a:extLst>
                <a:ext uri="{FF2B5EF4-FFF2-40B4-BE49-F238E27FC236}">
                  <a16:creationId xmlns:a16="http://schemas.microsoft.com/office/drawing/2014/main" id="{D02EF78B-5BDF-8632-B9B1-087DB042EEC7}"/>
                </a:ext>
              </a:extLst>
            </p:cNvPr>
            <p:cNvGrpSpPr/>
            <p:nvPr/>
          </p:nvGrpSpPr>
          <p:grpSpPr>
            <a:xfrm>
              <a:off x="4541453" y="3199533"/>
              <a:ext cx="3478701" cy="2615018"/>
              <a:chOff x="-481151" y="3199533"/>
              <a:chExt cx="3478701" cy="2615018"/>
            </a:xfrm>
          </p:grpSpPr>
          <p:sp>
            <p:nvSpPr>
              <p:cNvPr id="10" name="Freeform: Shape 32">
                <a:extLst>
                  <a:ext uri="{FF2B5EF4-FFF2-40B4-BE49-F238E27FC236}">
                    <a16:creationId xmlns:a16="http://schemas.microsoft.com/office/drawing/2014/main" id="{5C54B3E8-515B-0865-9321-DB3793A62240}"/>
                  </a:ext>
                </a:extLst>
              </p:cNvPr>
              <p:cNvSpPr>
                <a:spLocks noChangeAspect="1"/>
              </p:cNvSpPr>
              <p:nvPr userDrawn="1"/>
            </p:nvSpPr>
            <p:spPr>
              <a:xfrm rot="18900000" flipV="1">
                <a:off x="-481151" y="3649708"/>
                <a:ext cx="3478701" cy="2164843"/>
              </a:xfrm>
              <a:custGeom>
                <a:avLst/>
                <a:gdLst>
                  <a:gd name="connsiteX0" fmla="*/ 3478701 w 3478701"/>
                  <a:gd name="connsiteY0" fmla="*/ 2164843 h 2164843"/>
                  <a:gd name="connsiteX1" fmla="*/ 1624733 w 3478701"/>
                  <a:gd name="connsiteY1" fmla="*/ 0 h 2164843"/>
                  <a:gd name="connsiteX2" fmla="*/ 87393 w 3478701"/>
                  <a:gd name="connsiteY2" fmla="*/ 954459 h 2164843"/>
                  <a:gd name="connsiteX3" fmla="*/ 0 w 3478701"/>
                  <a:gd name="connsiteY3" fmla="*/ 1122434 h 2164843"/>
                  <a:gd name="connsiteX4" fmla="*/ 736015 w 3478701"/>
                  <a:gd name="connsiteY4" fmla="*/ 1858449 h 2164843"/>
                  <a:gd name="connsiteX5" fmla="*/ 739424 w 3478701"/>
                  <a:gd name="connsiteY5" fmla="*/ 1842964 h 2164843"/>
                  <a:gd name="connsiteX6" fmla="*/ 1624733 w 3478701"/>
                  <a:gd name="connsiteY6" fmla="*/ 1082422 h 2164843"/>
                  <a:gd name="connsiteX7" fmla="*/ 2551716 w 3478701"/>
                  <a:gd name="connsiteY7" fmla="*/ 2164843 h 2164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78701" h="2164843">
                    <a:moveTo>
                      <a:pt x="3478701" y="2164843"/>
                    </a:moveTo>
                    <a:cubicBezTo>
                      <a:pt x="3478701" y="969234"/>
                      <a:pt x="2648651" y="0"/>
                      <a:pt x="1624733" y="0"/>
                    </a:cubicBezTo>
                    <a:cubicBezTo>
                      <a:pt x="984784" y="0"/>
                      <a:pt x="420564" y="378607"/>
                      <a:pt x="87393" y="954459"/>
                    </a:cubicBezTo>
                    <a:lnTo>
                      <a:pt x="0" y="1122434"/>
                    </a:lnTo>
                    <a:lnTo>
                      <a:pt x="736015" y="1858449"/>
                    </a:lnTo>
                    <a:lnTo>
                      <a:pt x="739424" y="1842964"/>
                    </a:lnTo>
                    <a:cubicBezTo>
                      <a:pt x="856791" y="1402344"/>
                      <a:pt x="1208766" y="1082422"/>
                      <a:pt x="1624733" y="1082422"/>
                    </a:cubicBezTo>
                    <a:cubicBezTo>
                      <a:pt x="2136692" y="1082422"/>
                      <a:pt x="2551716" y="1567038"/>
                      <a:pt x="2551716" y="2164843"/>
                    </a:cubicBezTo>
                    <a:close/>
                  </a:path>
                </a:pathLst>
              </a:custGeom>
              <a:solidFill>
                <a:schemeClr val="bg2">
                  <a:lumMod val="50000"/>
                  <a:lumOff val="50000"/>
                  <a:alpha val="40000"/>
                </a:schemeClr>
              </a:solidFill>
              <a:ln>
                <a:noFill/>
              </a:ln>
              <a:effectLst>
                <a:softEdge rad="38100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1" name="Oval 10">
                <a:extLst>
                  <a:ext uri="{FF2B5EF4-FFF2-40B4-BE49-F238E27FC236}">
                    <a16:creationId xmlns:a16="http://schemas.microsoft.com/office/drawing/2014/main" id="{56E92718-2CCD-B15D-8DE5-46285BEA256B}"/>
                  </a:ext>
                </a:extLst>
              </p:cNvPr>
              <p:cNvSpPr/>
              <p:nvPr userDrawn="1"/>
            </p:nvSpPr>
            <p:spPr>
              <a:xfrm rot="13500000" flipV="1">
                <a:off x="1512277" y="2840042"/>
                <a:ext cx="214196" cy="933178"/>
              </a:xfrm>
              <a:prstGeom prst="ellipse">
                <a:avLst/>
              </a:prstGeom>
              <a:solidFill>
                <a:schemeClr val="bg2">
                  <a:lumMod val="90000"/>
                  <a:lumOff val="10000"/>
                </a:schemeClr>
              </a:soli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grpSp>
      <p:grpSp>
        <p:nvGrpSpPr>
          <p:cNvPr id="19" name="Group 18">
            <a:extLst>
              <a:ext uri="{FF2B5EF4-FFF2-40B4-BE49-F238E27FC236}">
                <a16:creationId xmlns:a16="http://schemas.microsoft.com/office/drawing/2014/main" id="{AEA0B78B-84F0-8B85-40E8-678689DC13E6}"/>
              </a:ext>
              <a:ext uri="{C183D7F6-B498-43B3-948B-1728B52AA6E4}">
                <adec:decorative xmlns:adec="http://schemas.microsoft.com/office/drawing/2017/decorative" val="1"/>
              </a:ext>
            </a:extLst>
          </p:cNvPr>
          <p:cNvGrpSpPr/>
          <p:nvPr userDrawn="1"/>
        </p:nvGrpSpPr>
        <p:grpSpPr>
          <a:xfrm>
            <a:off x="8723112" y="5088958"/>
            <a:ext cx="1335600" cy="1262947"/>
            <a:chOff x="10145015" y="2343978"/>
            <a:chExt cx="1335600" cy="1262947"/>
          </a:xfrm>
        </p:grpSpPr>
        <p:sp>
          <p:nvSpPr>
            <p:cNvPr id="20" name="Freeform: Shape 25">
              <a:extLst>
                <a:ext uri="{FF2B5EF4-FFF2-40B4-BE49-F238E27FC236}">
                  <a16:creationId xmlns:a16="http://schemas.microsoft.com/office/drawing/2014/main" id="{2E5D7C6F-BF77-9B7D-5B12-7AF3ED280B43}"/>
                </a:ext>
              </a:extLst>
            </p:cNvPr>
            <p:cNvSpPr>
              <a:spLocks noChangeAspect="1"/>
            </p:cNvSpPr>
            <p:nvPr/>
          </p:nvSpPr>
          <p:spPr>
            <a:xfrm rot="8100000">
              <a:off x="10400615" y="2343978"/>
              <a:ext cx="1080000" cy="1262947"/>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80000"/>
                    <a:lumOff val="20000"/>
                  </a:schemeClr>
                </a:gs>
                <a:gs pos="100000">
                  <a:schemeClr val="bg2"/>
                </a:gs>
              </a:gsLst>
              <a:lin ang="600000" scaled="0"/>
            </a:gradFill>
            <a:ln>
              <a:noFill/>
            </a:ln>
            <a:effectLst>
              <a:innerShdw blurRad="254000" dist="101600" dir="7320000">
                <a:schemeClr val="accent1">
                  <a:lumMod val="60000"/>
                  <a:lumOff val="4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1" name="Oval 20">
              <a:extLst>
                <a:ext uri="{FF2B5EF4-FFF2-40B4-BE49-F238E27FC236}">
                  <a16:creationId xmlns:a16="http://schemas.microsoft.com/office/drawing/2014/main" id="{FA599EE6-2673-0AD8-EAE0-45C79326015E}"/>
                </a:ext>
              </a:extLst>
            </p:cNvPr>
            <p:cNvSpPr/>
            <p:nvPr/>
          </p:nvSpPr>
          <p:spPr>
            <a:xfrm rot="13500000">
              <a:off x="10415015" y="2179851"/>
              <a:ext cx="540000" cy="1080000"/>
            </a:xfrm>
            <a:prstGeom prst="ellipse">
              <a:avLst/>
            </a:prstGeom>
            <a:gradFill>
              <a:gsLst>
                <a:gs pos="100000">
                  <a:schemeClr val="accent1">
                    <a:lumMod val="60000"/>
                    <a:lumOff val="40000"/>
                    <a:alpha val="0"/>
                  </a:schemeClr>
                </a:gs>
                <a:gs pos="0">
                  <a:schemeClr val="bg2">
                    <a:lumMod val="75000"/>
                    <a:lumOff val="25000"/>
                    <a:alpha val="33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grpSp>
        <p:nvGrpSpPr>
          <p:cNvPr id="12" name="Group 11">
            <a:extLst>
              <a:ext uri="{FF2B5EF4-FFF2-40B4-BE49-F238E27FC236}">
                <a16:creationId xmlns:a16="http://schemas.microsoft.com/office/drawing/2014/main" id="{3BDBC526-6DCD-4FF6-8395-D8C22E46E527}"/>
              </a:ext>
              <a:ext uri="{C183D7F6-B498-43B3-948B-1728B52AA6E4}">
                <adec:decorative xmlns:adec="http://schemas.microsoft.com/office/drawing/2017/decorative" val="1"/>
              </a:ext>
            </a:extLst>
          </p:cNvPr>
          <p:cNvGrpSpPr/>
          <p:nvPr/>
        </p:nvGrpSpPr>
        <p:grpSpPr>
          <a:xfrm>
            <a:off x="613998" y="5334748"/>
            <a:ext cx="678135" cy="990000"/>
            <a:chOff x="10490969" y="1448827"/>
            <a:chExt cx="678135" cy="990000"/>
          </a:xfrm>
        </p:grpSpPr>
        <p:sp>
          <p:nvSpPr>
            <p:cNvPr id="13" name="Freeform: Shape 12">
              <a:extLst>
                <a:ext uri="{FF2B5EF4-FFF2-40B4-BE49-F238E27FC236}">
                  <a16:creationId xmlns:a16="http://schemas.microsoft.com/office/drawing/2014/main" id="{02ECB475-568C-47AC-B16D-2E202DEB2DE0}"/>
                </a:ext>
              </a:extLst>
            </p:cNvPr>
            <p:cNvSpPr>
              <a:spLocks noChangeAspect="1"/>
            </p:cNvSpPr>
            <p:nvPr/>
          </p:nvSpPr>
          <p:spPr>
            <a:xfrm rot="2700000" flipH="1" flipV="1">
              <a:off x="10268976" y="1743588"/>
              <a:ext cx="926985" cy="463493"/>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solidFill>
            <a:ln>
              <a:noFill/>
            </a:ln>
            <a:effectLst>
              <a:innerShdw blurRad="127000" dist="50800" dir="13500000">
                <a:schemeClr val="accent1">
                  <a:lumMod val="40000"/>
                  <a:lumOff val="6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4" name="Oval 13">
              <a:extLst>
                <a:ext uri="{FF2B5EF4-FFF2-40B4-BE49-F238E27FC236}">
                  <a16:creationId xmlns:a16="http://schemas.microsoft.com/office/drawing/2014/main" id="{080D8764-525A-441E-B58F-068E82F09714}"/>
                </a:ext>
              </a:extLst>
            </p:cNvPr>
            <p:cNvSpPr/>
            <p:nvPr/>
          </p:nvSpPr>
          <p:spPr>
            <a:xfrm rot="8100000" flipH="1" flipV="1">
              <a:off x="11115555" y="1939340"/>
              <a:ext cx="53549" cy="233295"/>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5" name="Oval 14">
              <a:extLst>
                <a:ext uri="{FF2B5EF4-FFF2-40B4-BE49-F238E27FC236}">
                  <a16:creationId xmlns:a16="http://schemas.microsoft.com/office/drawing/2014/main" id="{11196109-6F2B-4738-B2FC-2CCC753AABD4}"/>
                </a:ext>
              </a:extLst>
            </p:cNvPr>
            <p:cNvSpPr/>
            <p:nvPr/>
          </p:nvSpPr>
          <p:spPr>
            <a:xfrm rot="8100000" flipH="1" flipV="1">
              <a:off x="10625042" y="1448827"/>
              <a:ext cx="53549" cy="233295"/>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6" name="Freeform: Shape 15">
              <a:extLst>
                <a:ext uri="{FF2B5EF4-FFF2-40B4-BE49-F238E27FC236}">
                  <a16:creationId xmlns:a16="http://schemas.microsoft.com/office/drawing/2014/main" id="{F7E468C2-69B8-470B-85E3-801A3CB1D7E2}"/>
                </a:ext>
              </a:extLst>
            </p:cNvPr>
            <p:cNvSpPr>
              <a:spLocks noChangeAspect="1"/>
            </p:cNvSpPr>
            <p:nvPr/>
          </p:nvSpPr>
          <p:spPr>
            <a:xfrm rot="2700000" flipH="1" flipV="1">
              <a:off x="10292519" y="1686748"/>
              <a:ext cx="926985" cy="530086"/>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lumMod val="50000"/>
                <a:lumOff val="50000"/>
                <a:alpha val="20000"/>
              </a:schemeClr>
            </a:solidFill>
            <a:ln>
              <a:noFill/>
            </a:ln>
            <a:effectLst>
              <a:softEdge rad="1016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sp>
        <p:nvSpPr>
          <p:cNvPr id="2" name="Title 1">
            <a:extLst>
              <a:ext uri="{FF2B5EF4-FFF2-40B4-BE49-F238E27FC236}">
                <a16:creationId xmlns:a16="http://schemas.microsoft.com/office/drawing/2014/main" id="{B1A4B040-51E3-4DA0-B21D-EEE173E7536F}"/>
              </a:ext>
            </a:extLst>
          </p:cNvPr>
          <p:cNvSpPr>
            <a:spLocks noGrp="1"/>
          </p:cNvSpPr>
          <p:nvPr>
            <p:ph type="title" hasCustomPrompt="1"/>
          </p:nvPr>
        </p:nvSpPr>
        <p:spPr>
          <a:xfrm>
            <a:off x="550862" y="498474"/>
            <a:ext cx="7960421" cy="1450217"/>
          </a:xfrm>
        </p:spPr>
        <p:txBody>
          <a:bodyPr vert="horz" wrap="square" lIns="0" tIns="0" rIns="0" bIns="0" rtlCol="0" anchor="t" anchorCtr="0">
            <a:normAutofit/>
          </a:bodyPr>
          <a:lstStyle>
            <a:lvl1pPr>
              <a:defRPr lang="en-US" sz="4000" dirty="0"/>
            </a:lvl1pPr>
          </a:lstStyle>
          <a:p>
            <a:pPr lvl="0">
              <a:lnSpc>
                <a:spcPct val="100000"/>
              </a:lnSpc>
            </a:pPr>
            <a:r>
              <a:rPr lang="en-US" dirty="0"/>
              <a:t>Click to add title</a:t>
            </a:r>
          </a:p>
        </p:txBody>
      </p:sp>
      <p:sp>
        <p:nvSpPr>
          <p:cNvPr id="3" name="Content Placeholder 2">
            <a:extLst>
              <a:ext uri="{FF2B5EF4-FFF2-40B4-BE49-F238E27FC236}">
                <a16:creationId xmlns:a16="http://schemas.microsoft.com/office/drawing/2014/main" id="{F8A2CD90-429B-4A55-B6C8-DD6CE6994118}"/>
              </a:ext>
            </a:extLst>
          </p:cNvPr>
          <p:cNvSpPr>
            <a:spLocks noGrp="1"/>
          </p:cNvSpPr>
          <p:nvPr>
            <p:ph idx="1" hasCustomPrompt="1"/>
          </p:nvPr>
        </p:nvSpPr>
        <p:spPr>
          <a:xfrm>
            <a:off x="581343" y="2103039"/>
            <a:ext cx="7929940" cy="3979625"/>
          </a:xfrm>
        </p:spPr>
        <p:txBody>
          <a:bodyPr>
            <a:normAutofit/>
          </a:bodyPr>
          <a:lstStyle>
            <a:lvl1pPr>
              <a:defRPr sz="1800">
                <a:solidFill>
                  <a:schemeClr val="tx1"/>
                </a:solidFill>
              </a:defRPr>
            </a:lvl1pPr>
            <a:lvl2pPr>
              <a:defRPr sz="1200">
                <a:solidFill>
                  <a:schemeClr val="tx1"/>
                </a:solidFill>
              </a:defRPr>
            </a:lvl2pPr>
            <a:lvl3pPr>
              <a:defRPr sz="1200">
                <a:solidFill>
                  <a:schemeClr val="tx1"/>
                </a:solidFill>
              </a:defRPr>
            </a:lvl3pPr>
            <a:lvl4pPr>
              <a:defRPr sz="1200">
                <a:solidFill>
                  <a:schemeClr val="tx1"/>
                </a:solidFill>
              </a:defRPr>
            </a:lvl4pPr>
            <a:lvl5pPr>
              <a:defRPr sz="1200">
                <a:solidFill>
                  <a:schemeClr val="tx1"/>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4D4EE704-5DCA-484E-85E0-0E3A7B1C5046}"/>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4CA69B66-1C18-44A2-93F7-97DED26F24AB}"/>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E44B5A0-66FA-433A-8DC5-C097C63B4DFC}"/>
              </a:ext>
            </a:extLst>
          </p:cNvPr>
          <p:cNvSpPr>
            <a:spLocks noGrp="1"/>
          </p:cNvSpPr>
          <p:nvPr>
            <p:ph type="sldNum" sz="quarter" idx="12"/>
          </p:nvPr>
        </p:nvSpPr>
        <p:spPr/>
        <p:txBody>
          <a:bodyPr/>
          <a:lstStyle/>
          <a:p>
            <a:fld id="{DBA1B0FB-D917-4C8C-928F-313BD683BF39}" type="slidenum">
              <a:rPr lang="en-US" smtClean="0"/>
              <a:t>‹#›</a:t>
            </a:fld>
            <a:endParaRPr lang="en-US" dirty="0"/>
          </a:p>
        </p:txBody>
      </p:sp>
    </p:spTree>
    <p:extLst>
      <p:ext uri="{BB962C8B-B14F-4D97-AF65-F5344CB8AC3E}">
        <p14:creationId xmlns:p14="http://schemas.microsoft.com/office/powerpoint/2010/main" val="3288427192"/>
      </p:ext>
    </p:extLst>
  </p:cSld>
  <p:clrMapOvr>
    <a:masterClrMapping/>
  </p:clrMapOvr>
  <p:hf hdr="0" ftr="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Title + subtitle">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096D26C0-4AFC-33CC-99BE-317E9A844352}"/>
              </a:ext>
            </a:extLst>
          </p:cNvPr>
          <p:cNvSpPr>
            <a:spLocks noGrp="1"/>
          </p:cNvSpPr>
          <p:nvPr>
            <p:ph type="pic" sz="quarter" idx="13" hasCustomPrompt="1"/>
          </p:nvPr>
        </p:nvSpPr>
        <p:spPr>
          <a:xfrm>
            <a:off x="0" y="0"/>
            <a:ext cx="12192000" cy="6858000"/>
          </a:xfrm>
        </p:spPr>
        <p:txBody>
          <a:bodyPr/>
          <a:lstStyle>
            <a:lvl1pPr marL="0" indent="0" algn="ctr">
              <a:buNone/>
              <a:defRPr sz="2000"/>
            </a:lvl1pPr>
          </a:lstStyle>
          <a:p>
            <a:r>
              <a:rPr lang="en-US" dirty="0"/>
              <a:t>Click icon to insert picture</a:t>
            </a:r>
          </a:p>
        </p:txBody>
      </p:sp>
      <p:sp>
        <p:nvSpPr>
          <p:cNvPr id="2" name="Title 1">
            <a:extLst>
              <a:ext uri="{FF2B5EF4-FFF2-40B4-BE49-F238E27FC236}">
                <a16:creationId xmlns:a16="http://schemas.microsoft.com/office/drawing/2014/main" id="{32772C41-A024-2F33-1F04-21E003FA7291}"/>
              </a:ext>
            </a:extLst>
          </p:cNvPr>
          <p:cNvSpPr>
            <a:spLocks noGrp="1"/>
          </p:cNvSpPr>
          <p:nvPr>
            <p:ph type="ctrTitle" hasCustomPrompt="1"/>
          </p:nvPr>
        </p:nvSpPr>
        <p:spPr>
          <a:xfrm>
            <a:off x="1524000" y="1376680"/>
            <a:ext cx="9144000" cy="2286000"/>
          </a:xfrm>
        </p:spPr>
        <p:txBody>
          <a:bodyPr anchor="b">
            <a:noAutofit/>
          </a:bodyPr>
          <a:lstStyle>
            <a:lvl1pPr algn="ctr">
              <a:defRPr sz="5400"/>
            </a:lvl1pPr>
          </a:lstStyle>
          <a:p>
            <a:r>
              <a:rPr lang="en-US" dirty="0"/>
              <a:t>Click to add title</a:t>
            </a:r>
          </a:p>
        </p:txBody>
      </p:sp>
      <p:sp>
        <p:nvSpPr>
          <p:cNvPr id="3" name="Subtitle 2">
            <a:extLst>
              <a:ext uri="{FF2B5EF4-FFF2-40B4-BE49-F238E27FC236}">
                <a16:creationId xmlns:a16="http://schemas.microsoft.com/office/drawing/2014/main" id="{473BC2DF-9C2A-052C-AD2C-0A8ABAA50374}"/>
              </a:ext>
            </a:extLst>
          </p:cNvPr>
          <p:cNvSpPr>
            <a:spLocks noGrp="1"/>
          </p:cNvSpPr>
          <p:nvPr>
            <p:ph type="subTitle" idx="1" hasCustomPrompt="1"/>
          </p:nvPr>
        </p:nvSpPr>
        <p:spPr>
          <a:xfrm>
            <a:off x="1524000" y="3799840"/>
            <a:ext cx="9144000" cy="2286000"/>
          </a:xfrm>
        </p:spPr>
        <p:txBody>
          <a:bodyPr>
            <a:noAutofit/>
          </a:bodyPr>
          <a:lstStyle>
            <a:lvl1pPr marL="0" indent="0" algn="ctr">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4" name="Date Placeholder 3">
            <a:extLst>
              <a:ext uri="{FF2B5EF4-FFF2-40B4-BE49-F238E27FC236}">
                <a16:creationId xmlns:a16="http://schemas.microsoft.com/office/drawing/2014/main" id="{C0070940-5919-2C95-2278-32E50BF14DD1}"/>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1957D599-49CF-19FE-6D86-C5EDB765F41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28931DF1-1C8D-86B9-BFDD-098FFC00FDC2}"/>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3389494334"/>
      </p:ext>
    </p:extLst>
  </p:cSld>
  <p:clrMapOvr>
    <a:masterClrMapping/>
  </p:clrMapOvr>
  <p:hf hdr="0" ftr="0"/>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Two Content 1">
    <p:spTree>
      <p:nvGrpSpPr>
        <p:cNvPr id="1" name=""/>
        <p:cNvGrpSpPr/>
        <p:nvPr/>
      </p:nvGrpSpPr>
      <p:grpSpPr>
        <a:xfrm>
          <a:off x="0" y="0"/>
          <a:ext cx="0" cy="0"/>
          <a:chOff x="0" y="0"/>
          <a:chExt cx="0" cy="0"/>
        </a:xfrm>
      </p:grpSpPr>
      <p:sp>
        <p:nvSpPr>
          <p:cNvPr id="22" name="Oval 21">
            <a:extLst>
              <a:ext uri="{FF2B5EF4-FFF2-40B4-BE49-F238E27FC236}">
                <a16:creationId xmlns:a16="http://schemas.microsoft.com/office/drawing/2014/main" id="{94729CA3-91C4-4A89-9448-A2F0E409177A}"/>
              </a:ext>
              <a:ext uri="{C183D7F6-B498-43B3-948B-1728B52AA6E4}">
                <adec:decorative xmlns:adec="http://schemas.microsoft.com/office/drawing/2017/decorative" val="1"/>
              </a:ext>
            </a:extLst>
          </p:cNvPr>
          <p:cNvSpPr>
            <a:spLocks noChangeAspect="1"/>
          </p:cNvSpPr>
          <p:nvPr/>
        </p:nvSpPr>
        <p:spPr>
          <a:xfrm>
            <a:off x="11069864" y="333375"/>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nvGrpSpPr>
          <p:cNvPr id="13" name="Group 12">
            <a:extLst>
              <a:ext uri="{FF2B5EF4-FFF2-40B4-BE49-F238E27FC236}">
                <a16:creationId xmlns:a16="http://schemas.microsoft.com/office/drawing/2014/main" id="{168347B7-45FA-4A01-924D-DC385B720B3E}"/>
              </a:ext>
              <a:ext uri="{C183D7F6-B498-43B3-948B-1728B52AA6E4}">
                <adec:decorative xmlns:adec="http://schemas.microsoft.com/office/drawing/2017/decorative" val="1"/>
              </a:ext>
            </a:extLst>
          </p:cNvPr>
          <p:cNvGrpSpPr/>
          <p:nvPr/>
        </p:nvGrpSpPr>
        <p:grpSpPr>
          <a:xfrm>
            <a:off x="331786" y="5528198"/>
            <a:ext cx="631474" cy="667800"/>
            <a:chOff x="2994153" y="1378666"/>
            <a:chExt cx="631474" cy="667800"/>
          </a:xfrm>
        </p:grpSpPr>
        <p:sp>
          <p:nvSpPr>
            <p:cNvPr id="20" name="Freeform: Shape 19">
              <a:extLst>
                <a:ext uri="{FF2B5EF4-FFF2-40B4-BE49-F238E27FC236}">
                  <a16:creationId xmlns:a16="http://schemas.microsoft.com/office/drawing/2014/main" id="{31167DA1-25D1-4E60-A62E-42B6F56A96EC}"/>
                </a:ext>
              </a:extLst>
            </p:cNvPr>
            <p:cNvSpPr>
              <a:spLocks noChangeAspect="1"/>
            </p:cNvSpPr>
            <p:nvPr/>
          </p:nvSpPr>
          <p:spPr>
            <a:xfrm rot="2700000">
              <a:off x="3039890" y="1332929"/>
              <a:ext cx="540000" cy="631474"/>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75000"/>
                    <a:lumOff val="25000"/>
                  </a:schemeClr>
                </a:gs>
                <a:gs pos="100000">
                  <a:schemeClr val="bg2"/>
                </a:gs>
              </a:gsLst>
              <a:lin ang="600000" scaled="0"/>
            </a:gradFill>
            <a:ln>
              <a:noFill/>
            </a:ln>
            <a:effectLst>
              <a:innerShdw blurRad="254000" dist="101600" dir="2700000">
                <a:schemeClr val="accent1">
                  <a:lumMod val="60000"/>
                  <a:lumOff val="4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1" name="Oval 20">
              <a:extLst>
                <a:ext uri="{FF2B5EF4-FFF2-40B4-BE49-F238E27FC236}">
                  <a16:creationId xmlns:a16="http://schemas.microsoft.com/office/drawing/2014/main" id="{6B7B7215-A661-477E-91D0-CDBE5564D2B9}"/>
                </a:ext>
              </a:extLst>
            </p:cNvPr>
            <p:cNvSpPr/>
            <p:nvPr/>
          </p:nvSpPr>
          <p:spPr>
            <a:xfrm rot="8100000">
              <a:off x="3047090" y="1506466"/>
              <a:ext cx="270000" cy="540000"/>
            </a:xfrm>
            <a:prstGeom prst="ellipse">
              <a:avLst/>
            </a:prstGeom>
            <a:gradFill>
              <a:gsLst>
                <a:gs pos="100000">
                  <a:schemeClr val="bg2">
                    <a:lumMod val="90000"/>
                    <a:lumOff val="10000"/>
                  </a:schemeClr>
                </a:gs>
                <a:gs pos="50000">
                  <a:schemeClr val="bg2">
                    <a:lumMod val="95000"/>
                    <a:lumOff val="5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sp>
        <p:nvSpPr>
          <p:cNvPr id="2" name="Title 1">
            <a:extLst>
              <a:ext uri="{FF2B5EF4-FFF2-40B4-BE49-F238E27FC236}">
                <a16:creationId xmlns:a16="http://schemas.microsoft.com/office/drawing/2014/main" id="{8978E540-142B-4A82-9C3F-E61BC190AEED}"/>
              </a:ext>
            </a:extLst>
          </p:cNvPr>
          <p:cNvSpPr>
            <a:spLocks noGrp="1"/>
          </p:cNvSpPr>
          <p:nvPr>
            <p:ph type="title" hasCustomPrompt="1"/>
          </p:nvPr>
        </p:nvSpPr>
        <p:spPr>
          <a:xfrm>
            <a:off x="550863" y="508635"/>
            <a:ext cx="11090274" cy="1332000"/>
          </a:xfrm>
        </p:spPr>
        <p:txBody>
          <a:bodyPr>
            <a:normAutofit/>
          </a:bodyPr>
          <a:lstStyle>
            <a:lvl1pPr>
              <a:lnSpc>
                <a:spcPct val="100000"/>
              </a:lnSpc>
              <a:defRPr sz="4000"/>
            </a:lvl1pPr>
          </a:lstStyle>
          <a:p>
            <a:r>
              <a:rPr lang="en-US" dirty="0"/>
              <a:t>Click to add title</a:t>
            </a:r>
          </a:p>
        </p:txBody>
      </p:sp>
      <p:sp>
        <p:nvSpPr>
          <p:cNvPr id="3" name="Content Placeholder 2">
            <a:extLst>
              <a:ext uri="{FF2B5EF4-FFF2-40B4-BE49-F238E27FC236}">
                <a16:creationId xmlns:a16="http://schemas.microsoft.com/office/drawing/2014/main" id="{02C6BF36-D4F5-4363-B440-BDAE50BBD4B6}"/>
              </a:ext>
            </a:extLst>
          </p:cNvPr>
          <p:cNvSpPr>
            <a:spLocks noGrp="1"/>
          </p:cNvSpPr>
          <p:nvPr>
            <p:ph sz="half" idx="1" hasCustomPrompt="1"/>
          </p:nvPr>
        </p:nvSpPr>
        <p:spPr>
          <a:xfrm>
            <a:off x="550862" y="2097175"/>
            <a:ext cx="5435600" cy="3995650"/>
          </a:xfrm>
        </p:spPr>
        <p:txBody>
          <a:bodyPr>
            <a:normAutofit/>
          </a:bodyPr>
          <a:lstStyle>
            <a:lvl1pPr marL="0" indent="0">
              <a:spcBef>
                <a:spcPts val="1000"/>
              </a:spcBef>
              <a:buNone/>
              <a:defRPr sz="1800">
                <a:solidFill>
                  <a:schemeClr val="tx1"/>
                </a:solidFill>
              </a:defRPr>
            </a:lvl1pPr>
            <a:lvl2pPr marL="228600">
              <a:spcBef>
                <a:spcPts val="1000"/>
              </a:spcBef>
              <a:defRPr sz="1800">
                <a:solidFill>
                  <a:schemeClr val="tx1"/>
                </a:solidFill>
              </a:defRPr>
            </a:lvl2pPr>
            <a:lvl3pPr marL="411480" indent="-228600">
              <a:spcBef>
                <a:spcPts val="1000"/>
              </a:spcBef>
              <a:defRPr sz="1800">
                <a:solidFill>
                  <a:schemeClr val="tx1"/>
                </a:solidFill>
              </a:defRPr>
            </a:lvl3pPr>
            <a:lvl4pPr marL="594360">
              <a:spcBef>
                <a:spcPts val="1000"/>
              </a:spcBef>
              <a:defRPr sz="1800">
                <a:solidFill>
                  <a:schemeClr val="tx1"/>
                </a:solidFill>
              </a:defRPr>
            </a:lvl4pPr>
            <a:lvl5pPr marL="777240">
              <a:spcBef>
                <a:spcPts val="1000"/>
              </a:spcBef>
              <a:defRPr sz="1800">
                <a:solidFill>
                  <a:schemeClr val="tx1"/>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2">
            <a:extLst>
              <a:ext uri="{FF2B5EF4-FFF2-40B4-BE49-F238E27FC236}">
                <a16:creationId xmlns:a16="http://schemas.microsoft.com/office/drawing/2014/main" id="{6B65629D-0977-C0EA-5E0B-C4822F43DAEE}"/>
              </a:ext>
            </a:extLst>
          </p:cNvPr>
          <p:cNvSpPr>
            <a:spLocks noGrp="1"/>
          </p:cNvSpPr>
          <p:nvPr>
            <p:ph sz="half" idx="13" hasCustomPrompt="1"/>
          </p:nvPr>
        </p:nvSpPr>
        <p:spPr>
          <a:xfrm>
            <a:off x="6205540" y="2097175"/>
            <a:ext cx="5435600" cy="3995650"/>
          </a:xfrm>
        </p:spPr>
        <p:txBody>
          <a:bodyPr>
            <a:normAutofit/>
          </a:bodyPr>
          <a:lstStyle>
            <a:lvl1pPr marL="0" indent="0">
              <a:spcBef>
                <a:spcPts val="1000"/>
              </a:spcBef>
              <a:buNone/>
              <a:defRPr sz="1800">
                <a:solidFill>
                  <a:schemeClr val="tx1"/>
                </a:solidFill>
              </a:defRPr>
            </a:lvl1pPr>
            <a:lvl2pPr marL="228600">
              <a:spcBef>
                <a:spcPts val="1000"/>
              </a:spcBef>
              <a:defRPr sz="1800">
                <a:solidFill>
                  <a:schemeClr val="tx1"/>
                </a:solidFill>
              </a:defRPr>
            </a:lvl2pPr>
            <a:lvl3pPr marL="411480" indent="-228600">
              <a:spcBef>
                <a:spcPts val="1000"/>
              </a:spcBef>
              <a:defRPr sz="1800">
                <a:solidFill>
                  <a:schemeClr val="tx1"/>
                </a:solidFill>
              </a:defRPr>
            </a:lvl3pPr>
            <a:lvl4pPr marL="594360">
              <a:spcBef>
                <a:spcPts val="1000"/>
              </a:spcBef>
              <a:defRPr sz="1800">
                <a:solidFill>
                  <a:schemeClr val="tx1"/>
                </a:solidFill>
              </a:defRPr>
            </a:lvl4pPr>
            <a:lvl5pPr marL="777240">
              <a:spcBef>
                <a:spcPts val="1000"/>
              </a:spcBef>
              <a:defRPr sz="1800">
                <a:solidFill>
                  <a:schemeClr val="tx1"/>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BB99A8AF-0998-4613-B1D8-C14ECBFFDF67}"/>
              </a:ext>
            </a:extLst>
          </p:cNvPr>
          <p:cNvSpPr>
            <a:spLocks noGrp="1"/>
          </p:cNvSpPr>
          <p:nvPr>
            <p:ph type="dt" sz="half" idx="10"/>
          </p:nvPr>
        </p:nvSpPr>
        <p:spPr/>
        <p:txBody>
          <a:bodyPr/>
          <a:lstStyle/>
          <a:p>
            <a:r>
              <a:rPr lang="en-US"/>
              <a:t>20XX</a:t>
            </a:r>
            <a:endParaRPr lang="en-US" dirty="0"/>
          </a:p>
        </p:txBody>
      </p:sp>
      <p:sp>
        <p:nvSpPr>
          <p:cNvPr id="6" name="Footer Placeholder 5">
            <a:extLst>
              <a:ext uri="{FF2B5EF4-FFF2-40B4-BE49-F238E27FC236}">
                <a16:creationId xmlns:a16="http://schemas.microsoft.com/office/drawing/2014/main" id="{66E44EAA-B8A9-4428-A9DF-1174DA940990}"/>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19E5C381-C899-4BF9-B584-2D78074D1CB2}"/>
              </a:ext>
            </a:extLst>
          </p:cNvPr>
          <p:cNvSpPr>
            <a:spLocks noGrp="1"/>
          </p:cNvSpPr>
          <p:nvPr>
            <p:ph type="sldNum" sz="quarter" idx="12"/>
          </p:nvPr>
        </p:nvSpPr>
        <p:spPr/>
        <p:txBody>
          <a:bodyPr/>
          <a:lstStyle/>
          <a:p>
            <a:fld id="{DBA1B0FB-D917-4C8C-928F-313BD683BF39}" type="slidenum">
              <a:rPr lang="en-US" smtClean="0"/>
              <a:t>‹#›</a:t>
            </a:fld>
            <a:endParaRPr lang="en-US" dirty="0"/>
          </a:p>
        </p:txBody>
      </p:sp>
    </p:spTree>
    <p:extLst>
      <p:ext uri="{BB962C8B-B14F-4D97-AF65-F5344CB8AC3E}">
        <p14:creationId xmlns:p14="http://schemas.microsoft.com/office/powerpoint/2010/main" val="482477502"/>
      </p:ext>
    </p:extLst>
  </p:cSld>
  <p:clrMapOvr>
    <a:masterClrMapping/>
  </p:clrMapOvr>
  <p:hf hdr="0" ftr="0"/>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Content + 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a:xfrm>
            <a:off x="550863" y="550801"/>
            <a:ext cx="11090275" cy="1237360"/>
          </a:xfrm>
        </p:spPr>
        <p:txBody>
          <a:bodyPr anchor="t" anchorCtr="0">
            <a:noAutofit/>
          </a:bodyPr>
          <a:lstStyle>
            <a:lvl1pPr>
              <a:defRPr sz="4000"/>
            </a:lvl1pPr>
          </a:lstStyle>
          <a:p>
            <a:r>
              <a:rPr lang="en-US" dirty="0"/>
              <a:t>Click to add title</a:t>
            </a:r>
          </a:p>
        </p:txBody>
      </p:sp>
      <p:sp>
        <p:nvSpPr>
          <p:cNvPr id="3" name="Content Placeholder 2">
            <a:extLst>
              <a:ext uri="{FF2B5EF4-FFF2-40B4-BE49-F238E27FC236}">
                <a16:creationId xmlns:a16="http://schemas.microsoft.com/office/drawing/2014/main" id="{0C813049-5F46-053E-6279-8183259649A6}"/>
              </a:ext>
            </a:extLst>
          </p:cNvPr>
          <p:cNvSpPr>
            <a:spLocks noGrp="1"/>
          </p:cNvSpPr>
          <p:nvPr>
            <p:ph sz="half" idx="1" hasCustomPrompt="1"/>
          </p:nvPr>
        </p:nvSpPr>
        <p:spPr>
          <a:xfrm>
            <a:off x="553720" y="1917065"/>
            <a:ext cx="2921000" cy="4297680"/>
          </a:xfrm>
        </p:spPr>
        <p:txBody>
          <a:bodyPr>
            <a:normAutofit/>
          </a:bodyPr>
          <a:lstStyle>
            <a:lvl1pPr marL="0" indent="0">
              <a:buNone/>
              <a:defRPr sz="1800">
                <a:solidFill>
                  <a:schemeClr val="tx1"/>
                </a:solidFill>
              </a:defRPr>
            </a:lvl1pPr>
            <a:lvl2pPr>
              <a:defRPr sz="1200">
                <a:solidFill>
                  <a:schemeClr val="tx1"/>
                </a:solidFill>
              </a:defRPr>
            </a:lvl2pPr>
            <a:lvl3pPr>
              <a:defRPr sz="1200">
                <a:solidFill>
                  <a:schemeClr val="tx1"/>
                </a:solidFill>
              </a:defRPr>
            </a:lvl3pPr>
            <a:lvl4pPr>
              <a:defRPr sz="1200">
                <a:solidFill>
                  <a:schemeClr val="tx1"/>
                </a:solidFill>
              </a:defRPr>
            </a:lvl4pPr>
            <a:lvl5pPr>
              <a:defRPr sz="1200">
                <a:solidFill>
                  <a:schemeClr val="tx1"/>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able Placeholder 7">
            <a:extLst>
              <a:ext uri="{FF2B5EF4-FFF2-40B4-BE49-F238E27FC236}">
                <a16:creationId xmlns:a16="http://schemas.microsoft.com/office/drawing/2014/main" id="{423FEB60-8FB5-7F10-EDD7-8AB4B3139EF6}"/>
              </a:ext>
            </a:extLst>
          </p:cNvPr>
          <p:cNvSpPr>
            <a:spLocks noGrp="1"/>
          </p:cNvSpPr>
          <p:nvPr>
            <p:ph type="tbl" sz="quarter" idx="13" hasCustomPrompt="1"/>
          </p:nvPr>
        </p:nvSpPr>
        <p:spPr>
          <a:xfrm>
            <a:off x="4048759" y="1917065"/>
            <a:ext cx="7591799" cy="4297680"/>
          </a:xfrm>
        </p:spPr>
        <p:txBody>
          <a:bodyPr>
            <a:normAutofit/>
          </a:bodyPr>
          <a:lstStyle>
            <a:lvl1pPr>
              <a:defRPr sz="2000">
                <a:solidFill>
                  <a:schemeClr val="tx1"/>
                </a:solidFill>
              </a:defRPr>
            </a:lvl1pPr>
          </a:lstStyle>
          <a:p>
            <a:r>
              <a:rPr lang="en-US" dirty="0"/>
              <a:t>Click icon to insert table</a:t>
            </a:r>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r>
              <a:rPr lang="en-US"/>
              <a:t>20XX</a:t>
            </a:r>
            <a:endParaRPr lang="en-US" dirty="0"/>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965773190"/>
      </p:ext>
    </p:extLst>
  </p:cSld>
  <p:clrMapOvr>
    <a:masterClrMapping/>
  </p:clrMapOvr>
  <p:hf hdr="0" ftr="0"/>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Closing">
    <p:spTree>
      <p:nvGrpSpPr>
        <p:cNvPr id="1" name=""/>
        <p:cNvGrpSpPr/>
        <p:nvPr/>
      </p:nvGrpSpPr>
      <p:grpSpPr>
        <a:xfrm>
          <a:off x="0" y="0"/>
          <a:ext cx="0" cy="0"/>
          <a:chOff x="0" y="0"/>
          <a:chExt cx="0" cy="0"/>
        </a:xfrm>
      </p:grpSpPr>
      <p:sp>
        <p:nvSpPr>
          <p:cNvPr id="7" name="Oval 6">
            <a:extLst>
              <a:ext uri="{FF2B5EF4-FFF2-40B4-BE49-F238E27FC236}">
                <a16:creationId xmlns:a16="http://schemas.microsoft.com/office/drawing/2014/main" id="{E57989ED-9663-5033-AA83-267069FC5CEE}"/>
              </a:ext>
              <a:ext uri="{C183D7F6-B498-43B3-948B-1728B52AA6E4}">
                <adec:decorative xmlns:adec="http://schemas.microsoft.com/office/drawing/2017/decorative" val="1"/>
              </a:ext>
            </a:extLst>
          </p:cNvPr>
          <p:cNvSpPr>
            <a:spLocks noChangeAspect="1"/>
          </p:cNvSpPr>
          <p:nvPr userDrawn="1"/>
        </p:nvSpPr>
        <p:spPr>
          <a:xfrm>
            <a:off x="5303845" y="5427212"/>
            <a:ext cx="1080000" cy="1080000"/>
          </a:xfrm>
          <a:prstGeom prst="ellipse">
            <a:avLst/>
          </a:prstGeom>
          <a:gradFill flip="none" rotWithShape="1">
            <a:gsLst>
              <a:gs pos="100000">
                <a:schemeClr val="bg2">
                  <a:lumMod val="50000"/>
                  <a:lumOff val="50000"/>
                </a:schemeClr>
              </a:gs>
              <a:gs pos="60000">
                <a:schemeClr val="bg2">
                  <a:lumMod val="100000"/>
                </a:schemeClr>
              </a:gs>
            </a:gsLst>
            <a:path path="circle">
              <a:fillToRect l="100000" b="100000"/>
            </a:path>
            <a:tileRect t="-100000" r="-100000"/>
          </a:gradFill>
          <a:ln>
            <a:noFill/>
          </a:ln>
          <a:effectLst>
            <a:innerShdw blurRad="254000" dist="127000" dir="2700000">
              <a:schemeClr val="accent1">
                <a:lumMod val="60000"/>
                <a:lumOff val="40000"/>
                <a:alpha val="4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 name="Title 1">
            <a:extLst>
              <a:ext uri="{FF2B5EF4-FFF2-40B4-BE49-F238E27FC236}">
                <a16:creationId xmlns:a16="http://schemas.microsoft.com/office/drawing/2014/main" id="{B1A4B040-51E3-4DA0-B21D-EEE173E7536F}"/>
              </a:ext>
            </a:extLst>
          </p:cNvPr>
          <p:cNvSpPr>
            <a:spLocks noGrp="1"/>
          </p:cNvSpPr>
          <p:nvPr>
            <p:ph type="title" hasCustomPrompt="1"/>
          </p:nvPr>
        </p:nvSpPr>
        <p:spPr>
          <a:xfrm>
            <a:off x="549536" y="549274"/>
            <a:ext cx="5179330" cy="2841829"/>
          </a:xfrm>
        </p:spPr>
        <p:txBody>
          <a:bodyPr vert="horz" wrap="square" lIns="0" tIns="0" rIns="0" bIns="0" rtlCol="0" anchor="b" anchorCtr="0">
            <a:normAutofit/>
          </a:bodyPr>
          <a:lstStyle>
            <a:lvl1pPr>
              <a:defRPr lang="en-US" sz="5400" dirty="0"/>
            </a:lvl1pPr>
          </a:lstStyle>
          <a:p>
            <a:pPr lvl="0">
              <a:lnSpc>
                <a:spcPct val="100000"/>
              </a:lnSpc>
            </a:pPr>
            <a:r>
              <a:rPr lang="en-US" dirty="0"/>
              <a:t>Click to add title</a:t>
            </a:r>
          </a:p>
        </p:txBody>
      </p:sp>
      <p:sp>
        <p:nvSpPr>
          <p:cNvPr id="3" name="Content Placeholder 2">
            <a:extLst>
              <a:ext uri="{FF2B5EF4-FFF2-40B4-BE49-F238E27FC236}">
                <a16:creationId xmlns:a16="http://schemas.microsoft.com/office/drawing/2014/main" id="{F8A2CD90-429B-4A55-B6C8-DD6CE6994118}"/>
              </a:ext>
            </a:extLst>
          </p:cNvPr>
          <p:cNvSpPr>
            <a:spLocks noGrp="1"/>
          </p:cNvSpPr>
          <p:nvPr>
            <p:ph idx="1" hasCustomPrompt="1"/>
          </p:nvPr>
        </p:nvSpPr>
        <p:spPr>
          <a:xfrm>
            <a:off x="549537" y="3646704"/>
            <a:ext cx="5179330" cy="2706160"/>
          </a:xfrm>
        </p:spPr>
        <p:txBody>
          <a:bodyPr>
            <a:normAutofit/>
          </a:bodyPr>
          <a:lstStyle>
            <a:lvl1pPr marL="0" indent="0">
              <a:spcBef>
                <a:spcPts val="1000"/>
              </a:spcBef>
              <a:buNone/>
              <a:defRPr sz="1800">
                <a:solidFill>
                  <a:schemeClr val="tx1"/>
                </a:solidFill>
              </a:defRPr>
            </a:lvl1pPr>
            <a:lvl2pPr marL="457200" indent="0">
              <a:spcBef>
                <a:spcPts val="1000"/>
              </a:spcBef>
              <a:buNone/>
              <a:defRPr sz="1200">
                <a:solidFill>
                  <a:schemeClr val="tx1"/>
                </a:solidFill>
              </a:defRPr>
            </a:lvl2pPr>
            <a:lvl3pPr marL="914400" indent="0">
              <a:spcBef>
                <a:spcPts val="1000"/>
              </a:spcBef>
              <a:buNone/>
              <a:defRPr sz="1200">
                <a:solidFill>
                  <a:schemeClr val="tx1"/>
                </a:solidFill>
              </a:defRPr>
            </a:lvl3pPr>
            <a:lvl4pPr marL="1371600" indent="0">
              <a:spcBef>
                <a:spcPts val="1000"/>
              </a:spcBef>
              <a:buNone/>
              <a:defRPr sz="1200">
                <a:solidFill>
                  <a:schemeClr val="tx1"/>
                </a:solidFill>
              </a:defRPr>
            </a:lvl4pPr>
            <a:lvl5pPr marL="1828800" indent="0">
              <a:spcBef>
                <a:spcPts val="1000"/>
              </a:spcBef>
              <a:buNone/>
              <a:defRPr sz="1200">
                <a:solidFill>
                  <a:schemeClr val="tx1"/>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 name="Picture Placeholder 19">
            <a:extLst>
              <a:ext uri="{FF2B5EF4-FFF2-40B4-BE49-F238E27FC236}">
                <a16:creationId xmlns:a16="http://schemas.microsoft.com/office/drawing/2014/main" id="{5392876F-0BBD-F80A-DE7F-8831AD3BF353}"/>
              </a:ext>
            </a:extLst>
          </p:cNvPr>
          <p:cNvSpPr>
            <a:spLocks noGrp="1"/>
          </p:cNvSpPr>
          <p:nvPr>
            <p:ph type="pic" sz="quarter" idx="13" hasCustomPrompt="1"/>
          </p:nvPr>
        </p:nvSpPr>
        <p:spPr>
          <a:xfrm>
            <a:off x="5926138" y="549275"/>
            <a:ext cx="5654675" cy="5788025"/>
          </a:xfrm>
        </p:spPr>
        <p:txBody>
          <a:bodyPr>
            <a:normAutofit/>
          </a:bodyPr>
          <a:lstStyle>
            <a:lvl1pPr marL="0" indent="0" algn="ctr">
              <a:buNone/>
              <a:defRPr sz="2000">
                <a:solidFill>
                  <a:schemeClr val="tx1"/>
                </a:solidFill>
              </a:defRPr>
            </a:lvl1pPr>
          </a:lstStyle>
          <a:p>
            <a:r>
              <a:rPr lang="en-US" dirty="0"/>
              <a:t>Click icon to insert picture</a:t>
            </a:r>
          </a:p>
        </p:txBody>
      </p:sp>
      <p:grpSp>
        <p:nvGrpSpPr>
          <p:cNvPr id="9" name="Group 8">
            <a:extLst>
              <a:ext uri="{FF2B5EF4-FFF2-40B4-BE49-F238E27FC236}">
                <a16:creationId xmlns:a16="http://schemas.microsoft.com/office/drawing/2014/main" id="{64E08E8E-10CB-55BC-8AFF-E64C800B9F89}"/>
              </a:ext>
              <a:ext uri="{C183D7F6-B498-43B3-948B-1728B52AA6E4}">
                <adec:decorative xmlns:adec="http://schemas.microsoft.com/office/drawing/2017/decorative" val="1"/>
              </a:ext>
            </a:extLst>
          </p:cNvPr>
          <p:cNvGrpSpPr/>
          <p:nvPr userDrawn="1"/>
        </p:nvGrpSpPr>
        <p:grpSpPr>
          <a:xfrm>
            <a:off x="594036" y="5610392"/>
            <a:ext cx="667802" cy="631474"/>
            <a:chOff x="10478914" y="1506691"/>
            <a:chExt cx="667802" cy="631474"/>
          </a:xfrm>
        </p:grpSpPr>
        <p:sp>
          <p:nvSpPr>
            <p:cNvPr id="10" name="Freeform: Shape 15">
              <a:extLst>
                <a:ext uri="{FF2B5EF4-FFF2-40B4-BE49-F238E27FC236}">
                  <a16:creationId xmlns:a16="http://schemas.microsoft.com/office/drawing/2014/main" id="{B439260B-AC6B-1C83-1A63-058A7E7EFCC9}"/>
                </a:ext>
              </a:extLst>
            </p:cNvPr>
            <p:cNvSpPr>
              <a:spLocks noChangeAspect="1"/>
            </p:cNvSpPr>
            <p:nvPr/>
          </p:nvSpPr>
          <p:spPr>
            <a:xfrm rot="8100000">
              <a:off x="10606715" y="1506691"/>
              <a:ext cx="540001" cy="631474"/>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80000"/>
                    <a:lumOff val="20000"/>
                  </a:schemeClr>
                </a:gs>
                <a:gs pos="100000">
                  <a:schemeClr val="bg2"/>
                </a:gs>
              </a:gsLst>
              <a:lin ang="600000" scaled="0"/>
            </a:gradFill>
            <a:ln>
              <a:noFill/>
            </a:ln>
            <a:effectLst>
              <a:innerShdw blurRad="101600" dist="50800" dir="7320000">
                <a:schemeClr val="accent1">
                  <a:lumMod val="60000"/>
                  <a:lumOff val="4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1" name="Oval 10">
              <a:extLst>
                <a:ext uri="{FF2B5EF4-FFF2-40B4-BE49-F238E27FC236}">
                  <a16:creationId xmlns:a16="http://schemas.microsoft.com/office/drawing/2014/main" id="{4ADD32DC-9BAF-DA32-4E29-A6D403E04377}"/>
                </a:ext>
              </a:extLst>
            </p:cNvPr>
            <p:cNvSpPr/>
            <p:nvPr/>
          </p:nvSpPr>
          <p:spPr>
            <a:xfrm rot="13500000">
              <a:off x="10613915" y="1424627"/>
              <a:ext cx="270000" cy="540001"/>
            </a:xfrm>
            <a:prstGeom prst="ellipse">
              <a:avLst/>
            </a:prstGeom>
            <a:solidFill>
              <a:schemeClr val="bg2">
                <a:lumMod val="90000"/>
                <a:lumOff val="10000"/>
              </a:schemeClr>
            </a:soli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grpSp>
        <p:nvGrpSpPr>
          <p:cNvPr id="12" name="Group 11">
            <a:extLst>
              <a:ext uri="{FF2B5EF4-FFF2-40B4-BE49-F238E27FC236}">
                <a16:creationId xmlns:a16="http://schemas.microsoft.com/office/drawing/2014/main" id="{3BDBC526-6DCD-4FF6-8395-D8C22E46E527}"/>
              </a:ext>
              <a:ext uri="{C183D7F6-B498-43B3-948B-1728B52AA6E4}">
                <adec:decorative xmlns:adec="http://schemas.microsoft.com/office/drawing/2017/decorative" val="1"/>
              </a:ext>
            </a:extLst>
          </p:cNvPr>
          <p:cNvGrpSpPr/>
          <p:nvPr/>
        </p:nvGrpSpPr>
        <p:grpSpPr>
          <a:xfrm>
            <a:off x="613998" y="5334748"/>
            <a:ext cx="678135" cy="990000"/>
            <a:chOff x="10490969" y="1448827"/>
            <a:chExt cx="678135" cy="990000"/>
          </a:xfrm>
        </p:grpSpPr>
        <p:sp>
          <p:nvSpPr>
            <p:cNvPr id="13" name="Freeform: Shape 12">
              <a:extLst>
                <a:ext uri="{FF2B5EF4-FFF2-40B4-BE49-F238E27FC236}">
                  <a16:creationId xmlns:a16="http://schemas.microsoft.com/office/drawing/2014/main" id="{02ECB475-568C-47AC-B16D-2E202DEB2DE0}"/>
                </a:ext>
              </a:extLst>
            </p:cNvPr>
            <p:cNvSpPr>
              <a:spLocks noChangeAspect="1"/>
            </p:cNvSpPr>
            <p:nvPr/>
          </p:nvSpPr>
          <p:spPr>
            <a:xfrm rot="2700000" flipH="1" flipV="1">
              <a:off x="10268976" y="1743588"/>
              <a:ext cx="926985" cy="463493"/>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solidFill>
            <a:ln>
              <a:noFill/>
            </a:ln>
            <a:effectLst>
              <a:innerShdw blurRad="127000" dist="50800" dir="13500000">
                <a:schemeClr val="accent1">
                  <a:lumMod val="40000"/>
                  <a:lumOff val="6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4" name="Oval 13">
              <a:extLst>
                <a:ext uri="{FF2B5EF4-FFF2-40B4-BE49-F238E27FC236}">
                  <a16:creationId xmlns:a16="http://schemas.microsoft.com/office/drawing/2014/main" id="{080D8764-525A-441E-B58F-068E82F09714}"/>
                </a:ext>
              </a:extLst>
            </p:cNvPr>
            <p:cNvSpPr/>
            <p:nvPr/>
          </p:nvSpPr>
          <p:spPr>
            <a:xfrm rot="8100000" flipH="1" flipV="1">
              <a:off x="11115555" y="1939340"/>
              <a:ext cx="53549" cy="233295"/>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5" name="Oval 14">
              <a:extLst>
                <a:ext uri="{FF2B5EF4-FFF2-40B4-BE49-F238E27FC236}">
                  <a16:creationId xmlns:a16="http://schemas.microsoft.com/office/drawing/2014/main" id="{11196109-6F2B-4738-B2FC-2CCC753AABD4}"/>
                </a:ext>
              </a:extLst>
            </p:cNvPr>
            <p:cNvSpPr/>
            <p:nvPr/>
          </p:nvSpPr>
          <p:spPr>
            <a:xfrm rot="8100000" flipH="1" flipV="1">
              <a:off x="10625042" y="1448827"/>
              <a:ext cx="53549" cy="233295"/>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6" name="Freeform: Shape 15">
              <a:extLst>
                <a:ext uri="{FF2B5EF4-FFF2-40B4-BE49-F238E27FC236}">
                  <a16:creationId xmlns:a16="http://schemas.microsoft.com/office/drawing/2014/main" id="{F7E468C2-69B8-470B-85E3-801A3CB1D7E2}"/>
                </a:ext>
              </a:extLst>
            </p:cNvPr>
            <p:cNvSpPr>
              <a:spLocks noChangeAspect="1"/>
            </p:cNvSpPr>
            <p:nvPr/>
          </p:nvSpPr>
          <p:spPr>
            <a:xfrm rot="2700000" flipH="1" flipV="1">
              <a:off x="10292519" y="1686748"/>
              <a:ext cx="926985" cy="530086"/>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lumMod val="50000"/>
                <a:lumOff val="50000"/>
                <a:alpha val="20000"/>
              </a:schemeClr>
            </a:solidFill>
            <a:ln>
              <a:noFill/>
            </a:ln>
            <a:effectLst>
              <a:softEdge rad="1016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sp>
        <p:nvSpPr>
          <p:cNvPr id="4" name="Date Placeholder 3">
            <a:extLst>
              <a:ext uri="{FF2B5EF4-FFF2-40B4-BE49-F238E27FC236}">
                <a16:creationId xmlns:a16="http://schemas.microsoft.com/office/drawing/2014/main" id="{4D4EE704-5DCA-484E-85E0-0E3A7B1C5046}"/>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4CA69B66-1C18-44A2-93F7-97DED26F24AB}"/>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E44B5A0-66FA-433A-8DC5-C097C63B4DFC}"/>
              </a:ext>
            </a:extLst>
          </p:cNvPr>
          <p:cNvSpPr>
            <a:spLocks noGrp="1"/>
          </p:cNvSpPr>
          <p:nvPr>
            <p:ph type="sldNum" sz="quarter" idx="12"/>
          </p:nvPr>
        </p:nvSpPr>
        <p:spPr/>
        <p:txBody>
          <a:bodyPr/>
          <a:lstStyle/>
          <a:p>
            <a:fld id="{DBA1B0FB-D917-4C8C-928F-313BD683BF39}" type="slidenum">
              <a:rPr lang="en-US" smtClean="0"/>
              <a:t>‹#›</a:t>
            </a:fld>
            <a:endParaRPr lang="en-US" dirty="0"/>
          </a:p>
        </p:txBody>
      </p:sp>
    </p:spTree>
    <p:extLst>
      <p:ext uri="{BB962C8B-B14F-4D97-AF65-F5344CB8AC3E}">
        <p14:creationId xmlns:p14="http://schemas.microsoft.com/office/powerpoint/2010/main" val="3979429891"/>
      </p:ext>
    </p:extLst>
  </p:cSld>
  <p:clrMapOvr>
    <a:masterClrMapping/>
  </p:clrMapOvr>
  <p:hf hdr="0" ftr="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764DE79-268F-4C1A-8933-263129D2AF90}" type="datetimeFigureOut">
              <a:rPr lang="en-US" dirty="0"/>
              <a:t>9/29/2026</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8F63A3B-78C7-47BE-AE5E-E10140E04643}" type="slidenum">
              <a:rPr lang="en-US" dirty="0"/>
              <a:t>‹#›</a:t>
            </a:fld>
            <a:endParaRPr lang="en-US" dirty="0"/>
          </a:p>
        </p:txBody>
      </p:sp>
    </p:spTree>
    <p:extLst>
      <p:ext uri="{BB962C8B-B14F-4D97-AF65-F5344CB8AC3E}">
        <p14:creationId xmlns:p14="http://schemas.microsoft.com/office/powerpoint/2010/main" val="2065403720"/>
      </p:ext>
    </p:extLst>
  </p:cSld>
  <p:clrMap bg1="lt1" tx1="dk1" bg2="lt2" tx2="dk2" accent1="accent1" accent2="accent2" accent3="accent3" accent4="accent4" accent5="accent5" accent6="accent6" hlink="hlink" folHlink="folHlink"/>
  <p:sldLayoutIdLst>
    <p:sldLayoutId id="2147483819" r:id="rId1"/>
    <p:sldLayoutId id="2147483820" r:id="rId2"/>
    <p:sldLayoutId id="2147483821" r:id="rId3"/>
    <p:sldLayoutId id="2147483822" r:id="rId4"/>
    <p:sldLayoutId id="2147483823" r:id="rId5"/>
    <p:sldLayoutId id="2147483824" r:id="rId6"/>
    <p:sldLayoutId id="2147483825" r:id="rId7"/>
    <p:sldLayoutId id="2147483826" r:id="rId8"/>
    <p:sldLayoutId id="2147483827" r:id="rId9"/>
    <p:sldLayoutId id="2147483828" r:id="rId10"/>
    <p:sldLayoutId id="2147483829" r:id="rId11"/>
    <p:sldLayoutId id="2147483830" r:id="rId12"/>
    <p:sldLayoutId id="2147483831" r:id="rId13"/>
    <p:sldLayoutId id="2147483832" r:id="rId14"/>
    <p:sldLayoutId id="2147483833" r:id="rId15"/>
    <p:sldLayoutId id="2147483834" r:id="rId16"/>
    <p:sldLayoutId id="2147483835" r:id="rId17"/>
    <p:sldLayoutId id="2147483836" r:id="rId18"/>
    <p:sldLayoutId id="2147483837" r:id="rId19"/>
    <p:sldLayoutId id="2147483838" r:id="rId20"/>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8.xml"/><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4.xml"/><Relationship Id="rId1" Type="http://schemas.openxmlformats.org/officeDocument/2006/relationships/slideLayout" Target="../slideLayouts/slideLayout17.xml"/><Relationship Id="rId5" Type="http://schemas.openxmlformats.org/officeDocument/2006/relationships/image" Target="../media/image8.png"/><Relationship Id="rId4" Type="http://schemas.openxmlformats.org/officeDocument/2006/relationships/image" Target="../media/image7.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0.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0.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Subtitle 2">
            <a:extLst>
              <a:ext uri="{FF2B5EF4-FFF2-40B4-BE49-F238E27FC236}">
                <a16:creationId xmlns:a16="http://schemas.microsoft.com/office/drawing/2014/main" id="{811197CE-F809-2FA0-32E4-1399CF8E4CAE}"/>
              </a:ext>
            </a:extLst>
          </p:cNvPr>
          <p:cNvSpPr>
            <a:spLocks noGrp="1"/>
          </p:cNvSpPr>
          <p:nvPr>
            <p:ph type="subTitle" idx="1"/>
          </p:nvPr>
        </p:nvSpPr>
        <p:spPr>
          <a:xfrm>
            <a:off x="288479" y="5259237"/>
            <a:ext cx="4144782" cy="943375"/>
          </a:xfrm>
        </p:spPr>
        <p:txBody>
          <a:bodyPr vert="horz" lIns="91440" tIns="45720" rIns="91440" bIns="45720" rtlCol="0" anchor="t">
            <a:noAutofit/>
          </a:bodyPr>
          <a:lstStyle/>
          <a:p>
            <a:pPr>
              <a:spcBef>
                <a:spcPts val="0"/>
              </a:spcBef>
            </a:pPr>
            <a:r>
              <a:rPr lang="en-US" sz="1800" dirty="0">
                <a:latin typeface="Walbaum Display"/>
              </a:rPr>
              <a:t>Presented by:</a:t>
            </a:r>
          </a:p>
          <a:p>
            <a:pPr>
              <a:spcBef>
                <a:spcPts val="0"/>
              </a:spcBef>
            </a:pPr>
            <a:r>
              <a:rPr lang="en-US" sz="1800" dirty="0">
                <a:latin typeface="Walbaum Display"/>
              </a:rPr>
              <a:t>Sreehitha Korrapati</a:t>
            </a:r>
            <a:endParaRPr lang="en-US">
              <a:latin typeface="Walbaum Display"/>
            </a:endParaRPr>
          </a:p>
          <a:p>
            <a:endParaRPr lang="en-US" sz="1800" dirty="0">
              <a:latin typeface="Walbaum Display"/>
            </a:endParaRPr>
          </a:p>
          <a:p>
            <a:endParaRPr lang="en-US" sz="1800" dirty="0">
              <a:latin typeface="Walbaum Display"/>
            </a:endParaRPr>
          </a:p>
        </p:txBody>
      </p:sp>
      <p:pic>
        <p:nvPicPr>
          <p:cNvPr id="8" name="Picture Placeholder 13" descr="Data points digital background">
            <a:extLst>
              <a:ext uri="{FF2B5EF4-FFF2-40B4-BE49-F238E27FC236}">
                <a16:creationId xmlns:a16="http://schemas.microsoft.com/office/drawing/2014/main" id="{53227D59-33F9-9DDB-1C5C-A938A989EE51}"/>
              </a:ext>
            </a:extLst>
          </p:cNvPr>
          <p:cNvPicPr>
            <a:picLocks noGrp="1" noChangeAspect="1"/>
          </p:cNvPicPr>
          <p:nvPr>
            <p:ph type="pic" sz="quarter" idx="13"/>
          </p:nvPr>
        </p:nvPicPr>
        <p:blipFill rotWithShape="1">
          <a:blip r:embed="rId3" cstate="screen">
            <a:extLst>
              <a:ext uri="{28A0092B-C50C-407E-A947-70E740481C1C}">
                <a14:useLocalDpi xmlns:a14="http://schemas.microsoft.com/office/drawing/2010/main" val="0"/>
              </a:ext>
            </a:extLst>
          </a:blip>
          <a:srcRect l="3972" r="3972"/>
          <a:stretch/>
        </p:blipFill>
        <p:spPr>
          <a:noFill/>
        </p:spPr>
      </p:pic>
      <p:sp>
        <p:nvSpPr>
          <p:cNvPr id="15" name="Date Placeholder 4">
            <a:extLst>
              <a:ext uri="{FF2B5EF4-FFF2-40B4-BE49-F238E27FC236}">
                <a16:creationId xmlns:a16="http://schemas.microsoft.com/office/drawing/2014/main" id="{ADF5C012-F4BD-B476-C5A0-A9331E3CA6AC}"/>
              </a:ext>
            </a:extLst>
          </p:cNvPr>
          <p:cNvSpPr>
            <a:spLocks noGrp="1"/>
          </p:cNvSpPr>
          <p:nvPr>
            <p:ph type="dt" sz="half" idx="10"/>
          </p:nvPr>
        </p:nvSpPr>
        <p:spPr/>
        <p:txBody>
          <a:bodyPr/>
          <a:lstStyle/>
          <a:p>
            <a:pPr>
              <a:spcAft>
                <a:spcPts val="600"/>
              </a:spcAft>
            </a:pPr>
            <a:r>
              <a:rPr lang="en-US"/>
              <a:t>20XX</a:t>
            </a:r>
          </a:p>
        </p:txBody>
      </p:sp>
      <p:sp>
        <p:nvSpPr>
          <p:cNvPr id="19" name="Slide Number Placeholder 6">
            <a:extLst>
              <a:ext uri="{FF2B5EF4-FFF2-40B4-BE49-F238E27FC236}">
                <a16:creationId xmlns:a16="http://schemas.microsoft.com/office/drawing/2014/main" id="{B2951CF2-A7C8-67E5-6A6C-37176032564D}"/>
              </a:ext>
            </a:extLst>
          </p:cNvPr>
          <p:cNvSpPr>
            <a:spLocks noGrp="1"/>
          </p:cNvSpPr>
          <p:nvPr>
            <p:ph type="sldNum" sz="quarter" idx="12"/>
          </p:nvPr>
        </p:nvSpPr>
        <p:spPr/>
        <p:txBody>
          <a:bodyPr/>
          <a:lstStyle/>
          <a:p>
            <a:pPr>
              <a:spcAft>
                <a:spcPts val="600"/>
              </a:spcAft>
            </a:pPr>
            <a:r>
              <a:rPr lang="en-US" dirty="0"/>
              <a:t>1</a:t>
            </a:r>
          </a:p>
        </p:txBody>
      </p:sp>
      <p:sp>
        <p:nvSpPr>
          <p:cNvPr id="3" name="TextBox 2">
            <a:extLst>
              <a:ext uri="{FF2B5EF4-FFF2-40B4-BE49-F238E27FC236}">
                <a16:creationId xmlns:a16="http://schemas.microsoft.com/office/drawing/2014/main" id="{F8FC30DA-0083-7B5C-A2B0-2865AD65A8DB}"/>
              </a:ext>
            </a:extLst>
          </p:cNvPr>
          <p:cNvSpPr txBox="1"/>
          <p:nvPr/>
        </p:nvSpPr>
        <p:spPr>
          <a:xfrm>
            <a:off x="294589" y="989103"/>
            <a:ext cx="4945224" cy="32316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400" dirty="0" err="1">
                <a:latin typeface="Walbaum Display"/>
                <a:ea typeface="+mn-lt"/>
                <a:cs typeface="+mn-lt"/>
              </a:rPr>
              <a:t>ProMedTS</a:t>
            </a:r>
            <a:r>
              <a:rPr lang="en-US" sz="3400" dirty="0">
                <a:latin typeface="Walbaum Display"/>
                <a:ea typeface="+mn-lt"/>
                <a:cs typeface="+mn-lt"/>
              </a:rPr>
              <a:t>: A Self-Supervised, Prompt-Guided Multimodal Approach for Integrating Medical Text and Time Series </a:t>
            </a:r>
            <a:endParaRPr lang="en-US" sz="3400" dirty="0">
              <a:latin typeface="Walbaum Display"/>
            </a:endParaRPr>
          </a:p>
        </p:txBody>
      </p:sp>
    </p:spTree>
    <p:extLst>
      <p:ext uri="{BB962C8B-B14F-4D97-AF65-F5344CB8AC3E}">
        <p14:creationId xmlns:p14="http://schemas.microsoft.com/office/powerpoint/2010/main" val="28030920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305444-3EEB-E615-682F-AEAAE8CF4657}"/>
              </a:ext>
            </a:extLst>
          </p:cNvPr>
          <p:cNvSpPr>
            <a:spLocks noGrp="1"/>
          </p:cNvSpPr>
          <p:nvPr>
            <p:ph type="title"/>
          </p:nvPr>
        </p:nvSpPr>
        <p:spPr/>
        <p:txBody>
          <a:bodyPr/>
          <a:lstStyle/>
          <a:p>
            <a:r>
              <a:rPr lang="en-US" dirty="0"/>
              <a:t>Authors and affiliations</a:t>
            </a:r>
          </a:p>
        </p:txBody>
      </p:sp>
      <p:sp>
        <p:nvSpPr>
          <p:cNvPr id="3" name="Content Placeholder 2">
            <a:extLst>
              <a:ext uri="{FF2B5EF4-FFF2-40B4-BE49-F238E27FC236}">
                <a16:creationId xmlns:a16="http://schemas.microsoft.com/office/drawing/2014/main" id="{74A9D696-23D2-67D1-1D67-0344812E22C3}"/>
              </a:ext>
            </a:extLst>
          </p:cNvPr>
          <p:cNvSpPr>
            <a:spLocks noGrp="1"/>
          </p:cNvSpPr>
          <p:nvPr>
            <p:ph idx="1"/>
          </p:nvPr>
        </p:nvSpPr>
        <p:spPr/>
        <p:txBody>
          <a:bodyPr vert="horz" lIns="91440" tIns="45720" rIns="91440" bIns="45720" rtlCol="0" anchor="t">
            <a:normAutofit/>
          </a:bodyPr>
          <a:lstStyle/>
          <a:p>
            <a:r>
              <a:rPr lang="en-US" b="1" dirty="0">
                <a:ea typeface="+mn-lt"/>
                <a:cs typeface="+mn-lt"/>
              </a:rPr>
              <a:t>Shuai Niu</a:t>
            </a:r>
            <a:r>
              <a:rPr lang="en-US" dirty="0">
                <a:ea typeface="+mn-lt"/>
                <a:cs typeface="+mn-lt"/>
              </a:rPr>
              <a:t>, </a:t>
            </a:r>
            <a:r>
              <a:rPr lang="en-US" b="1" dirty="0">
                <a:ea typeface="+mn-lt"/>
                <a:cs typeface="+mn-lt"/>
              </a:rPr>
              <a:t>Jing Ma</a:t>
            </a:r>
            <a:r>
              <a:rPr lang="en-US" dirty="0">
                <a:ea typeface="+mn-lt"/>
                <a:cs typeface="+mn-lt"/>
              </a:rPr>
              <a:t>, </a:t>
            </a:r>
            <a:r>
              <a:rPr lang="en-US" b="1" dirty="0" err="1">
                <a:ea typeface="+mn-lt"/>
                <a:cs typeface="+mn-lt"/>
              </a:rPr>
              <a:t>Hongzhan</a:t>
            </a:r>
            <a:r>
              <a:rPr lang="en-US" b="1" dirty="0">
                <a:ea typeface="+mn-lt"/>
                <a:cs typeface="+mn-lt"/>
              </a:rPr>
              <a:t> Lin</a:t>
            </a:r>
            <a:r>
              <a:rPr lang="en-US" dirty="0">
                <a:ea typeface="+mn-lt"/>
                <a:cs typeface="+mn-lt"/>
              </a:rPr>
              <a:t>, </a:t>
            </a:r>
            <a:r>
              <a:rPr lang="en-US" b="1" dirty="0">
                <a:ea typeface="+mn-lt"/>
                <a:cs typeface="+mn-lt"/>
              </a:rPr>
              <a:t>Yida Xu</a:t>
            </a:r>
            <a:r>
              <a:rPr lang="en-US" dirty="0">
                <a:ea typeface="+mn-lt"/>
                <a:cs typeface="+mn-lt"/>
              </a:rPr>
              <a:t> – </a:t>
            </a:r>
            <a:r>
              <a:rPr lang="en-US" i="1" dirty="0">
                <a:ea typeface="+mn-lt"/>
                <a:cs typeface="+mn-lt"/>
              </a:rPr>
              <a:t>Hong Kong Baptist University</a:t>
            </a:r>
            <a:endParaRPr lang="en-US" dirty="0"/>
          </a:p>
          <a:p>
            <a:r>
              <a:rPr lang="en-US" b="1" dirty="0">
                <a:ea typeface="+mn-lt"/>
                <a:cs typeface="+mn-lt"/>
              </a:rPr>
              <a:t>Liang Bai</a:t>
            </a:r>
            <a:r>
              <a:rPr lang="en-US" dirty="0">
                <a:ea typeface="+mn-lt"/>
                <a:cs typeface="+mn-lt"/>
              </a:rPr>
              <a:t> – </a:t>
            </a:r>
            <a:r>
              <a:rPr lang="en-US" i="1" dirty="0">
                <a:ea typeface="+mn-lt"/>
                <a:cs typeface="+mn-lt"/>
              </a:rPr>
              <a:t>Shanxi University</a:t>
            </a:r>
            <a:endParaRPr lang="en-US" dirty="0"/>
          </a:p>
          <a:p>
            <a:r>
              <a:rPr lang="en-US" b="1" dirty="0">
                <a:ea typeface="+mn-lt"/>
                <a:cs typeface="+mn-lt"/>
              </a:rPr>
              <a:t>Zhihua Wang</a:t>
            </a:r>
            <a:r>
              <a:rPr lang="en-US" dirty="0">
                <a:ea typeface="+mn-lt"/>
                <a:cs typeface="+mn-lt"/>
              </a:rPr>
              <a:t> – </a:t>
            </a:r>
            <a:r>
              <a:rPr lang="en-US" i="1" dirty="0">
                <a:ea typeface="+mn-lt"/>
                <a:cs typeface="+mn-lt"/>
              </a:rPr>
              <a:t>Shanghai Institute for Advanced Study of Zhejiang University</a:t>
            </a:r>
            <a:endParaRPr lang="en-US" dirty="0"/>
          </a:p>
          <a:p>
            <a:r>
              <a:rPr lang="en-US" b="1" dirty="0">
                <a:ea typeface="+mn-lt"/>
                <a:cs typeface="+mn-lt"/>
              </a:rPr>
              <a:t>Wei Bi</a:t>
            </a:r>
            <a:r>
              <a:rPr lang="en-US" dirty="0">
                <a:ea typeface="+mn-lt"/>
                <a:cs typeface="+mn-lt"/>
              </a:rPr>
              <a:t> – </a:t>
            </a:r>
            <a:r>
              <a:rPr lang="en-US" i="1" dirty="0">
                <a:ea typeface="+mn-lt"/>
                <a:cs typeface="+mn-lt"/>
              </a:rPr>
              <a:t>Tencent AI Lab</a:t>
            </a:r>
            <a:endParaRPr lang="en-US" dirty="0"/>
          </a:p>
          <a:p>
            <a:r>
              <a:rPr lang="en-US" b="1" dirty="0">
                <a:ea typeface="+mn-lt"/>
                <a:cs typeface="+mn-lt"/>
              </a:rPr>
              <a:t>Guo Li</a:t>
            </a:r>
            <a:r>
              <a:rPr lang="en-US" dirty="0">
                <a:ea typeface="+mn-lt"/>
                <a:cs typeface="+mn-lt"/>
              </a:rPr>
              <a:t> – </a:t>
            </a:r>
            <a:r>
              <a:rPr lang="en-US" i="1" dirty="0">
                <a:ea typeface="+mn-lt"/>
                <a:cs typeface="+mn-lt"/>
              </a:rPr>
              <a:t>Manchester Metropolitan University</a:t>
            </a:r>
            <a:endParaRPr lang="en-US" dirty="0"/>
          </a:p>
          <a:p>
            <a:r>
              <a:rPr lang="en-US" b="1" dirty="0">
                <a:ea typeface="+mn-lt"/>
                <a:cs typeface="+mn-lt"/>
              </a:rPr>
              <a:t>Xian Yang</a:t>
            </a:r>
            <a:r>
              <a:rPr lang="en-US" dirty="0">
                <a:ea typeface="+mn-lt"/>
                <a:cs typeface="+mn-lt"/>
              </a:rPr>
              <a:t>* – </a:t>
            </a:r>
            <a:r>
              <a:rPr lang="en-US" i="1" dirty="0">
                <a:ea typeface="+mn-lt"/>
                <a:cs typeface="+mn-lt"/>
              </a:rPr>
              <a:t>The University of Manchester</a:t>
            </a:r>
            <a:br>
              <a:rPr lang="en-US" i="1" dirty="0">
                <a:ea typeface="+mn-lt"/>
                <a:cs typeface="+mn-lt"/>
              </a:rPr>
            </a:br>
            <a:r>
              <a:rPr lang="en-US" i="1" dirty="0">
                <a:ea typeface="+mn-lt"/>
                <a:cs typeface="+mn-lt"/>
              </a:rPr>
              <a:t>  </a:t>
            </a:r>
            <a:endParaRPr lang="en-US" i="1" dirty="0"/>
          </a:p>
          <a:p>
            <a:endParaRPr lang="en-US" dirty="0"/>
          </a:p>
        </p:txBody>
      </p:sp>
      <p:sp>
        <p:nvSpPr>
          <p:cNvPr id="4" name="Date Placeholder 3">
            <a:extLst>
              <a:ext uri="{FF2B5EF4-FFF2-40B4-BE49-F238E27FC236}">
                <a16:creationId xmlns:a16="http://schemas.microsoft.com/office/drawing/2014/main" id="{B1CC2DD5-ACD9-8D1C-4F8A-5FB93B3B470C}"/>
              </a:ext>
            </a:extLst>
          </p:cNvPr>
          <p:cNvSpPr>
            <a:spLocks noGrp="1"/>
          </p:cNvSpPr>
          <p:nvPr>
            <p:ph type="dt" sz="half" idx="10"/>
          </p:nvPr>
        </p:nvSpPr>
        <p:spPr/>
        <p:txBody>
          <a:bodyPr/>
          <a:lstStyle/>
          <a:p>
            <a:fld id="{5457B4EE-A361-4E67-8CDB-0378BF86F18E}" type="datetime1">
              <a:rPr lang="en-US"/>
              <a:t>9/29/2026</a:t>
            </a:fld>
            <a:endParaRPr lang="en-US" dirty="0"/>
          </a:p>
        </p:txBody>
      </p:sp>
      <p:sp>
        <p:nvSpPr>
          <p:cNvPr id="6" name="Slide Number Placeholder 5">
            <a:extLst>
              <a:ext uri="{FF2B5EF4-FFF2-40B4-BE49-F238E27FC236}">
                <a16:creationId xmlns:a16="http://schemas.microsoft.com/office/drawing/2014/main" id="{0E87DB69-5A1D-795D-F777-8A7E245DB7A1}"/>
              </a:ext>
            </a:extLst>
          </p:cNvPr>
          <p:cNvSpPr>
            <a:spLocks noGrp="1"/>
          </p:cNvSpPr>
          <p:nvPr>
            <p:ph type="sldNum" sz="quarter" idx="12"/>
          </p:nvPr>
        </p:nvSpPr>
        <p:spPr/>
        <p:txBody>
          <a:bodyPr/>
          <a:lstStyle/>
          <a:p>
            <a:fld id="{196A61CA-0502-4EE4-9724-96EA822543E5}" type="slidenum">
              <a:rPr lang="en-US" dirty="0"/>
              <a:t>2</a:t>
            </a:fld>
            <a:endParaRPr lang="en-US" dirty="0"/>
          </a:p>
        </p:txBody>
      </p:sp>
    </p:spTree>
    <p:extLst>
      <p:ext uri="{BB962C8B-B14F-4D97-AF65-F5344CB8AC3E}">
        <p14:creationId xmlns:p14="http://schemas.microsoft.com/office/powerpoint/2010/main" val="11567130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 calcmode="lin" valueType="num">
                                      <p:cBhvr additive="base">
                                        <p:cTn id="11"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 calcmode="lin" valueType="num">
                                      <p:cBhvr additive="base">
                                        <p:cTn id="1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anim calcmode="lin" valueType="num">
                                      <p:cBhvr additive="base">
                                        <p:cTn id="2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3">
                                            <p:txEl>
                                              <p:pRg st="3" end="3"/>
                                            </p:txEl>
                                          </p:spTgt>
                                        </p:tgtEl>
                                        <p:attrNameLst>
                                          <p:attrName>style.visibility</p:attrName>
                                        </p:attrNameLst>
                                      </p:cBhvr>
                                      <p:to>
                                        <p:strVal val="visible"/>
                                      </p:to>
                                    </p:set>
                                    <p:anim calcmode="lin" valueType="num">
                                      <p:cBhvr additive="base">
                                        <p:cTn id="2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 calcmode="lin" valueType="num">
                                      <p:cBhvr additive="base">
                                        <p:cTn id="3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3">
                                            <p:txEl>
                                              <p:pRg st="5" end="5"/>
                                            </p:txEl>
                                          </p:spTgt>
                                        </p:tgtEl>
                                        <p:attrNameLst>
                                          <p:attrName>style.visibility</p:attrName>
                                        </p:attrNameLst>
                                      </p:cBhvr>
                                      <p:to>
                                        <p:strVal val="visible"/>
                                      </p:to>
                                    </p:set>
                                    <p:anim calcmode="lin" valueType="num">
                                      <p:cBhvr additive="base">
                                        <p:cTn id="4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D5BE93-0252-3CC3-B567-14EC47EB8C7F}"/>
              </a:ext>
            </a:extLst>
          </p:cNvPr>
          <p:cNvSpPr>
            <a:spLocks noGrp="1"/>
          </p:cNvSpPr>
          <p:nvPr>
            <p:ph type="title"/>
          </p:nvPr>
        </p:nvSpPr>
        <p:spPr>
          <a:xfrm>
            <a:off x="550863" y="483924"/>
            <a:ext cx="11090275" cy="878927"/>
          </a:xfrm>
        </p:spPr>
        <p:txBody>
          <a:bodyPr/>
          <a:lstStyle/>
          <a:p>
            <a:r>
              <a:rPr lang="en-US" dirty="0"/>
              <a:t>Background/Motivation</a:t>
            </a:r>
          </a:p>
        </p:txBody>
      </p:sp>
      <p:sp>
        <p:nvSpPr>
          <p:cNvPr id="3" name="Content Placeholder 2">
            <a:extLst>
              <a:ext uri="{FF2B5EF4-FFF2-40B4-BE49-F238E27FC236}">
                <a16:creationId xmlns:a16="http://schemas.microsoft.com/office/drawing/2014/main" id="{1ABCA07C-1908-B1EB-82FA-EC63DAAF4CF4}"/>
              </a:ext>
            </a:extLst>
          </p:cNvPr>
          <p:cNvSpPr>
            <a:spLocks noGrp="1"/>
          </p:cNvSpPr>
          <p:nvPr>
            <p:ph sz="quarter" idx="13"/>
          </p:nvPr>
        </p:nvSpPr>
        <p:spPr>
          <a:xfrm>
            <a:off x="550863" y="1714859"/>
            <a:ext cx="11090274" cy="3913188"/>
          </a:xfrm>
        </p:spPr>
        <p:txBody>
          <a:bodyPr vert="horz" lIns="91440" tIns="45720" rIns="91440" bIns="45720" rtlCol="0" anchor="t">
            <a:normAutofit/>
          </a:bodyPr>
          <a:lstStyle/>
          <a:p>
            <a:r>
              <a:rPr lang="en-US" sz="2400" b="1" dirty="0">
                <a:ea typeface="+mn-lt"/>
                <a:cs typeface="+mn-lt"/>
              </a:rPr>
              <a:t>Why This Research Matters?</a:t>
            </a:r>
            <a:endParaRPr lang="en-US" sz="2400" b="1" dirty="0"/>
          </a:p>
          <a:p>
            <a:pPr marL="285750" indent="-285750">
              <a:buChar char="•"/>
            </a:pPr>
            <a:r>
              <a:rPr lang="en-US" sz="2400" dirty="0">
                <a:ea typeface="+mn-lt"/>
                <a:cs typeface="+mn-lt"/>
              </a:rPr>
              <a:t>EHR data includes both </a:t>
            </a:r>
            <a:r>
              <a:rPr lang="en-US" sz="2400" b="1" dirty="0">
                <a:ea typeface="+mn-lt"/>
                <a:cs typeface="+mn-lt"/>
              </a:rPr>
              <a:t>structured</a:t>
            </a:r>
            <a:r>
              <a:rPr lang="en-US" sz="2400" dirty="0">
                <a:ea typeface="+mn-lt"/>
                <a:cs typeface="+mn-lt"/>
              </a:rPr>
              <a:t> (labs, vitals, meds) and </a:t>
            </a:r>
            <a:r>
              <a:rPr lang="en-US" sz="2400" b="1" dirty="0">
                <a:ea typeface="+mn-lt"/>
                <a:cs typeface="+mn-lt"/>
              </a:rPr>
              <a:t>unstructured</a:t>
            </a:r>
            <a:r>
              <a:rPr lang="en-US" sz="2400" dirty="0">
                <a:ea typeface="+mn-lt"/>
                <a:cs typeface="+mn-lt"/>
              </a:rPr>
              <a:t> (clinical notes) information.</a:t>
            </a:r>
            <a:endParaRPr lang="en-US" sz="2400"/>
          </a:p>
          <a:p>
            <a:pPr marL="285750" indent="-285750">
              <a:buFont typeface="Arial"/>
              <a:buChar char="•"/>
            </a:pPr>
            <a:r>
              <a:rPr lang="en-US" sz="2400" dirty="0">
                <a:ea typeface="+mn-lt"/>
                <a:cs typeface="+mn-lt"/>
              </a:rPr>
              <a:t>Most models focus on one type of data, missing cross-modal insights.</a:t>
            </a:r>
            <a:endParaRPr lang="en-US" sz="2400"/>
          </a:p>
          <a:p>
            <a:pPr marL="285750" indent="-285750">
              <a:buFont typeface="Arial"/>
              <a:buChar char="•"/>
            </a:pPr>
            <a:r>
              <a:rPr lang="en-US" sz="2400" dirty="0">
                <a:ea typeface="+mn-lt"/>
                <a:cs typeface="+mn-lt"/>
              </a:rPr>
              <a:t>LLMs can understand text but not time-series data directly.</a:t>
            </a:r>
            <a:endParaRPr lang="en-US" sz="2400"/>
          </a:p>
          <a:p>
            <a:pPr marL="285750" indent="-285750">
              <a:buFont typeface="Arial"/>
              <a:buChar char="•"/>
            </a:pPr>
            <a:r>
              <a:rPr lang="en-US" sz="2400" dirty="0">
                <a:ea typeface="+mn-lt"/>
                <a:cs typeface="+mn-lt"/>
              </a:rPr>
              <a:t>Integrating both can improve prediction of surgical complications and enhance clinical decision-making</a:t>
            </a:r>
            <a:endParaRPr lang="en-US" sz="2400" dirty="0"/>
          </a:p>
          <a:p>
            <a:endParaRPr lang="en-US" dirty="0"/>
          </a:p>
        </p:txBody>
      </p:sp>
      <p:sp>
        <p:nvSpPr>
          <p:cNvPr id="4" name="Slide Number Placeholder 3">
            <a:extLst>
              <a:ext uri="{FF2B5EF4-FFF2-40B4-BE49-F238E27FC236}">
                <a16:creationId xmlns:a16="http://schemas.microsoft.com/office/drawing/2014/main" id="{45BE2B93-FB47-D9FD-664F-69A66504D6A4}"/>
              </a:ext>
            </a:extLst>
          </p:cNvPr>
          <p:cNvSpPr>
            <a:spLocks noGrp="1"/>
          </p:cNvSpPr>
          <p:nvPr>
            <p:ph type="sldNum" sz="quarter" idx="12"/>
          </p:nvPr>
        </p:nvSpPr>
        <p:spPr/>
        <p:txBody>
          <a:bodyPr/>
          <a:lstStyle/>
          <a:p>
            <a:fld id="{DBA1B0FB-D917-4C8C-928F-313BD683BF39}" type="slidenum">
              <a:rPr lang="en-US" smtClean="0"/>
              <a:t>3</a:t>
            </a:fld>
            <a:endParaRPr lang="en-US"/>
          </a:p>
        </p:txBody>
      </p:sp>
    </p:spTree>
    <p:extLst>
      <p:ext uri="{BB962C8B-B14F-4D97-AF65-F5344CB8AC3E}">
        <p14:creationId xmlns:p14="http://schemas.microsoft.com/office/powerpoint/2010/main" val="26650455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5604F3E0-10D9-9890-CB04-963674BFF2F5}"/>
              </a:ext>
            </a:extLst>
          </p:cNvPr>
          <p:cNvSpPr>
            <a:spLocks noGrp="1"/>
          </p:cNvSpPr>
          <p:nvPr>
            <p:ph type="title"/>
          </p:nvPr>
        </p:nvSpPr>
        <p:spPr>
          <a:xfrm>
            <a:off x="442823" y="664164"/>
            <a:ext cx="3893214" cy="3107870"/>
          </a:xfrm>
        </p:spPr>
        <p:txBody>
          <a:bodyPr/>
          <a:lstStyle/>
          <a:p>
            <a:r>
              <a:rPr lang="en-US" dirty="0">
                <a:latin typeface="Walbaum Display Light"/>
              </a:rPr>
              <a:t>Problem   Statement</a:t>
            </a:r>
          </a:p>
        </p:txBody>
      </p:sp>
      <p:sp>
        <p:nvSpPr>
          <p:cNvPr id="4" name="Date Placeholder 3" hidden="1">
            <a:extLst>
              <a:ext uri="{FF2B5EF4-FFF2-40B4-BE49-F238E27FC236}">
                <a16:creationId xmlns:a16="http://schemas.microsoft.com/office/drawing/2014/main" id="{E9263997-9EFA-7F7F-0519-A888EA44CAD5}"/>
              </a:ext>
            </a:extLst>
          </p:cNvPr>
          <p:cNvSpPr>
            <a:spLocks noGrp="1"/>
          </p:cNvSpPr>
          <p:nvPr>
            <p:ph type="dt" sz="half" idx="4294967295"/>
          </p:nvPr>
        </p:nvSpPr>
        <p:spPr>
          <a:xfrm rot="5400000">
            <a:off x="9518650" y="4891088"/>
            <a:ext cx="2673350" cy="365125"/>
          </a:xfrm>
        </p:spPr>
        <p:txBody>
          <a:bodyPr/>
          <a:lstStyle/>
          <a:p>
            <a:pPr>
              <a:spcAft>
                <a:spcPts val="600"/>
              </a:spcAft>
            </a:pPr>
            <a:r>
              <a:rPr lang="en-US"/>
              <a:t>20XX</a:t>
            </a:r>
          </a:p>
        </p:txBody>
      </p:sp>
      <p:sp>
        <p:nvSpPr>
          <p:cNvPr id="5" name="Slide Number Placeholder 4" hidden="1">
            <a:extLst>
              <a:ext uri="{FF2B5EF4-FFF2-40B4-BE49-F238E27FC236}">
                <a16:creationId xmlns:a16="http://schemas.microsoft.com/office/drawing/2014/main" id="{ED1B68AD-2997-EDE6-28C8-E622D708DC4D}"/>
              </a:ext>
            </a:extLst>
          </p:cNvPr>
          <p:cNvSpPr>
            <a:spLocks noGrp="1"/>
          </p:cNvSpPr>
          <p:nvPr>
            <p:ph type="sldNum" sz="quarter" idx="4294967295"/>
          </p:nvPr>
        </p:nvSpPr>
        <p:spPr>
          <a:xfrm>
            <a:off x="11563350" y="3219450"/>
            <a:ext cx="628650" cy="430213"/>
          </a:xfrm>
        </p:spPr>
        <p:txBody>
          <a:bodyPr/>
          <a:lstStyle/>
          <a:p>
            <a:pPr>
              <a:spcAft>
                <a:spcPts val="600"/>
              </a:spcAft>
            </a:pPr>
            <a:fld id="{DBA1B0FB-D917-4C8C-928F-313BD683BF39}" type="slidenum">
              <a:rPr lang="en-US" smtClean="0"/>
              <a:pPr>
                <a:spcAft>
                  <a:spcPts val="600"/>
                </a:spcAft>
              </a:pPr>
              <a:t>4</a:t>
            </a:fld>
            <a:endParaRPr lang="en-US"/>
          </a:p>
        </p:txBody>
      </p:sp>
      <p:sp>
        <p:nvSpPr>
          <p:cNvPr id="6" name="TextBox 5">
            <a:extLst>
              <a:ext uri="{FF2B5EF4-FFF2-40B4-BE49-F238E27FC236}">
                <a16:creationId xmlns:a16="http://schemas.microsoft.com/office/drawing/2014/main" id="{2E8D5FF9-748F-8CC9-2316-3D3972E5D438}"/>
              </a:ext>
            </a:extLst>
          </p:cNvPr>
          <p:cNvSpPr txBox="1"/>
          <p:nvPr/>
        </p:nvSpPr>
        <p:spPr>
          <a:xfrm>
            <a:off x="5571067" y="658163"/>
            <a:ext cx="6383866" cy="270843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ea typeface="+mn-lt"/>
                <a:cs typeface="+mn-lt"/>
              </a:rPr>
              <a:t>The Challenge in Multimodal Healthcare AI</a:t>
            </a:r>
            <a:endParaRPr lang="en-US" sz="2400" dirty="0">
              <a:ea typeface="+mn-lt"/>
              <a:cs typeface="+mn-lt"/>
            </a:endParaRPr>
          </a:p>
          <a:p>
            <a:pPr marL="285750" indent="-285750">
              <a:buFont typeface="Arial"/>
              <a:buChar char="•"/>
            </a:pPr>
            <a:r>
              <a:rPr lang="en-US" sz="2100" dirty="0">
                <a:ea typeface="+mn-lt"/>
                <a:cs typeface="+mn-lt"/>
              </a:rPr>
              <a:t>Time-series data is irregular and incomplete.</a:t>
            </a:r>
            <a:endParaRPr lang="en-US" sz="2100"/>
          </a:p>
          <a:p>
            <a:pPr marL="285750" indent="-285750">
              <a:buFont typeface="Arial"/>
              <a:buChar char="•"/>
            </a:pPr>
            <a:r>
              <a:rPr lang="en-US" sz="2100" dirty="0">
                <a:ea typeface="+mn-lt"/>
                <a:cs typeface="+mn-lt"/>
              </a:rPr>
              <a:t>Text and numeric data are not aligned.</a:t>
            </a:r>
            <a:endParaRPr lang="en-US" sz="2100"/>
          </a:p>
          <a:p>
            <a:pPr marL="285750" indent="-285750">
              <a:buFont typeface="Arial"/>
              <a:buChar char="•"/>
            </a:pPr>
            <a:r>
              <a:rPr lang="en-US" sz="2100" dirty="0">
                <a:ea typeface="+mn-lt"/>
                <a:cs typeface="+mn-lt"/>
              </a:rPr>
              <a:t>Existing models lack transparency in decision-making.</a:t>
            </a:r>
            <a:endParaRPr lang="en-US" sz="2100"/>
          </a:p>
          <a:p>
            <a:pPr marL="285750" indent="-285750">
              <a:buFont typeface="Arial"/>
              <a:buChar char="•"/>
            </a:pPr>
            <a:r>
              <a:rPr lang="en-US" sz="2100" dirty="0">
                <a:ea typeface="+mn-lt"/>
                <a:cs typeface="+mn-lt"/>
              </a:rPr>
              <a:t>Limited focus on specific outcomes like </a:t>
            </a:r>
            <a:r>
              <a:rPr lang="en-US" sz="2100" i="1" dirty="0">
                <a:ea typeface="+mn-lt"/>
                <a:cs typeface="+mn-lt"/>
              </a:rPr>
              <a:t>postoperative complications</a:t>
            </a:r>
            <a:r>
              <a:rPr lang="en-US" sz="2100" dirty="0">
                <a:ea typeface="+mn-lt"/>
                <a:cs typeface="+mn-lt"/>
              </a:rPr>
              <a:t>.</a:t>
            </a:r>
            <a:endParaRPr lang="en-US" sz="2100" dirty="0"/>
          </a:p>
          <a:p>
            <a:pPr algn="l"/>
            <a:endParaRPr lang="en-US" dirty="0"/>
          </a:p>
        </p:txBody>
      </p:sp>
      <p:sp>
        <p:nvSpPr>
          <p:cNvPr id="7" name="TextBox 6">
            <a:extLst>
              <a:ext uri="{FF2B5EF4-FFF2-40B4-BE49-F238E27FC236}">
                <a16:creationId xmlns:a16="http://schemas.microsoft.com/office/drawing/2014/main" id="{12241860-5520-8542-8321-2B679D181F38}"/>
              </a:ext>
            </a:extLst>
          </p:cNvPr>
          <p:cNvSpPr txBox="1"/>
          <p:nvPr/>
        </p:nvSpPr>
        <p:spPr>
          <a:xfrm>
            <a:off x="4334933" y="4152180"/>
            <a:ext cx="6180666" cy="207749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ea typeface="+mn-lt"/>
                <a:cs typeface="+mn-lt"/>
              </a:rPr>
              <a:t>Research Question:</a:t>
            </a:r>
          </a:p>
          <a:p>
            <a:r>
              <a:rPr lang="en-US" sz="2100" dirty="0">
                <a:ea typeface="+mn-lt"/>
                <a:cs typeface="+mn-lt"/>
              </a:rPr>
              <a:t>How can self-supervised prompt-guided learning be used to effectively integrate medical text (unstructured data) and physiological time-series data (structured data) to improve disease diagnosis performance across multimodal EHR datasets?</a:t>
            </a:r>
            <a:endParaRPr lang="en-US" sz="2100" dirty="0"/>
          </a:p>
        </p:txBody>
      </p:sp>
    </p:spTree>
    <p:extLst>
      <p:ext uri="{BB962C8B-B14F-4D97-AF65-F5344CB8AC3E}">
        <p14:creationId xmlns:p14="http://schemas.microsoft.com/office/powerpoint/2010/main" val="31091112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6" grpId="0"/>
      <p:bldP spid="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13AC64-C2F2-6F00-7A50-BDDFCC2ABE6A}"/>
              </a:ext>
            </a:extLst>
          </p:cNvPr>
          <p:cNvSpPr>
            <a:spLocks noGrp="1"/>
          </p:cNvSpPr>
          <p:nvPr>
            <p:ph type="title"/>
          </p:nvPr>
        </p:nvSpPr>
        <p:spPr>
          <a:xfrm>
            <a:off x="335203" y="656452"/>
            <a:ext cx="5023030" cy="792663"/>
          </a:xfrm>
        </p:spPr>
        <p:txBody>
          <a:bodyPr/>
          <a:lstStyle/>
          <a:p>
            <a:r>
              <a:rPr lang="en-US" dirty="0"/>
              <a:t>Related works</a:t>
            </a:r>
          </a:p>
        </p:txBody>
      </p:sp>
      <p:sp>
        <p:nvSpPr>
          <p:cNvPr id="3" name="Content Placeholder 2">
            <a:extLst>
              <a:ext uri="{FF2B5EF4-FFF2-40B4-BE49-F238E27FC236}">
                <a16:creationId xmlns:a16="http://schemas.microsoft.com/office/drawing/2014/main" id="{D5506830-A713-8A3D-2625-91410C57320E}"/>
              </a:ext>
            </a:extLst>
          </p:cNvPr>
          <p:cNvSpPr>
            <a:spLocks noGrp="1"/>
          </p:cNvSpPr>
          <p:nvPr>
            <p:ph sz="quarter" idx="13"/>
          </p:nvPr>
        </p:nvSpPr>
        <p:spPr>
          <a:xfrm>
            <a:off x="335203" y="1718854"/>
            <a:ext cx="11464084" cy="4315753"/>
          </a:xfrm>
        </p:spPr>
        <p:txBody>
          <a:bodyPr vert="horz" lIns="91440" tIns="45720" rIns="91440" bIns="45720" rtlCol="0" anchor="t">
            <a:normAutofit/>
          </a:bodyPr>
          <a:lstStyle/>
          <a:p>
            <a:r>
              <a:rPr lang="en-US" sz="2400" b="1" dirty="0">
                <a:ea typeface="+mn-lt"/>
                <a:cs typeface="+mn-lt"/>
              </a:rPr>
              <a:t> Multimodal Learning in Healthcare</a:t>
            </a:r>
            <a:endParaRPr lang="en-US"/>
          </a:p>
          <a:p>
            <a:pPr marL="285750" indent="-285750">
              <a:buFont typeface="Arial"/>
              <a:buChar char="•"/>
            </a:pPr>
            <a:r>
              <a:rPr lang="en-US" sz="2400" b="1" dirty="0">
                <a:latin typeface="Aptos"/>
                <a:ea typeface="+mn-lt"/>
                <a:cs typeface="+mn-lt"/>
              </a:rPr>
              <a:t>Goal:</a:t>
            </a:r>
            <a:r>
              <a:rPr lang="en-US" sz="2400" dirty="0">
                <a:latin typeface="Aptos"/>
                <a:ea typeface="+mn-lt"/>
                <a:cs typeface="+mn-lt"/>
              </a:rPr>
              <a:t> Combine multiple EHR data types (text, labs, images).</a:t>
            </a:r>
            <a:endParaRPr lang="en-US">
              <a:latin typeface="Aptos"/>
            </a:endParaRPr>
          </a:p>
          <a:p>
            <a:pPr marL="285750" indent="-285750">
              <a:buFont typeface="Arial"/>
              <a:buChar char="•"/>
            </a:pPr>
            <a:r>
              <a:rPr lang="en-US" sz="2400" b="1" dirty="0">
                <a:latin typeface="Aptos"/>
                <a:ea typeface="+mn-lt"/>
                <a:cs typeface="+mn-lt"/>
              </a:rPr>
              <a:t>Past Models:</a:t>
            </a:r>
            <a:endParaRPr lang="en-US" sz="2400" dirty="0">
              <a:latin typeface="Aptos"/>
              <a:ea typeface="+mn-lt"/>
              <a:cs typeface="+mn-lt"/>
            </a:endParaRPr>
          </a:p>
          <a:p>
            <a:pPr marL="560070" lvl="1" indent="-285750">
              <a:buFont typeface="Arial"/>
              <a:buChar char="•"/>
            </a:pPr>
            <a:r>
              <a:rPr lang="en-US" sz="2400" b="0" i="1" err="1">
                <a:latin typeface="Aptos"/>
                <a:ea typeface="+mn-lt"/>
                <a:cs typeface="+mn-lt"/>
              </a:rPr>
              <a:t>MedCLIP</a:t>
            </a:r>
            <a:r>
              <a:rPr lang="en-US" sz="2400" b="0" dirty="0">
                <a:latin typeface="Aptos"/>
                <a:ea typeface="+mn-lt"/>
                <a:cs typeface="+mn-lt"/>
              </a:rPr>
              <a:t> (Wang et al., 2022) — aligned medical images and reports using contrastive learning.</a:t>
            </a:r>
            <a:endParaRPr lang="en-US">
              <a:latin typeface="Aptos"/>
            </a:endParaRPr>
          </a:p>
          <a:p>
            <a:pPr marL="560070" lvl="1" indent="-285750">
              <a:buFont typeface="Arial"/>
              <a:buChar char="•"/>
            </a:pPr>
            <a:r>
              <a:rPr lang="en-US" sz="2400" b="0" i="1" dirty="0">
                <a:latin typeface="Aptos"/>
                <a:ea typeface="+mn-lt"/>
                <a:cs typeface="+mn-lt"/>
              </a:rPr>
              <a:t>RAIM</a:t>
            </a:r>
            <a:r>
              <a:rPr lang="en-US" sz="2400" b="0" dirty="0">
                <a:latin typeface="Aptos"/>
                <a:ea typeface="+mn-lt"/>
                <a:cs typeface="+mn-lt"/>
              </a:rPr>
              <a:t> (Qiao et al., 2019), </a:t>
            </a:r>
            <a:r>
              <a:rPr lang="en-US" sz="2400" b="0" i="1" err="1">
                <a:latin typeface="Aptos"/>
                <a:ea typeface="+mn-lt"/>
                <a:cs typeface="+mn-lt"/>
              </a:rPr>
              <a:t>GLoRIA</a:t>
            </a:r>
            <a:r>
              <a:rPr lang="en-US" sz="2400" b="0" dirty="0">
                <a:latin typeface="Aptos"/>
                <a:ea typeface="+mn-lt"/>
                <a:cs typeface="+mn-lt"/>
              </a:rPr>
              <a:t> (Huang et al., 2021) — combined text with numerical/image data using attention mechanisms.</a:t>
            </a:r>
            <a:endParaRPr lang="en-US">
              <a:latin typeface="Aptos"/>
            </a:endParaRPr>
          </a:p>
          <a:p>
            <a:pPr marL="560070" lvl="1" indent="-285750">
              <a:buFont typeface="Arial"/>
              <a:buChar char="•"/>
            </a:pPr>
            <a:r>
              <a:rPr lang="en-US" sz="2400" b="0" i="1" dirty="0">
                <a:latin typeface="Aptos"/>
                <a:ea typeface="+mn-lt"/>
                <a:cs typeface="+mn-lt"/>
              </a:rPr>
              <a:t>LDAM</a:t>
            </a:r>
            <a:r>
              <a:rPr lang="en-US" sz="2400" b="0" dirty="0">
                <a:latin typeface="Aptos"/>
                <a:ea typeface="+mn-lt"/>
                <a:cs typeface="+mn-lt"/>
              </a:rPr>
              <a:t> (Niu et al., 2021) — cross-attention with disease labels to fuse lab + note data.</a:t>
            </a:r>
            <a:endParaRPr lang="en-US">
              <a:latin typeface="Aptos"/>
            </a:endParaRPr>
          </a:p>
          <a:p>
            <a:pPr marL="560070" lvl="1" indent="-285750">
              <a:buFont typeface="Arial"/>
              <a:buChar char="•"/>
            </a:pPr>
            <a:r>
              <a:rPr lang="en-US" sz="2400" b="0" i="1" dirty="0">
                <a:latin typeface="Aptos"/>
                <a:ea typeface="+mn-lt"/>
                <a:cs typeface="+mn-lt"/>
              </a:rPr>
              <a:t>EHR-</a:t>
            </a:r>
            <a:r>
              <a:rPr lang="en-US" sz="2400" b="0" i="1" err="1">
                <a:latin typeface="Aptos"/>
                <a:ea typeface="+mn-lt"/>
                <a:cs typeface="+mn-lt"/>
              </a:rPr>
              <a:t>KnowGen</a:t>
            </a:r>
            <a:r>
              <a:rPr lang="en-US" sz="2400" b="0" dirty="0">
                <a:latin typeface="Aptos"/>
                <a:ea typeface="+mn-lt"/>
                <a:cs typeface="+mn-lt"/>
              </a:rPr>
              <a:t> (Niu et al., 2024a) — converted lab data to text and added external knowledge for fusion.</a:t>
            </a:r>
            <a:endParaRPr lang="en-US" sz="2400">
              <a:latin typeface="Aptos"/>
            </a:endParaRPr>
          </a:p>
          <a:p>
            <a:endParaRPr lang="en-US" dirty="0"/>
          </a:p>
        </p:txBody>
      </p:sp>
      <p:sp>
        <p:nvSpPr>
          <p:cNvPr id="4" name="Date Placeholder 3">
            <a:extLst>
              <a:ext uri="{FF2B5EF4-FFF2-40B4-BE49-F238E27FC236}">
                <a16:creationId xmlns:a16="http://schemas.microsoft.com/office/drawing/2014/main" id="{FA30BDA5-EDC6-6C0E-442D-EC95A5DF7A91}"/>
              </a:ext>
            </a:extLst>
          </p:cNvPr>
          <p:cNvSpPr>
            <a:spLocks noGrp="1"/>
          </p:cNvSpPr>
          <p:nvPr>
            <p:ph type="dt" sz="half" idx="10"/>
          </p:nvPr>
        </p:nvSpPr>
        <p:spPr/>
        <p:txBody>
          <a:bodyPr/>
          <a:lstStyle/>
          <a:p>
            <a:r>
              <a:rPr lang="en-US"/>
              <a:t>20XX</a:t>
            </a:r>
            <a:endParaRPr lang="en-US" dirty="0"/>
          </a:p>
        </p:txBody>
      </p:sp>
      <p:sp>
        <p:nvSpPr>
          <p:cNvPr id="5" name="Slide Number Placeholder 4">
            <a:extLst>
              <a:ext uri="{FF2B5EF4-FFF2-40B4-BE49-F238E27FC236}">
                <a16:creationId xmlns:a16="http://schemas.microsoft.com/office/drawing/2014/main" id="{A0E91DE4-0990-2BF6-CA15-FA7C74FA3AFB}"/>
              </a:ext>
            </a:extLst>
          </p:cNvPr>
          <p:cNvSpPr>
            <a:spLocks noGrp="1"/>
          </p:cNvSpPr>
          <p:nvPr>
            <p:ph type="sldNum" sz="quarter" idx="12"/>
          </p:nvPr>
        </p:nvSpPr>
        <p:spPr/>
        <p:txBody>
          <a:bodyPr/>
          <a:lstStyle/>
          <a:p>
            <a:fld id="{DBA1B0FB-D917-4C8C-928F-313BD683BF39}" type="slidenum">
              <a:rPr lang="en-US" smtClean="0"/>
              <a:t>5</a:t>
            </a:fld>
            <a:endParaRPr lang="en-US" dirty="0"/>
          </a:p>
        </p:txBody>
      </p:sp>
      <p:sp>
        <p:nvSpPr>
          <p:cNvPr id="7" name="TextBox 6">
            <a:extLst>
              <a:ext uri="{FF2B5EF4-FFF2-40B4-BE49-F238E27FC236}">
                <a16:creationId xmlns:a16="http://schemas.microsoft.com/office/drawing/2014/main" id="{B3A18770-BEF2-3B28-D66C-184EAAFCD28A}"/>
              </a:ext>
            </a:extLst>
          </p:cNvPr>
          <p:cNvSpPr txBox="1"/>
          <p:nvPr/>
        </p:nvSpPr>
        <p:spPr>
          <a:xfrm>
            <a:off x="6268528" y="1128623"/>
            <a:ext cx="5046453"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dirty="0"/>
          </a:p>
          <a:p>
            <a:pPr algn="ctr"/>
            <a:endParaRPr lang="en-US"/>
          </a:p>
        </p:txBody>
      </p:sp>
    </p:spTree>
    <p:extLst>
      <p:ext uri="{BB962C8B-B14F-4D97-AF65-F5344CB8AC3E}">
        <p14:creationId xmlns:p14="http://schemas.microsoft.com/office/powerpoint/2010/main" val="31831600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76BB8-A1EE-071C-22CD-80635BDA56A8}"/>
              </a:ext>
            </a:extLst>
          </p:cNvPr>
          <p:cNvSpPr>
            <a:spLocks noGrp="1"/>
          </p:cNvSpPr>
          <p:nvPr>
            <p:ph type="title"/>
          </p:nvPr>
        </p:nvSpPr>
        <p:spPr>
          <a:xfrm>
            <a:off x="550863" y="785849"/>
            <a:ext cx="11090275" cy="562626"/>
          </a:xfrm>
        </p:spPr>
        <p:txBody>
          <a:bodyPr>
            <a:normAutofit/>
          </a:bodyPr>
          <a:lstStyle/>
          <a:p>
            <a:r>
              <a:rPr lang="en-US" sz="3000" dirty="0">
                <a:latin typeface="Walbaum Display Light"/>
              </a:rPr>
              <a:t>Healthcare with Large Language Models</a:t>
            </a:r>
          </a:p>
        </p:txBody>
      </p:sp>
      <p:sp>
        <p:nvSpPr>
          <p:cNvPr id="3" name="Content Placeholder 2">
            <a:extLst>
              <a:ext uri="{FF2B5EF4-FFF2-40B4-BE49-F238E27FC236}">
                <a16:creationId xmlns:a16="http://schemas.microsoft.com/office/drawing/2014/main" id="{837B70F5-F9F1-C06E-C030-F543A533B71D}"/>
              </a:ext>
            </a:extLst>
          </p:cNvPr>
          <p:cNvSpPr>
            <a:spLocks noGrp="1"/>
          </p:cNvSpPr>
          <p:nvPr>
            <p:ph sz="quarter" idx="13"/>
          </p:nvPr>
        </p:nvSpPr>
        <p:spPr>
          <a:xfrm>
            <a:off x="550863" y="1361282"/>
            <a:ext cx="11090274" cy="4576144"/>
          </a:xfrm>
        </p:spPr>
        <p:txBody>
          <a:bodyPr vert="horz" lIns="91440" tIns="45720" rIns="91440" bIns="45720" rtlCol="0" anchor="t">
            <a:normAutofit lnSpcReduction="10000"/>
          </a:bodyPr>
          <a:lstStyle/>
          <a:p>
            <a:pPr>
              <a:lnSpc>
                <a:spcPct val="100000"/>
              </a:lnSpc>
              <a:spcBef>
                <a:spcPts val="0"/>
              </a:spcBef>
            </a:pPr>
            <a:br>
              <a:rPr lang="en-US" b="1" dirty="0"/>
            </a:br>
            <a:endParaRPr lang="en-US" sz="2400"/>
          </a:p>
          <a:p>
            <a:pPr marL="228600" indent="-228600">
              <a:lnSpc>
                <a:spcPct val="100000"/>
              </a:lnSpc>
              <a:spcBef>
                <a:spcPts val="0"/>
              </a:spcBef>
              <a:buFont typeface="Arial"/>
              <a:buChar char="•"/>
            </a:pPr>
            <a:r>
              <a:rPr lang="en-US" sz="2400" b="1" dirty="0"/>
              <a:t>LLMs (Large Language Models)</a:t>
            </a:r>
            <a:r>
              <a:rPr lang="en-US" sz="2400" dirty="0"/>
              <a:t> have revolutionized reasoning and generation in medicine.</a:t>
            </a:r>
            <a:endParaRPr lang="en-US" sz="2400"/>
          </a:p>
          <a:p>
            <a:pPr marL="228600" indent="-228600">
              <a:lnSpc>
                <a:spcPct val="100000"/>
              </a:lnSpc>
              <a:spcBef>
                <a:spcPts val="0"/>
              </a:spcBef>
              <a:buFont typeface="Arial"/>
              <a:buChar char="•"/>
            </a:pPr>
            <a:endParaRPr lang="en-US" sz="2400" dirty="0"/>
          </a:p>
          <a:p>
            <a:pPr>
              <a:lnSpc>
                <a:spcPct val="100000"/>
              </a:lnSpc>
              <a:spcBef>
                <a:spcPts val="0"/>
              </a:spcBef>
            </a:pPr>
            <a:r>
              <a:rPr lang="en-US" sz="2400" b="1" dirty="0"/>
              <a:t>Past Models:</a:t>
            </a:r>
            <a:endParaRPr lang="en-US" sz="2400" dirty="0"/>
          </a:p>
          <a:p>
            <a:pPr marL="228600" indent="-228600">
              <a:lnSpc>
                <a:spcPct val="100000"/>
              </a:lnSpc>
              <a:spcBef>
                <a:spcPts val="0"/>
              </a:spcBef>
              <a:buFont typeface="Arial"/>
              <a:buChar char="•"/>
            </a:pPr>
            <a:r>
              <a:rPr lang="en-US" sz="2400" i="1" dirty="0"/>
              <a:t>Clinical </a:t>
            </a:r>
            <a:r>
              <a:rPr lang="en-US" sz="2400" i="1" err="1"/>
              <a:t>CoT</a:t>
            </a:r>
            <a:r>
              <a:rPr lang="en-US" sz="2400" i="1" dirty="0"/>
              <a:t> (Kwon et al., 2024)</a:t>
            </a:r>
            <a:r>
              <a:rPr lang="en-US" sz="2400" dirty="0"/>
              <a:t> → used chain-of-thought for diagnostic reasoning.</a:t>
            </a:r>
            <a:endParaRPr lang="en-US" sz="2400"/>
          </a:p>
          <a:p>
            <a:pPr>
              <a:lnSpc>
                <a:spcPct val="100000"/>
              </a:lnSpc>
              <a:spcBef>
                <a:spcPts val="0"/>
              </a:spcBef>
            </a:pPr>
            <a:endParaRPr lang="en-US" sz="2400" dirty="0"/>
          </a:p>
          <a:p>
            <a:pPr marL="228600" indent="-228600">
              <a:lnSpc>
                <a:spcPct val="100000"/>
              </a:lnSpc>
              <a:spcBef>
                <a:spcPts val="0"/>
              </a:spcBef>
              <a:buFont typeface="Arial"/>
              <a:buChar char="•"/>
            </a:pPr>
            <a:r>
              <a:rPr lang="en-US" sz="2400" i="1" err="1"/>
              <a:t>GatorTron</a:t>
            </a:r>
            <a:r>
              <a:rPr lang="en-US" sz="2400" dirty="0"/>
              <a:t>, </a:t>
            </a:r>
            <a:r>
              <a:rPr lang="en-US" sz="2400" i="1" err="1"/>
              <a:t>MedPalm</a:t>
            </a:r>
            <a:r>
              <a:rPr lang="en-US" sz="2400" dirty="0"/>
              <a:t>, </a:t>
            </a:r>
            <a:r>
              <a:rPr lang="en-US" sz="2400" i="1" dirty="0"/>
              <a:t>GPT4-Med</a:t>
            </a:r>
            <a:r>
              <a:rPr lang="en-US" sz="2400" dirty="0"/>
              <a:t> → improved QA and reasoning via RLHF and </a:t>
            </a:r>
            <a:r>
              <a:rPr lang="en-US" sz="2400" err="1"/>
              <a:t>CoT</a:t>
            </a:r>
            <a:r>
              <a:rPr lang="en-US" sz="2400" dirty="0"/>
              <a:t> prompting.</a:t>
            </a:r>
            <a:endParaRPr lang="en-US" sz="2400"/>
          </a:p>
          <a:p>
            <a:pPr>
              <a:lnSpc>
                <a:spcPct val="100000"/>
              </a:lnSpc>
              <a:spcBef>
                <a:spcPts val="0"/>
              </a:spcBef>
            </a:pPr>
            <a:endParaRPr lang="en-US" sz="2400" dirty="0"/>
          </a:p>
          <a:p>
            <a:pPr marL="228600" indent="-228600">
              <a:lnSpc>
                <a:spcPct val="100000"/>
              </a:lnSpc>
              <a:spcBef>
                <a:spcPts val="0"/>
              </a:spcBef>
              <a:buFont typeface="Arial"/>
              <a:buChar char="•"/>
            </a:pPr>
            <a:r>
              <a:rPr lang="en-US" sz="2400" b="1" dirty="0"/>
              <a:t>Limitation:</a:t>
            </a:r>
            <a:r>
              <a:rPr lang="en-US" sz="2400" dirty="0"/>
              <a:t> Most focus on </a:t>
            </a:r>
            <a:r>
              <a:rPr lang="en-US" sz="2400" i="1" dirty="0"/>
              <a:t>text-only</a:t>
            </a:r>
            <a:r>
              <a:rPr lang="en-US" sz="2400" dirty="0"/>
              <a:t> reasoning; they can’t process time-series or structured EHR data effectively.</a:t>
            </a:r>
            <a:endParaRPr lang="en-US" sz="2400"/>
          </a:p>
        </p:txBody>
      </p:sp>
      <p:sp>
        <p:nvSpPr>
          <p:cNvPr id="4" name="Date Placeholder 3">
            <a:extLst>
              <a:ext uri="{FF2B5EF4-FFF2-40B4-BE49-F238E27FC236}">
                <a16:creationId xmlns:a16="http://schemas.microsoft.com/office/drawing/2014/main" id="{3BDC2F39-8D23-A4A5-B71E-14877026C802}"/>
              </a:ext>
            </a:extLst>
          </p:cNvPr>
          <p:cNvSpPr>
            <a:spLocks noGrp="1"/>
          </p:cNvSpPr>
          <p:nvPr>
            <p:ph type="dt" sz="half" idx="10"/>
          </p:nvPr>
        </p:nvSpPr>
        <p:spPr/>
        <p:txBody>
          <a:bodyPr/>
          <a:lstStyle/>
          <a:p>
            <a:r>
              <a:rPr lang="en-US"/>
              <a:t>20XX</a:t>
            </a:r>
            <a:endParaRPr lang="en-US" dirty="0"/>
          </a:p>
        </p:txBody>
      </p:sp>
      <p:sp>
        <p:nvSpPr>
          <p:cNvPr id="5" name="Slide Number Placeholder 4">
            <a:extLst>
              <a:ext uri="{FF2B5EF4-FFF2-40B4-BE49-F238E27FC236}">
                <a16:creationId xmlns:a16="http://schemas.microsoft.com/office/drawing/2014/main" id="{691BAFF2-880A-5522-B852-215C36C21DC2}"/>
              </a:ext>
            </a:extLst>
          </p:cNvPr>
          <p:cNvSpPr>
            <a:spLocks noGrp="1"/>
          </p:cNvSpPr>
          <p:nvPr>
            <p:ph type="sldNum" sz="quarter" idx="12"/>
          </p:nvPr>
        </p:nvSpPr>
        <p:spPr/>
        <p:txBody>
          <a:bodyPr/>
          <a:lstStyle/>
          <a:p>
            <a:fld id="{DBA1B0FB-D917-4C8C-928F-313BD683BF39}" type="slidenum">
              <a:rPr lang="en-US" smtClean="0"/>
              <a:t>6</a:t>
            </a:fld>
            <a:endParaRPr lang="en-US" dirty="0"/>
          </a:p>
        </p:txBody>
      </p:sp>
    </p:spTree>
    <p:extLst>
      <p:ext uri="{BB962C8B-B14F-4D97-AF65-F5344CB8AC3E}">
        <p14:creationId xmlns:p14="http://schemas.microsoft.com/office/powerpoint/2010/main" val="17617230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54CF78-C17C-8504-600D-03324C8B530A}"/>
              </a:ext>
            </a:extLst>
          </p:cNvPr>
          <p:cNvSpPr>
            <a:spLocks noGrp="1"/>
          </p:cNvSpPr>
          <p:nvPr>
            <p:ph type="title"/>
          </p:nvPr>
        </p:nvSpPr>
        <p:spPr>
          <a:xfrm>
            <a:off x="1241508" y="1724501"/>
            <a:ext cx="3011265" cy="1922802"/>
          </a:xfrm>
        </p:spPr>
        <p:txBody>
          <a:bodyPr>
            <a:normAutofit/>
          </a:bodyPr>
          <a:lstStyle/>
          <a:p>
            <a:r>
              <a:rPr lang="en-US" cap="none" dirty="0">
                <a:latin typeface="Walbaum Display Light"/>
              </a:rPr>
              <a:t>Overview of </a:t>
            </a:r>
            <a:r>
              <a:rPr lang="en-US" cap="none" dirty="0" err="1">
                <a:latin typeface="Walbaum Display Light"/>
              </a:rPr>
              <a:t>ProMedTS</a:t>
            </a:r>
            <a:r>
              <a:rPr lang="en-US" cap="none" dirty="0">
                <a:latin typeface="Walbaum Display Light"/>
              </a:rPr>
              <a:t> Framework</a:t>
            </a:r>
            <a:endParaRPr lang="en-US" i="1" dirty="0">
              <a:latin typeface="Walbaum Display Light"/>
            </a:endParaRPr>
          </a:p>
        </p:txBody>
      </p:sp>
      <p:sp>
        <p:nvSpPr>
          <p:cNvPr id="9" name="Content Placeholder 8">
            <a:extLst>
              <a:ext uri="{FF2B5EF4-FFF2-40B4-BE49-F238E27FC236}">
                <a16:creationId xmlns:a16="http://schemas.microsoft.com/office/drawing/2014/main" id="{27114168-B232-F5F0-7858-A1B8DB0915CC}"/>
              </a:ext>
            </a:extLst>
          </p:cNvPr>
          <p:cNvSpPr>
            <a:spLocks noGrp="1"/>
          </p:cNvSpPr>
          <p:nvPr>
            <p:ph sz="half" idx="1"/>
          </p:nvPr>
        </p:nvSpPr>
        <p:spPr>
          <a:xfrm>
            <a:off x="6301305" y="1318114"/>
            <a:ext cx="5339397" cy="4642631"/>
          </a:xfrm>
        </p:spPr>
        <p:txBody>
          <a:bodyPr vert="horz" lIns="91440" tIns="45720" rIns="91440" bIns="45720" rtlCol="0" anchor="t">
            <a:noAutofit/>
          </a:bodyPr>
          <a:lstStyle/>
          <a:p>
            <a:r>
              <a:rPr lang="en-US" sz="2400" b="1" dirty="0">
                <a:latin typeface="Aptos"/>
                <a:ea typeface="+mn-lt"/>
                <a:cs typeface="+mn-lt"/>
              </a:rPr>
              <a:t>Key Points:</a:t>
            </a:r>
            <a:endParaRPr lang="en-US" sz="2400" dirty="0">
              <a:latin typeface="Aptos"/>
              <a:ea typeface="+mn-lt"/>
              <a:cs typeface="+mn-lt"/>
            </a:endParaRPr>
          </a:p>
          <a:p>
            <a:pPr marL="285750" indent="-285750">
              <a:buFont typeface="Arial"/>
              <a:buChar char="•"/>
            </a:pPr>
            <a:r>
              <a:rPr lang="en-US" sz="2400" dirty="0">
                <a:latin typeface="Aptos"/>
                <a:ea typeface="+mn-lt"/>
                <a:cs typeface="+mn-lt"/>
              </a:rPr>
              <a:t>A self-supervised, prompt-guided multimodal model.</a:t>
            </a:r>
          </a:p>
          <a:p>
            <a:pPr marL="285750" indent="-285750">
              <a:buFont typeface="Arial"/>
              <a:buChar char="•"/>
            </a:pPr>
            <a:r>
              <a:rPr lang="en-US" sz="2400" dirty="0">
                <a:latin typeface="Aptos"/>
                <a:ea typeface="+mn-lt"/>
                <a:cs typeface="+mn-lt"/>
              </a:rPr>
              <a:t>Converts lab time-series into </a:t>
            </a:r>
            <a:r>
              <a:rPr lang="en-US" sz="2400" b="1" dirty="0">
                <a:latin typeface="Aptos"/>
                <a:ea typeface="+mn-lt"/>
                <a:cs typeface="+mn-lt"/>
              </a:rPr>
              <a:t>anomaly text prompts</a:t>
            </a:r>
            <a:r>
              <a:rPr lang="en-US" sz="2400" dirty="0">
                <a:latin typeface="Aptos"/>
                <a:ea typeface="+mn-lt"/>
                <a:cs typeface="+mn-lt"/>
              </a:rPr>
              <a:t>.</a:t>
            </a:r>
          </a:p>
          <a:p>
            <a:pPr marL="285750" indent="-285750">
              <a:buFont typeface="Arial"/>
              <a:buChar char="•"/>
            </a:pPr>
            <a:r>
              <a:rPr lang="en-US" sz="2400" dirty="0">
                <a:latin typeface="Aptos"/>
                <a:ea typeface="+mn-lt"/>
                <a:cs typeface="+mn-lt"/>
              </a:rPr>
              <a:t>Aligns clinical notes and lab patterns using self-supervised learning.</a:t>
            </a:r>
          </a:p>
          <a:p>
            <a:pPr marL="285750" indent="-285750">
              <a:buFont typeface="Arial"/>
              <a:buChar char="•"/>
            </a:pPr>
            <a:r>
              <a:rPr lang="en-US" sz="2400" dirty="0">
                <a:latin typeface="Aptos"/>
                <a:ea typeface="+mn-lt"/>
                <a:cs typeface="+mn-lt"/>
              </a:rPr>
              <a:t>Allows an LLM to process both text and numeric data simultaneously.</a:t>
            </a:r>
            <a:endParaRPr lang="en-US" sz="2400">
              <a:latin typeface="Aptos"/>
            </a:endParaRPr>
          </a:p>
          <a:p>
            <a:endParaRPr lang="en-US" dirty="0"/>
          </a:p>
        </p:txBody>
      </p:sp>
      <p:sp>
        <p:nvSpPr>
          <p:cNvPr id="5" name="Date Placeholder 4">
            <a:extLst>
              <a:ext uri="{FF2B5EF4-FFF2-40B4-BE49-F238E27FC236}">
                <a16:creationId xmlns:a16="http://schemas.microsoft.com/office/drawing/2014/main" id="{0AEDFEE8-6EED-9F18-4CB8-0410874A259B}"/>
              </a:ext>
            </a:extLst>
          </p:cNvPr>
          <p:cNvSpPr>
            <a:spLocks noGrp="1"/>
          </p:cNvSpPr>
          <p:nvPr>
            <p:ph type="dt" sz="half" idx="10"/>
          </p:nvPr>
        </p:nvSpPr>
        <p:spPr/>
        <p:txBody>
          <a:bodyPr/>
          <a:lstStyle/>
          <a:p>
            <a:r>
              <a:rPr lang="en-US"/>
              <a:t>20XX</a:t>
            </a:r>
            <a:endParaRPr lang="en-US" dirty="0"/>
          </a:p>
        </p:txBody>
      </p:sp>
      <p:sp>
        <p:nvSpPr>
          <p:cNvPr id="6" name="Slide Number Placeholder 5">
            <a:extLst>
              <a:ext uri="{FF2B5EF4-FFF2-40B4-BE49-F238E27FC236}">
                <a16:creationId xmlns:a16="http://schemas.microsoft.com/office/drawing/2014/main" id="{635B2A12-0022-8CDD-4B17-B6728BCF6D7F}"/>
              </a:ext>
            </a:extLst>
          </p:cNvPr>
          <p:cNvSpPr>
            <a:spLocks noGrp="1"/>
          </p:cNvSpPr>
          <p:nvPr>
            <p:ph type="sldNum" sz="quarter" idx="12"/>
          </p:nvPr>
        </p:nvSpPr>
        <p:spPr/>
        <p:txBody>
          <a:bodyPr/>
          <a:lstStyle/>
          <a:p>
            <a:fld id="{DBA1B0FB-D917-4C8C-928F-313BD683BF39}" type="slidenum">
              <a:rPr lang="en-US" smtClean="0"/>
              <a:t>7</a:t>
            </a:fld>
            <a:endParaRPr lang="en-US" dirty="0"/>
          </a:p>
        </p:txBody>
      </p:sp>
    </p:spTree>
    <p:extLst>
      <p:ext uri="{BB962C8B-B14F-4D97-AF65-F5344CB8AC3E}">
        <p14:creationId xmlns:p14="http://schemas.microsoft.com/office/powerpoint/2010/main" val="42185839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E8B429-99A2-6DFA-6E4B-2F5035DF2D22}"/>
              </a:ext>
            </a:extLst>
          </p:cNvPr>
          <p:cNvSpPr>
            <a:spLocks noGrp="1"/>
          </p:cNvSpPr>
          <p:nvPr>
            <p:ph type="title"/>
          </p:nvPr>
        </p:nvSpPr>
        <p:spPr>
          <a:xfrm>
            <a:off x="579616" y="498474"/>
            <a:ext cx="10088271" cy="1450217"/>
          </a:xfrm>
        </p:spPr>
        <p:txBody>
          <a:bodyPr>
            <a:normAutofit/>
          </a:bodyPr>
          <a:lstStyle/>
          <a:p>
            <a:r>
              <a:rPr lang="en-US" b="1" dirty="0">
                <a:latin typeface="Walbaum Display Light"/>
                <a:ea typeface="+mj-lt"/>
                <a:cs typeface="+mj-lt"/>
              </a:rPr>
              <a:t>Time-Series Prompt Embedding (TSPE)</a:t>
            </a:r>
            <a:endParaRPr lang="en-US" b="1" dirty="0">
              <a:latin typeface="Walbaum Display Light"/>
            </a:endParaRPr>
          </a:p>
        </p:txBody>
      </p:sp>
      <p:sp>
        <p:nvSpPr>
          <p:cNvPr id="3" name="Content Placeholder 2">
            <a:extLst>
              <a:ext uri="{FF2B5EF4-FFF2-40B4-BE49-F238E27FC236}">
                <a16:creationId xmlns:a16="http://schemas.microsoft.com/office/drawing/2014/main" id="{CDB03871-A465-8E79-3C9C-3A7C62FC21FE}"/>
              </a:ext>
            </a:extLst>
          </p:cNvPr>
          <p:cNvSpPr>
            <a:spLocks noGrp="1"/>
          </p:cNvSpPr>
          <p:nvPr>
            <p:ph idx="1"/>
          </p:nvPr>
        </p:nvSpPr>
        <p:spPr>
          <a:xfrm>
            <a:off x="581343" y="1221089"/>
            <a:ext cx="6779751" cy="1880531"/>
          </a:xfrm>
        </p:spPr>
        <p:txBody>
          <a:bodyPr vert="horz" lIns="91440" tIns="45720" rIns="91440" bIns="45720" rtlCol="0" anchor="t">
            <a:noAutofit/>
          </a:bodyPr>
          <a:lstStyle/>
          <a:p>
            <a:r>
              <a:rPr lang="en-US" sz="2400" dirty="0">
                <a:latin typeface="Aptos"/>
                <a:ea typeface="+mn-lt"/>
                <a:cs typeface="+mn-lt"/>
              </a:rPr>
              <a:t>Uses </a:t>
            </a:r>
            <a:r>
              <a:rPr lang="en-US" sz="2400" b="1" err="1">
                <a:latin typeface="Aptos"/>
                <a:ea typeface="+mn-lt"/>
                <a:cs typeface="+mn-lt"/>
              </a:rPr>
              <a:t>PatchTST</a:t>
            </a:r>
            <a:r>
              <a:rPr lang="en-US" sz="2400" dirty="0">
                <a:latin typeface="Aptos"/>
                <a:ea typeface="+mn-lt"/>
                <a:cs typeface="+mn-lt"/>
              </a:rPr>
              <a:t> for time-series encoding.</a:t>
            </a:r>
          </a:p>
          <a:p>
            <a:r>
              <a:rPr lang="en-US" sz="2400" dirty="0">
                <a:latin typeface="Aptos"/>
                <a:ea typeface="+mn-lt"/>
                <a:cs typeface="+mn-lt"/>
              </a:rPr>
              <a:t>Applies </a:t>
            </a:r>
            <a:r>
              <a:rPr lang="en-US" sz="2400" b="1" dirty="0">
                <a:latin typeface="Aptos"/>
                <a:ea typeface="+mn-lt"/>
                <a:cs typeface="+mn-lt"/>
              </a:rPr>
              <a:t>Clinical-BERT</a:t>
            </a:r>
            <a:r>
              <a:rPr lang="en-US" sz="2400" dirty="0">
                <a:latin typeface="Aptos"/>
                <a:ea typeface="+mn-lt"/>
                <a:cs typeface="+mn-lt"/>
              </a:rPr>
              <a:t> as query encoder.</a:t>
            </a:r>
          </a:p>
          <a:p>
            <a:r>
              <a:rPr lang="en-US" sz="2400" dirty="0">
                <a:latin typeface="Aptos"/>
                <a:ea typeface="+mn-lt"/>
                <a:cs typeface="+mn-lt"/>
              </a:rPr>
              <a:t>Outputs </a:t>
            </a:r>
            <a:r>
              <a:rPr lang="en-US" sz="2400" b="1" dirty="0">
                <a:latin typeface="Aptos"/>
                <a:ea typeface="+mn-lt"/>
                <a:cs typeface="+mn-lt"/>
              </a:rPr>
              <a:t>prompt embeddings (T)</a:t>
            </a:r>
            <a:r>
              <a:rPr lang="en-US" sz="2400" dirty="0">
                <a:latin typeface="Aptos"/>
                <a:ea typeface="+mn-lt"/>
                <a:cs typeface="+mn-lt"/>
              </a:rPr>
              <a:t> to feed the LLM.</a:t>
            </a:r>
            <a:endParaRPr lang="en-US" sz="2400">
              <a:latin typeface="Aptos"/>
            </a:endParaRPr>
          </a:p>
          <a:p>
            <a:endParaRPr lang="en-US" dirty="0"/>
          </a:p>
        </p:txBody>
      </p:sp>
      <p:sp>
        <p:nvSpPr>
          <p:cNvPr id="4" name="Date Placeholder 3">
            <a:extLst>
              <a:ext uri="{FF2B5EF4-FFF2-40B4-BE49-F238E27FC236}">
                <a16:creationId xmlns:a16="http://schemas.microsoft.com/office/drawing/2014/main" id="{505D68B6-774B-492D-1719-5C5D5414C2C1}"/>
              </a:ext>
            </a:extLst>
          </p:cNvPr>
          <p:cNvSpPr>
            <a:spLocks noGrp="1"/>
          </p:cNvSpPr>
          <p:nvPr>
            <p:ph type="dt" sz="half" idx="10"/>
          </p:nvPr>
        </p:nvSpPr>
        <p:spPr/>
        <p:txBody>
          <a:bodyPr/>
          <a:lstStyle/>
          <a:p>
            <a:r>
              <a:rPr lang="en-US"/>
              <a:t>20XX</a:t>
            </a:r>
            <a:endParaRPr lang="en-US" dirty="0"/>
          </a:p>
        </p:txBody>
      </p:sp>
      <p:sp>
        <p:nvSpPr>
          <p:cNvPr id="5" name="Slide Number Placeholder 4">
            <a:extLst>
              <a:ext uri="{FF2B5EF4-FFF2-40B4-BE49-F238E27FC236}">
                <a16:creationId xmlns:a16="http://schemas.microsoft.com/office/drawing/2014/main" id="{CA294BC9-1CA5-78D2-3F39-04B1323E6272}"/>
              </a:ext>
            </a:extLst>
          </p:cNvPr>
          <p:cNvSpPr>
            <a:spLocks noGrp="1"/>
          </p:cNvSpPr>
          <p:nvPr>
            <p:ph type="sldNum" sz="quarter" idx="12"/>
          </p:nvPr>
        </p:nvSpPr>
        <p:spPr/>
        <p:txBody>
          <a:bodyPr/>
          <a:lstStyle/>
          <a:p>
            <a:fld id="{DBA1B0FB-D917-4C8C-928F-313BD683BF39}" type="slidenum">
              <a:rPr lang="en-US" smtClean="0"/>
              <a:t>8</a:t>
            </a:fld>
            <a:endParaRPr lang="en-US" dirty="0"/>
          </a:p>
        </p:txBody>
      </p:sp>
      <p:sp>
        <p:nvSpPr>
          <p:cNvPr id="6" name="TextBox 5">
            <a:extLst>
              <a:ext uri="{FF2B5EF4-FFF2-40B4-BE49-F238E27FC236}">
                <a16:creationId xmlns:a16="http://schemas.microsoft.com/office/drawing/2014/main" id="{436836F4-D328-C029-F879-061B9921609C}"/>
              </a:ext>
            </a:extLst>
          </p:cNvPr>
          <p:cNvSpPr txBox="1"/>
          <p:nvPr/>
        </p:nvSpPr>
        <p:spPr>
          <a:xfrm>
            <a:off x="576906" y="3607446"/>
            <a:ext cx="11524020"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000" b="1" dirty="0">
                <a:latin typeface="Walbaum Display Light"/>
              </a:rPr>
              <a:t>Multimodal Textual Information Fusion (MTIF)</a:t>
            </a:r>
            <a:endParaRPr lang="en-US" dirty="0"/>
          </a:p>
        </p:txBody>
      </p:sp>
      <p:sp>
        <p:nvSpPr>
          <p:cNvPr id="7" name="TextBox 6">
            <a:extLst>
              <a:ext uri="{FF2B5EF4-FFF2-40B4-BE49-F238E27FC236}">
                <a16:creationId xmlns:a16="http://schemas.microsoft.com/office/drawing/2014/main" id="{7002FE32-645A-BC49-2C47-2362255C7719}"/>
              </a:ext>
            </a:extLst>
          </p:cNvPr>
          <p:cNvSpPr txBox="1"/>
          <p:nvPr/>
        </p:nvSpPr>
        <p:spPr>
          <a:xfrm>
            <a:off x="855675" y="4347384"/>
            <a:ext cx="10212904" cy="15696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Combining Notes and Anomaly Descriptions</a:t>
            </a:r>
            <a:endParaRPr lang="en-US" sz="2400"/>
          </a:p>
          <a:p>
            <a:pPr marL="285750" indent="-285750">
              <a:buFont typeface="Arial,Sans-Serif"/>
              <a:buChar char="•"/>
            </a:pPr>
            <a:r>
              <a:rPr lang="en-US" sz="2400" dirty="0"/>
              <a:t>Merges clinical notes (M) and anomaly captions (C).</a:t>
            </a:r>
            <a:endParaRPr lang="en-US" sz="2400"/>
          </a:p>
          <a:p>
            <a:pPr marL="285750" indent="-285750">
              <a:buFont typeface="Arial,Sans-Serif"/>
              <a:buChar char="•"/>
            </a:pPr>
            <a:r>
              <a:rPr lang="en-US" sz="2400" dirty="0"/>
              <a:t>Encoded using Clinical-BERT.</a:t>
            </a:r>
          </a:p>
          <a:p>
            <a:pPr marL="285750" indent="-285750">
              <a:buFont typeface="Arial,Sans-Serif"/>
              <a:buChar char="•"/>
            </a:pPr>
            <a:r>
              <a:rPr lang="en-US" sz="2400" dirty="0"/>
              <a:t>Produces a unified textual embedding (Ef).</a:t>
            </a:r>
            <a:endParaRPr lang="en-US" dirty="0"/>
          </a:p>
        </p:txBody>
      </p:sp>
    </p:spTree>
    <p:extLst>
      <p:ext uri="{BB962C8B-B14F-4D97-AF65-F5344CB8AC3E}">
        <p14:creationId xmlns:p14="http://schemas.microsoft.com/office/powerpoint/2010/main" val="6233387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diagram of a computer program&#10;&#10;AI-generated content may be incorrect.">
            <a:extLst>
              <a:ext uri="{FF2B5EF4-FFF2-40B4-BE49-F238E27FC236}">
                <a16:creationId xmlns:a16="http://schemas.microsoft.com/office/drawing/2014/main" id="{4B91DC99-87B3-E494-1B80-B7F52580BA90}"/>
              </a:ext>
            </a:extLst>
          </p:cNvPr>
          <p:cNvPicPr>
            <a:picLocks noChangeAspect="1"/>
          </p:cNvPicPr>
          <p:nvPr/>
        </p:nvPicPr>
        <p:blipFill>
          <a:blip r:embed="rId3"/>
          <a:stretch>
            <a:fillRect/>
          </a:stretch>
        </p:blipFill>
        <p:spPr>
          <a:xfrm>
            <a:off x="865281" y="68263"/>
            <a:ext cx="10461438" cy="6721475"/>
          </a:xfrm>
          <a:prstGeom prst="rect">
            <a:avLst/>
          </a:prstGeom>
          <a:noFill/>
        </p:spPr>
      </p:pic>
      <p:sp>
        <p:nvSpPr>
          <p:cNvPr id="2" name="Date Placeholder 1" hidden="1">
            <a:extLst>
              <a:ext uri="{FF2B5EF4-FFF2-40B4-BE49-F238E27FC236}">
                <a16:creationId xmlns:a16="http://schemas.microsoft.com/office/drawing/2014/main" id="{0336F923-3B28-BB95-3A42-5C4DA69FE89F}"/>
              </a:ext>
            </a:extLst>
          </p:cNvPr>
          <p:cNvSpPr>
            <a:spLocks noGrp="1"/>
          </p:cNvSpPr>
          <p:nvPr>
            <p:ph type="dt" sz="half" idx="10"/>
          </p:nvPr>
        </p:nvSpPr>
        <p:spPr/>
        <p:txBody>
          <a:bodyPr/>
          <a:lstStyle/>
          <a:p>
            <a:pPr>
              <a:spcAft>
                <a:spcPts val="600"/>
              </a:spcAft>
            </a:pPr>
            <a:fld id="{921545DB-EC4B-4E26-A349-686FCD2754E7}" type="datetime1">
              <a:rPr lang="en-US"/>
              <a:pPr>
                <a:spcAft>
                  <a:spcPts val="600"/>
                </a:spcAft>
              </a:pPr>
              <a:t>9/29/2026</a:t>
            </a:fld>
            <a:endParaRPr lang="en-US"/>
          </a:p>
        </p:txBody>
      </p:sp>
      <p:sp>
        <p:nvSpPr>
          <p:cNvPr id="3" name="Slide Number Placeholder 2" hidden="1">
            <a:extLst>
              <a:ext uri="{FF2B5EF4-FFF2-40B4-BE49-F238E27FC236}">
                <a16:creationId xmlns:a16="http://schemas.microsoft.com/office/drawing/2014/main" id="{ED077AB7-1ED7-13BD-9C9B-6295E1EEF36F}"/>
              </a:ext>
            </a:extLst>
          </p:cNvPr>
          <p:cNvSpPr>
            <a:spLocks noGrp="1"/>
          </p:cNvSpPr>
          <p:nvPr>
            <p:ph type="sldNum" sz="quarter" idx="12"/>
          </p:nvPr>
        </p:nvSpPr>
        <p:spPr/>
        <p:txBody>
          <a:bodyPr/>
          <a:lstStyle/>
          <a:p>
            <a:pPr>
              <a:spcAft>
                <a:spcPts val="600"/>
              </a:spcAft>
            </a:pPr>
            <a:fld id="{196A61CA-0502-4EE4-9724-96EA822543E5}" type="slidenum">
              <a:rPr lang="en-US" dirty="0"/>
              <a:pPr>
                <a:spcAft>
                  <a:spcPts val="600"/>
                </a:spcAft>
              </a:pPr>
              <a:t>9</a:t>
            </a:fld>
            <a:endParaRPr lang="en-US"/>
          </a:p>
        </p:txBody>
      </p:sp>
    </p:spTree>
    <p:extLst>
      <p:ext uri="{BB962C8B-B14F-4D97-AF65-F5344CB8AC3E}">
        <p14:creationId xmlns:p14="http://schemas.microsoft.com/office/powerpoint/2010/main" val="29521763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A714D681-1A7D-D133-C0B1-2127487E2023}"/>
              </a:ext>
            </a:extLst>
          </p:cNvPr>
          <p:cNvSpPr txBox="1"/>
          <p:nvPr/>
        </p:nvSpPr>
        <p:spPr>
          <a:xfrm>
            <a:off x="550863" y="488315"/>
            <a:ext cx="11090274" cy="1332000"/>
          </a:xfrm>
          <a:prstGeom prst="rect">
            <a:avLst/>
          </a:prstGeom>
        </p:spPr>
        <p:txBody>
          <a:bodyPr rot="0" spcFirstLastPara="0" vertOverflow="overflow" horzOverflow="overflow" vert="horz" lIns="91440" tIns="45720" rIns="91440" bIns="45720" numCol="1" spcCol="0" rtlCol="0" fromWordArt="0" anchor="ctr" anchorCtr="0" forceAA="0" compatLnSpc="1">
            <a:prstTxWarp prst="textNoShape">
              <a:avLst/>
            </a:prstTxWarp>
            <a:normAutofit/>
          </a:bodyPr>
          <a:lstStyle/>
          <a:p>
            <a:pPr>
              <a:spcBef>
                <a:spcPct val="0"/>
              </a:spcBef>
              <a:spcAft>
                <a:spcPts val="600"/>
              </a:spcAft>
            </a:pPr>
            <a:r>
              <a:rPr lang="en-US" sz="4000" b="1" kern="1200">
                <a:latin typeface="+mj-lt"/>
                <a:ea typeface="+mj-ea"/>
                <a:cs typeface="+mj-cs"/>
              </a:rPr>
              <a:t>Self-Supervised Learning (SSL)</a:t>
            </a:r>
          </a:p>
        </p:txBody>
      </p:sp>
      <p:sp>
        <p:nvSpPr>
          <p:cNvPr id="10" name="TextBox 9">
            <a:extLst>
              <a:ext uri="{FF2B5EF4-FFF2-40B4-BE49-F238E27FC236}">
                <a16:creationId xmlns:a16="http://schemas.microsoft.com/office/drawing/2014/main" id="{765679A5-C727-A1A4-F052-C230D5F95843}"/>
              </a:ext>
            </a:extLst>
          </p:cNvPr>
          <p:cNvSpPr txBox="1"/>
          <p:nvPr/>
        </p:nvSpPr>
        <p:spPr>
          <a:xfrm>
            <a:off x="6301305" y="1965095"/>
            <a:ext cx="5339397" cy="3995650"/>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rmAutofit/>
          </a:bodyPr>
          <a:lstStyle/>
          <a:p>
            <a:pPr>
              <a:lnSpc>
                <a:spcPct val="90000"/>
              </a:lnSpc>
              <a:spcBef>
                <a:spcPts val="1000"/>
              </a:spcBef>
              <a:buFont typeface="Arial" panose="020B0604020202020204" pitchFamily="34" charset="0"/>
            </a:pPr>
            <a:r>
              <a:rPr lang="en-US" sz="2400" dirty="0"/>
              <a:t>Aligns the outputs from the above two modules (MTIF and TSPE).</a:t>
            </a:r>
          </a:p>
          <a:p>
            <a:pPr>
              <a:lnSpc>
                <a:spcPct val="90000"/>
              </a:lnSpc>
              <a:spcBef>
                <a:spcPts val="1000"/>
              </a:spcBef>
              <a:buFont typeface="Arial" panose="020B0604020202020204" pitchFamily="34" charset="0"/>
            </a:pPr>
            <a:r>
              <a:rPr lang="en-US" sz="2400" dirty="0"/>
              <a:t>Uses </a:t>
            </a:r>
            <a:r>
              <a:rPr lang="en-US" sz="2400" b="1" dirty="0"/>
              <a:t>three self-supervised losses: </a:t>
            </a:r>
            <a:r>
              <a:rPr lang="en-US" sz="2400" dirty="0"/>
              <a:t>contrastive, matching, generation.</a:t>
            </a:r>
          </a:p>
          <a:p>
            <a:pPr>
              <a:lnSpc>
                <a:spcPct val="90000"/>
              </a:lnSpc>
              <a:spcBef>
                <a:spcPts val="1000"/>
              </a:spcBef>
              <a:buFont typeface="Arial" panose="020B0604020202020204" pitchFamily="34" charset="0"/>
            </a:pPr>
            <a:endParaRPr lang="en-US"/>
          </a:p>
        </p:txBody>
      </p:sp>
      <p:sp>
        <p:nvSpPr>
          <p:cNvPr id="15" name="Date Placeholder 4">
            <a:extLst>
              <a:ext uri="{FF2B5EF4-FFF2-40B4-BE49-F238E27FC236}">
                <a16:creationId xmlns:a16="http://schemas.microsoft.com/office/drawing/2014/main" id="{82E8EA60-3C70-B5A5-E180-CB265E29E04A}"/>
              </a:ext>
            </a:extLst>
          </p:cNvPr>
          <p:cNvSpPr>
            <a:spLocks noGrp="1"/>
          </p:cNvSpPr>
          <p:nvPr>
            <p:ph type="dt" sz="half" idx="10"/>
          </p:nvPr>
        </p:nvSpPr>
        <p:spPr>
          <a:xfrm>
            <a:off x="838200" y="6356350"/>
            <a:ext cx="2743200" cy="365125"/>
          </a:xfrm>
        </p:spPr>
        <p:txBody>
          <a:bodyPr/>
          <a:lstStyle/>
          <a:p>
            <a:pPr>
              <a:spcAft>
                <a:spcPts val="600"/>
              </a:spcAft>
            </a:pPr>
            <a:r>
              <a:rPr lang="en-US"/>
              <a:t>20XX</a:t>
            </a:r>
          </a:p>
        </p:txBody>
      </p:sp>
      <p:sp>
        <p:nvSpPr>
          <p:cNvPr id="17" name="Slide Number Placeholder 5">
            <a:extLst>
              <a:ext uri="{FF2B5EF4-FFF2-40B4-BE49-F238E27FC236}">
                <a16:creationId xmlns:a16="http://schemas.microsoft.com/office/drawing/2014/main" id="{B2FF6E6E-80E6-C1D2-5BFA-49FDD4654124}"/>
              </a:ext>
            </a:extLst>
          </p:cNvPr>
          <p:cNvSpPr>
            <a:spLocks noGrp="1"/>
          </p:cNvSpPr>
          <p:nvPr>
            <p:ph type="sldNum" sz="quarter" idx="12"/>
          </p:nvPr>
        </p:nvSpPr>
        <p:spPr>
          <a:xfrm>
            <a:off x="8610600" y="6356350"/>
            <a:ext cx="2743200" cy="365125"/>
          </a:xfrm>
        </p:spPr>
        <p:txBody>
          <a:bodyPr/>
          <a:lstStyle/>
          <a:p>
            <a:pPr>
              <a:spcAft>
                <a:spcPts val="600"/>
              </a:spcAft>
            </a:pPr>
            <a:fld id="{DBA1B0FB-D917-4C8C-928F-313BD683BF39}" type="slidenum">
              <a:rPr lang="en-US" smtClean="0"/>
              <a:pPr>
                <a:spcAft>
                  <a:spcPts val="600"/>
                </a:spcAft>
              </a:pPr>
              <a:t>10</a:t>
            </a:fld>
            <a:endParaRPr lang="en-US"/>
          </a:p>
        </p:txBody>
      </p:sp>
      <p:graphicFrame>
        <p:nvGraphicFramePr>
          <p:cNvPr id="3" name="Table 2">
            <a:extLst>
              <a:ext uri="{FF2B5EF4-FFF2-40B4-BE49-F238E27FC236}">
                <a16:creationId xmlns:a16="http://schemas.microsoft.com/office/drawing/2014/main" id="{650978B8-3EBD-E188-C5D3-7CA634A3FEE2}"/>
              </a:ext>
            </a:extLst>
          </p:cNvPr>
          <p:cNvGraphicFramePr>
            <a:graphicFrameLocks noGrp="1"/>
          </p:cNvGraphicFramePr>
          <p:nvPr>
            <p:extLst>
              <p:ext uri="{D42A27DB-BD31-4B8C-83A1-F6EECF244321}">
                <p14:modId xmlns:p14="http://schemas.microsoft.com/office/powerpoint/2010/main" val="853424371"/>
              </p:ext>
            </p:extLst>
          </p:nvPr>
        </p:nvGraphicFramePr>
        <p:xfrm>
          <a:off x="550862" y="2172299"/>
          <a:ext cx="5435601" cy="3581244"/>
        </p:xfrm>
        <a:graphic>
          <a:graphicData uri="http://schemas.openxmlformats.org/drawingml/2006/table">
            <a:tbl>
              <a:tblPr bandRow="1">
                <a:tableStyleId>{5C22544A-7EE6-4342-B048-85BDC9FD1C3A}</a:tableStyleId>
              </a:tblPr>
              <a:tblGrid>
                <a:gridCol w="1774226">
                  <a:extLst>
                    <a:ext uri="{9D8B030D-6E8A-4147-A177-3AD203B41FA5}">
                      <a16:colId xmlns:a16="http://schemas.microsoft.com/office/drawing/2014/main" val="2969827243"/>
                    </a:ext>
                  </a:extLst>
                </a:gridCol>
                <a:gridCol w="1857559">
                  <a:extLst>
                    <a:ext uri="{9D8B030D-6E8A-4147-A177-3AD203B41FA5}">
                      <a16:colId xmlns:a16="http://schemas.microsoft.com/office/drawing/2014/main" val="3953100945"/>
                    </a:ext>
                  </a:extLst>
                </a:gridCol>
                <a:gridCol w="1803816">
                  <a:extLst>
                    <a:ext uri="{9D8B030D-6E8A-4147-A177-3AD203B41FA5}">
                      <a16:colId xmlns:a16="http://schemas.microsoft.com/office/drawing/2014/main" val="840884532"/>
                    </a:ext>
                  </a:extLst>
                </a:gridCol>
              </a:tblGrid>
              <a:tr h="328337">
                <a:tc>
                  <a:txBody>
                    <a:bodyPr/>
                    <a:lstStyle/>
                    <a:p>
                      <a:pPr rtl="0" fontAlgn="base">
                        <a:lnSpc>
                          <a:spcPts val="1500"/>
                        </a:lnSpc>
                        <a:buNone/>
                      </a:pPr>
                      <a:r>
                        <a:rPr lang="en-US" sz="1900">
                          <a:effectLst/>
                        </a:rPr>
                        <a:t>Loss</a:t>
                      </a:r>
                    </a:p>
                  </a:txBody>
                  <a:tcPr marL="68285" marR="68285" marT="34142" marB="34142" anchor="ctr"/>
                </a:tc>
                <a:tc>
                  <a:txBody>
                    <a:bodyPr/>
                    <a:lstStyle/>
                    <a:p>
                      <a:pPr rtl="0" fontAlgn="base">
                        <a:lnSpc>
                          <a:spcPts val="1500"/>
                        </a:lnSpc>
                        <a:buNone/>
                      </a:pPr>
                      <a:r>
                        <a:rPr lang="en-US" sz="1900">
                          <a:effectLst/>
                        </a:rPr>
                        <a:t>What it does</a:t>
                      </a:r>
                    </a:p>
                  </a:txBody>
                  <a:tcPr marL="68285" marR="68285" marT="34142" marB="34142" anchor="ctr"/>
                </a:tc>
                <a:tc>
                  <a:txBody>
                    <a:bodyPr/>
                    <a:lstStyle/>
                    <a:p>
                      <a:pPr rtl="0" fontAlgn="base">
                        <a:lnSpc>
                          <a:spcPts val="1500"/>
                        </a:lnSpc>
                        <a:buNone/>
                      </a:pPr>
                      <a:r>
                        <a:rPr lang="en-US" sz="1900">
                          <a:effectLst/>
                        </a:rPr>
                        <a:t>Why it matters</a:t>
                      </a:r>
                    </a:p>
                  </a:txBody>
                  <a:tcPr marL="68285" marR="68285" marT="34142" marB="34142" anchor="ctr"/>
                </a:tc>
                <a:extLst>
                  <a:ext uri="{0D108BD9-81ED-4DB2-BD59-A6C34878D82A}">
                    <a16:rowId xmlns:a16="http://schemas.microsoft.com/office/drawing/2014/main" val="1130225120"/>
                  </a:ext>
                </a:extLst>
              </a:tr>
              <a:tr h="1359199">
                <a:tc>
                  <a:txBody>
                    <a:bodyPr/>
                    <a:lstStyle/>
                    <a:p>
                      <a:pPr rtl="0" fontAlgn="base">
                        <a:lnSpc>
                          <a:spcPts val="1500"/>
                        </a:lnSpc>
                        <a:buNone/>
                      </a:pPr>
                      <a:r>
                        <a:rPr lang="en-US" sz="1900" b="1">
                          <a:effectLst/>
                        </a:rPr>
                        <a:t>Lcontrast</a:t>
                      </a:r>
                      <a:endParaRPr lang="en-US" sz="1900">
                        <a:effectLst/>
                      </a:endParaRPr>
                    </a:p>
                  </a:txBody>
                  <a:tcPr marL="68285" marR="68285" marT="34142" marB="34142" anchor="ctr"/>
                </a:tc>
                <a:tc>
                  <a:txBody>
                    <a:bodyPr/>
                    <a:lstStyle/>
                    <a:p>
                      <a:pPr rtl="0" fontAlgn="base">
                        <a:lnSpc>
                          <a:spcPts val="1500"/>
                        </a:lnSpc>
                        <a:buNone/>
                      </a:pPr>
                      <a:r>
                        <a:rPr lang="en-US" sz="1900">
                          <a:effectLst/>
                        </a:rPr>
                        <a:t>Makes embeddings of matching text–time-series pairs close together</a:t>
                      </a:r>
                    </a:p>
                  </a:txBody>
                  <a:tcPr marL="68285" marR="68285" marT="34142" marB="34142" anchor="ctr"/>
                </a:tc>
                <a:tc>
                  <a:txBody>
                    <a:bodyPr/>
                    <a:lstStyle/>
                    <a:p>
                      <a:pPr rtl="0" fontAlgn="base">
                        <a:lnSpc>
                          <a:spcPts val="1500"/>
                        </a:lnSpc>
                        <a:buNone/>
                      </a:pPr>
                      <a:r>
                        <a:rPr lang="en-US" sz="1900">
                          <a:effectLst/>
                        </a:rPr>
                        <a:t>Forces alignment</a:t>
                      </a:r>
                    </a:p>
                  </a:txBody>
                  <a:tcPr marL="68285" marR="68285" marT="34142" marB="34142" anchor="ctr"/>
                </a:tc>
                <a:extLst>
                  <a:ext uri="{0D108BD9-81ED-4DB2-BD59-A6C34878D82A}">
                    <a16:rowId xmlns:a16="http://schemas.microsoft.com/office/drawing/2014/main" val="3301460066"/>
                  </a:ext>
                </a:extLst>
              </a:tr>
              <a:tr h="946854">
                <a:tc>
                  <a:txBody>
                    <a:bodyPr/>
                    <a:lstStyle/>
                    <a:p>
                      <a:pPr rtl="0" fontAlgn="base">
                        <a:lnSpc>
                          <a:spcPts val="1500"/>
                        </a:lnSpc>
                        <a:buNone/>
                      </a:pPr>
                      <a:r>
                        <a:rPr lang="en-US" sz="1900" b="1">
                          <a:effectLst/>
                        </a:rPr>
                        <a:t>Lmatch</a:t>
                      </a:r>
                      <a:endParaRPr lang="en-US" sz="1900">
                        <a:effectLst/>
                      </a:endParaRPr>
                    </a:p>
                  </a:txBody>
                  <a:tcPr marL="68285" marR="68285" marT="34142" marB="34142" anchor="ctr"/>
                </a:tc>
                <a:tc>
                  <a:txBody>
                    <a:bodyPr/>
                    <a:lstStyle/>
                    <a:p>
                      <a:pPr rtl="0" fontAlgn="base">
                        <a:lnSpc>
                          <a:spcPts val="1500"/>
                        </a:lnSpc>
                        <a:buNone/>
                      </a:pPr>
                      <a:r>
                        <a:rPr lang="en-US" sz="1900">
                          <a:effectLst/>
                        </a:rPr>
                        <a:t>Matches prompt tokens between modalities</a:t>
                      </a:r>
                    </a:p>
                  </a:txBody>
                  <a:tcPr marL="68285" marR="68285" marT="34142" marB="34142" anchor="ctr"/>
                </a:tc>
                <a:tc>
                  <a:txBody>
                    <a:bodyPr/>
                    <a:lstStyle/>
                    <a:p>
                      <a:pPr rtl="0" fontAlgn="base">
                        <a:lnSpc>
                          <a:spcPts val="1500"/>
                        </a:lnSpc>
                        <a:buNone/>
                      </a:pPr>
                      <a:r>
                        <a:rPr lang="en-US" sz="1900">
                          <a:effectLst/>
                        </a:rPr>
                        <a:t>Strengthens fusion</a:t>
                      </a:r>
                    </a:p>
                  </a:txBody>
                  <a:tcPr marL="68285" marR="68285" marT="34142" marB="34142" anchor="ctr"/>
                </a:tc>
                <a:extLst>
                  <a:ext uri="{0D108BD9-81ED-4DB2-BD59-A6C34878D82A}">
                    <a16:rowId xmlns:a16="http://schemas.microsoft.com/office/drawing/2014/main" val="1627781980"/>
                  </a:ext>
                </a:extLst>
              </a:tr>
              <a:tr h="946854">
                <a:tc>
                  <a:txBody>
                    <a:bodyPr/>
                    <a:lstStyle/>
                    <a:p>
                      <a:pPr rtl="0" fontAlgn="base">
                        <a:lnSpc>
                          <a:spcPts val="1500"/>
                        </a:lnSpc>
                        <a:buNone/>
                      </a:pPr>
                      <a:r>
                        <a:rPr lang="en-US" sz="1900" b="1">
                          <a:effectLst/>
                        </a:rPr>
                        <a:t>Lgen</a:t>
                      </a:r>
                      <a:endParaRPr lang="en-US" sz="1900">
                        <a:effectLst/>
                      </a:endParaRPr>
                    </a:p>
                  </a:txBody>
                  <a:tcPr marL="68285" marR="68285" marT="34142" marB="34142" anchor="ctr"/>
                </a:tc>
                <a:tc>
                  <a:txBody>
                    <a:bodyPr/>
                    <a:lstStyle/>
                    <a:p>
                      <a:pPr rtl="0" fontAlgn="base">
                        <a:lnSpc>
                          <a:spcPts val="1500"/>
                        </a:lnSpc>
                        <a:buNone/>
                      </a:pPr>
                      <a:r>
                        <a:rPr lang="en-US" sz="1900">
                          <a:effectLst/>
                        </a:rPr>
                        <a:t>Generates pseudo-notes from time-series prompts</a:t>
                      </a:r>
                    </a:p>
                  </a:txBody>
                  <a:tcPr marL="68285" marR="68285" marT="34142" marB="34142" anchor="ctr"/>
                </a:tc>
                <a:tc>
                  <a:txBody>
                    <a:bodyPr/>
                    <a:lstStyle/>
                    <a:p>
                      <a:pPr rtl="0" fontAlgn="base">
                        <a:lnSpc>
                          <a:spcPts val="1500"/>
                        </a:lnSpc>
                        <a:buNone/>
                      </a:pPr>
                      <a:r>
                        <a:rPr lang="en-US" sz="1900">
                          <a:effectLst/>
                        </a:rPr>
                        <a:t>Enables generative understanding</a:t>
                      </a:r>
                    </a:p>
                  </a:txBody>
                  <a:tcPr marL="68285" marR="68285" marT="34142" marB="34142" anchor="ctr"/>
                </a:tc>
                <a:extLst>
                  <a:ext uri="{0D108BD9-81ED-4DB2-BD59-A6C34878D82A}">
                    <a16:rowId xmlns:a16="http://schemas.microsoft.com/office/drawing/2014/main" val="851271709"/>
                  </a:ext>
                </a:extLst>
              </a:tr>
            </a:tbl>
          </a:graphicData>
        </a:graphic>
      </p:graphicFrame>
    </p:spTree>
    <p:extLst>
      <p:ext uri="{BB962C8B-B14F-4D97-AF65-F5344CB8AC3E}">
        <p14:creationId xmlns:p14="http://schemas.microsoft.com/office/powerpoint/2010/main" val="21919303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anim calcmode="lin" valueType="num">
                                      <p:cBhvr additive="base">
                                        <p:cTn id="13" dur="500" fill="hold"/>
                                        <p:tgtEl>
                                          <p:spTgt spid="10"/>
                                        </p:tgtEl>
                                        <p:attrNameLst>
                                          <p:attrName>ppt_x</p:attrName>
                                        </p:attrNameLst>
                                      </p:cBhvr>
                                      <p:tavLst>
                                        <p:tav tm="0">
                                          <p:val>
                                            <p:strVal val="#ppt_x"/>
                                          </p:val>
                                        </p:tav>
                                        <p:tav tm="100000">
                                          <p:val>
                                            <p:strVal val="#ppt_x"/>
                                          </p:val>
                                        </p:tav>
                                      </p:tavLst>
                                    </p:anim>
                                    <p:anim calcmode="lin" valueType="num">
                                      <p:cBhvr additive="base">
                                        <p:cTn id="14"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22996E-916F-C6D5-F7DA-746195C3C411}"/>
              </a:ext>
            </a:extLst>
          </p:cNvPr>
          <p:cNvSpPr>
            <a:spLocks noGrp="1"/>
          </p:cNvSpPr>
          <p:nvPr>
            <p:ph type="title"/>
          </p:nvPr>
        </p:nvSpPr>
        <p:spPr/>
        <p:txBody>
          <a:bodyPr/>
          <a:lstStyle/>
          <a:p>
            <a:r>
              <a:rPr lang="en-US" dirty="0">
                <a:ea typeface="+mj-lt"/>
                <a:cs typeface="+mj-lt"/>
              </a:rPr>
              <a:t>LLM-based Disease Diagnosis with </a:t>
            </a:r>
            <a:r>
              <a:rPr lang="en-US" dirty="0" err="1">
                <a:ea typeface="+mj-lt"/>
                <a:cs typeface="+mj-lt"/>
              </a:rPr>
              <a:t>ProMedTS</a:t>
            </a:r>
            <a:endParaRPr lang="en-US" dirty="0" err="1"/>
          </a:p>
        </p:txBody>
      </p:sp>
      <p:pic>
        <p:nvPicPr>
          <p:cNvPr id="7" name="Content Placeholder 6" descr="A diagram of a medical procedure&#10;&#10;AI-generated content may be incorrect.">
            <a:extLst>
              <a:ext uri="{FF2B5EF4-FFF2-40B4-BE49-F238E27FC236}">
                <a16:creationId xmlns:a16="http://schemas.microsoft.com/office/drawing/2014/main" id="{328A6A62-C065-B8B5-315B-EDF71D07B6BF}"/>
              </a:ext>
            </a:extLst>
          </p:cNvPr>
          <p:cNvPicPr>
            <a:picLocks noGrp="1" noChangeAspect="1"/>
          </p:cNvPicPr>
          <p:nvPr>
            <p:ph sz="half" idx="1"/>
          </p:nvPr>
        </p:nvPicPr>
        <p:blipFill>
          <a:blip r:embed="rId3"/>
          <a:stretch>
            <a:fillRect/>
          </a:stretch>
        </p:blipFill>
        <p:spPr>
          <a:xfrm>
            <a:off x="1220787" y="2624657"/>
            <a:ext cx="4095750" cy="2676525"/>
          </a:xfrm>
          <a:prstGeom prst="rect">
            <a:avLst/>
          </a:prstGeom>
        </p:spPr>
      </p:pic>
      <p:sp>
        <p:nvSpPr>
          <p:cNvPr id="4" name="Content Placeholder 3">
            <a:extLst>
              <a:ext uri="{FF2B5EF4-FFF2-40B4-BE49-F238E27FC236}">
                <a16:creationId xmlns:a16="http://schemas.microsoft.com/office/drawing/2014/main" id="{43CB05BB-187F-ECE0-2C80-E4421F3C323E}"/>
              </a:ext>
            </a:extLst>
          </p:cNvPr>
          <p:cNvSpPr>
            <a:spLocks noGrp="1"/>
          </p:cNvSpPr>
          <p:nvPr>
            <p:ph sz="half" idx="13"/>
          </p:nvPr>
        </p:nvSpPr>
        <p:spPr/>
        <p:txBody>
          <a:bodyPr vert="horz" lIns="91440" tIns="45720" rIns="91440" bIns="45720" rtlCol="0" anchor="t">
            <a:normAutofit/>
          </a:bodyPr>
          <a:lstStyle/>
          <a:p>
            <a:pPr marL="285750" indent="-285750">
              <a:buFont typeface="Arial"/>
              <a:buChar char="•"/>
            </a:pPr>
            <a:r>
              <a:rPr lang="en-US" sz="2400" dirty="0">
                <a:ea typeface="+mn-lt"/>
                <a:cs typeface="+mn-lt"/>
              </a:rPr>
              <a:t>A </a:t>
            </a:r>
            <a:r>
              <a:rPr lang="en-US" sz="2400" b="1" dirty="0">
                <a:ea typeface="+mn-lt"/>
                <a:cs typeface="+mn-lt"/>
              </a:rPr>
              <a:t>fully connected layer</a:t>
            </a:r>
            <a:r>
              <a:rPr lang="en-US" sz="2400" dirty="0">
                <a:ea typeface="+mn-lt"/>
                <a:cs typeface="+mn-lt"/>
              </a:rPr>
              <a:t> aligns these embeddings with the </a:t>
            </a:r>
            <a:r>
              <a:rPr lang="en-US" sz="2400" b="1" dirty="0">
                <a:ea typeface="+mn-lt"/>
                <a:cs typeface="+mn-lt"/>
              </a:rPr>
              <a:t>LLM input space</a:t>
            </a:r>
            <a:r>
              <a:rPr lang="en-US" sz="2400" dirty="0">
                <a:ea typeface="+mn-lt"/>
                <a:cs typeface="+mn-lt"/>
              </a:rPr>
              <a:t>.</a:t>
            </a:r>
            <a:endParaRPr lang="en-US" sz="2400"/>
          </a:p>
          <a:p>
            <a:pPr marL="285750" indent="-285750">
              <a:buFont typeface="Arial"/>
              <a:buChar char="•"/>
            </a:pPr>
            <a:r>
              <a:rPr lang="en-US" sz="2400" dirty="0">
                <a:ea typeface="+mn-lt"/>
                <a:cs typeface="+mn-lt"/>
              </a:rPr>
              <a:t>Lab prompts act as </a:t>
            </a:r>
            <a:r>
              <a:rPr lang="en-US" sz="2400" b="1" dirty="0">
                <a:ea typeface="+mn-lt"/>
                <a:cs typeface="+mn-lt"/>
              </a:rPr>
              <a:t>soft prefix prompts</a:t>
            </a:r>
            <a:r>
              <a:rPr lang="en-US" sz="2400" dirty="0">
                <a:ea typeface="+mn-lt"/>
                <a:cs typeface="+mn-lt"/>
              </a:rPr>
              <a:t> before clinical text.</a:t>
            </a:r>
            <a:endParaRPr lang="en-US" sz="2400"/>
          </a:p>
          <a:p>
            <a:pPr marL="285750" indent="-285750">
              <a:buFont typeface="Arial"/>
              <a:buChar char="•"/>
            </a:pPr>
            <a:r>
              <a:rPr lang="en-US" sz="2400" dirty="0">
                <a:ea typeface="+mn-lt"/>
                <a:cs typeface="+mn-lt"/>
              </a:rPr>
              <a:t>The </a:t>
            </a:r>
            <a:r>
              <a:rPr lang="en-US" sz="2400" b="1" dirty="0">
                <a:ea typeface="+mn-lt"/>
                <a:cs typeface="+mn-lt"/>
              </a:rPr>
              <a:t>LLM processes both text + lab signals together</a:t>
            </a:r>
            <a:r>
              <a:rPr lang="en-US" sz="2400" dirty="0">
                <a:ea typeface="+mn-lt"/>
                <a:cs typeface="+mn-lt"/>
              </a:rPr>
              <a:t> for better prediction.</a:t>
            </a:r>
            <a:endParaRPr lang="en-US" sz="2400"/>
          </a:p>
          <a:p>
            <a:pPr marL="285750" indent="-285750">
              <a:buFont typeface="Arial"/>
              <a:buChar char="•"/>
            </a:pPr>
            <a:r>
              <a:rPr lang="en-US" sz="2400" dirty="0">
                <a:ea typeface="+mn-lt"/>
                <a:cs typeface="+mn-lt"/>
              </a:rPr>
              <a:t>Enables </a:t>
            </a:r>
            <a:r>
              <a:rPr lang="en-US" sz="2400" b="1" dirty="0">
                <a:ea typeface="+mn-lt"/>
                <a:cs typeface="+mn-lt"/>
              </a:rPr>
              <a:t>unified reasoning</a:t>
            </a:r>
            <a:r>
              <a:rPr lang="en-US" sz="2400" dirty="0">
                <a:ea typeface="+mn-lt"/>
                <a:cs typeface="+mn-lt"/>
              </a:rPr>
              <a:t> across modalities → improved accuracy.</a:t>
            </a:r>
            <a:endParaRPr lang="en-US" sz="2400" dirty="0"/>
          </a:p>
          <a:p>
            <a:endParaRPr lang="en-US" dirty="0"/>
          </a:p>
        </p:txBody>
      </p:sp>
      <p:sp>
        <p:nvSpPr>
          <p:cNvPr id="5" name="Date Placeholder 4">
            <a:extLst>
              <a:ext uri="{FF2B5EF4-FFF2-40B4-BE49-F238E27FC236}">
                <a16:creationId xmlns:a16="http://schemas.microsoft.com/office/drawing/2014/main" id="{35D8C0BD-887D-58D7-0148-3DDEA20CB084}"/>
              </a:ext>
            </a:extLst>
          </p:cNvPr>
          <p:cNvSpPr>
            <a:spLocks noGrp="1"/>
          </p:cNvSpPr>
          <p:nvPr>
            <p:ph type="dt" sz="half" idx="10"/>
          </p:nvPr>
        </p:nvSpPr>
        <p:spPr/>
        <p:txBody>
          <a:bodyPr/>
          <a:lstStyle/>
          <a:p>
            <a:r>
              <a:rPr lang="en-US"/>
              <a:t>20XX</a:t>
            </a:r>
            <a:endParaRPr lang="en-US" dirty="0"/>
          </a:p>
        </p:txBody>
      </p:sp>
      <p:sp>
        <p:nvSpPr>
          <p:cNvPr id="6" name="Slide Number Placeholder 5">
            <a:extLst>
              <a:ext uri="{FF2B5EF4-FFF2-40B4-BE49-F238E27FC236}">
                <a16:creationId xmlns:a16="http://schemas.microsoft.com/office/drawing/2014/main" id="{CF3A14D3-4AC0-9443-EE8C-E937058321D3}"/>
              </a:ext>
            </a:extLst>
          </p:cNvPr>
          <p:cNvSpPr>
            <a:spLocks noGrp="1"/>
          </p:cNvSpPr>
          <p:nvPr>
            <p:ph type="sldNum" sz="quarter" idx="12"/>
          </p:nvPr>
        </p:nvSpPr>
        <p:spPr/>
        <p:txBody>
          <a:bodyPr/>
          <a:lstStyle/>
          <a:p>
            <a:fld id="{DBA1B0FB-D917-4C8C-928F-313BD683BF39}" type="slidenum">
              <a:rPr lang="en-US" smtClean="0"/>
              <a:t>11</a:t>
            </a:fld>
            <a:endParaRPr lang="en-US" dirty="0"/>
          </a:p>
        </p:txBody>
      </p:sp>
    </p:spTree>
    <p:extLst>
      <p:ext uri="{BB962C8B-B14F-4D97-AF65-F5344CB8AC3E}">
        <p14:creationId xmlns:p14="http://schemas.microsoft.com/office/powerpoint/2010/main" val="20843390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ABE40-AA00-F366-A36A-B3F1AADBF025}"/>
              </a:ext>
            </a:extLst>
          </p:cNvPr>
          <p:cNvSpPr>
            <a:spLocks noGrp="1"/>
          </p:cNvSpPr>
          <p:nvPr>
            <p:ph type="title"/>
          </p:nvPr>
        </p:nvSpPr>
        <p:spPr/>
        <p:txBody>
          <a:bodyPr anchor="b">
            <a:normAutofit/>
          </a:bodyPr>
          <a:lstStyle/>
          <a:p>
            <a:r>
              <a:rPr lang="en-US" cap="none" dirty="0">
                <a:latin typeface="Walbaum Display Light"/>
              </a:rPr>
              <a:t>Datasets Used</a:t>
            </a:r>
            <a:endParaRPr lang="en-US" dirty="0">
              <a:latin typeface="Walbaum Display Light"/>
            </a:endParaRPr>
          </a:p>
        </p:txBody>
      </p:sp>
      <p:sp>
        <p:nvSpPr>
          <p:cNvPr id="16" name="Date Placeholder 3">
            <a:extLst>
              <a:ext uri="{FF2B5EF4-FFF2-40B4-BE49-F238E27FC236}">
                <a16:creationId xmlns:a16="http://schemas.microsoft.com/office/drawing/2014/main" id="{11419B85-0921-2B44-261A-C372135DA274}"/>
              </a:ext>
            </a:extLst>
          </p:cNvPr>
          <p:cNvSpPr>
            <a:spLocks noGrp="1"/>
          </p:cNvSpPr>
          <p:nvPr>
            <p:ph type="dt" sz="half" idx="10"/>
          </p:nvPr>
        </p:nvSpPr>
        <p:spPr/>
        <p:txBody>
          <a:bodyPr/>
          <a:lstStyle/>
          <a:p>
            <a:pPr>
              <a:spcAft>
                <a:spcPts val="600"/>
              </a:spcAft>
            </a:pPr>
            <a:r>
              <a:rPr lang="en-US"/>
              <a:t>20XX</a:t>
            </a:r>
          </a:p>
        </p:txBody>
      </p:sp>
      <p:sp>
        <p:nvSpPr>
          <p:cNvPr id="4" name="Slide Number Placeholder 3">
            <a:extLst>
              <a:ext uri="{FF2B5EF4-FFF2-40B4-BE49-F238E27FC236}">
                <a16:creationId xmlns:a16="http://schemas.microsoft.com/office/drawing/2014/main" id="{10B9B291-7FEA-7ADA-D1EB-09275DC97FB0}"/>
              </a:ext>
            </a:extLst>
          </p:cNvPr>
          <p:cNvSpPr>
            <a:spLocks noGrp="1"/>
          </p:cNvSpPr>
          <p:nvPr>
            <p:ph type="sldNum" sz="quarter" idx="12"/>
          </p:nvPr>
        </p:nvSpPr>
        <p:spPr/>
        <p:txBody>
          <a:bodyPr anchor="ctr">
            <a:normAutofit/>
          </a:bodyPr>
          <a:lstStyle/>
          <a:p>
            <a:pPr>
              <a:spcAft>
                <a:spcPts val="600"/>
              </a:spcAft>
            </a:pPr>
            <a:fld id="{CBD12358-51D2-46B3-9BDE-DF29528B9454}" type="slidenum">
              <a:rPr lang="en-US" smtClean="0"/>
              <a:pPr>
                <a:spcAft>
                  <a:spcPts val="600"/>
                </a:spcAft>
              </a:pPr>
              <a:t>12</a:t>
            </a:fld>
            <a:endParaRPr lang="en-US"/>
          </a:p>
        </p:txBody>
      </p:sp>
      <p:graphicFrame>
        <p:nvGraphicFramePr>
          <p:cNvPr id="11" name="Table 10">
            <a:extLst>
              <a:ext uri="{FF2B5EF4-FFF2-40B4-BE49-F238E27FC236}">
                <a16:creationId xmlns:a16="http://schemas.microsoft.com/office/drawing/2014/main" id="{526C1A7F-53A7-B143-39C9-D644A95A3A5F}"/>
              </a:ext>
            </a:extLst>
          </p:cNvPr>
          <p:cNvGraphicFramePr>
            <a:graphicFrameLocks noGrp="1"/>
          </p:cNvGraphicFramePr>
          <p:nvPr/>
        </p:nvGraphicFramePr>
        <p:xfrm>
          <a:off x="550863" y="2979926"/>
          <a:ext cx="11090276" cy="2792036"/>
        </p:xfrm>
        <a:graphic>
          <a:graphicData uri="http://schemas.openxmlformats.org/drawingml/2006/table">
            <a:tbl>
              <a:tblPr bandRow="1">
                <a:noFill/>
                <a:tableStyleId>{72833802-FEF1-4C79-8D5D-14CF1EAF98D9}</a:tableStyleId>
              </a:tblPr>
              <a:tblGrid>
                <a:gridCol w="1794465">
                  <a:extLst>
                    <a:ext uri="{9D8B030D-6E8A-4147-A177-3AD203B41FA5}">
                      <a16:colId xmlns:a16="http://schemas.microsoft.com/office/drawing/2014/main" val="1426148532"/>
                    </a:ext>
                  </a:extLst>
                </a:gridCol>
                <a:gridCol w="1996175">
                  <a:extLst>
                    <a:ext uri="{9D8B030D-6E8A-4147-A177-3AD203B41FA5}">
                      <a16:colId xmlns:a16="http://schemas.microsoft.com/office/drawing/2014/main" val="3798198470"/>
                    </a:ext>
                  </a:extLst>
                </a:gridCol>
                <a:gridCol w="1768665">
                  <a:extLst>
                    <a:ext uri="{9D8B030D-6E8A-4147-A177-3AD203B41FA5}">
                      <a16:colId xmlns:a16="http://schemas.microsoft.com/office/drawing/2014/main" val="645166738"/>
                    </a:ext>
                  </a:extLst>
                </a:gridCol>
                <a:gridCol w="1639665">
                  <a:extLst>
                    <a:ext uri="{9D8B030D-6E8A-4147-A177-3AD203B41FA5}">
                      <a16:colId xmlns:a16="http://schemas.microsoft.com/office/drawing/2014/main" val="525054721"/>
                    </a:ext>
                  </a:extLst>
                </a:gridCol>
                <a:gridCol w="3891306">
                  <a:extLst>
                    <a:ext uri="{9D8B030D-6E8A-4147-A177-3AD203B41FA5}">
                      <a16:colId xmlns:a16="http://schemas.microsoft.com/office/drawing/2014/main" val="1398177186"/>
                    </a:ext>
                  </a:extLst>
                </a:gridCol>
              </a:tblGrid>
              <a:tr h="720526">
                <a:tc>
                  <a:txBody>
                    <a:bodyPr/>
                    <a:lstStyle/>
                    <a:p>
                      <a:pPr>
                        <a:buNone/>
                      </a:pPr>
                      <a:r>
                        <a:rPr lang="en-US" sz="2100" dirty="0">
                          <a:solidFill>
                            <a:schemeClr val="tx1">
                              <a:lumMod val="75000"/>
                              <a:lumOff val="25000"/>
                            </a:schemeClr>
                          </a:solidFill>
                        </a:rPr>
                        <a:t>Dataset</a:t>
                      </a:r>
                    </a:p>
                  </a:txBody>
                  <a:tcPr marL="337746" marR="175628" marT="175628" marB="175628" anchor="ctr">
                    <a:lnL w="12700" cmpd="sng">
                      <a:noFill/>
                      <a:prstDash val="solid"/>
                    </a:lnL>
                    <a:lnR w="12700" cmpd="sng">
                      <a:noFill/>
                      <a:prstDash val="solid"/>
                    </a:lnR>
                    <a:lnT w="12700" cmpd="sng">
                      <a:noFill/>
                      <a:prstDash val="solid"/>
                    </a:lnT>
                    <a:lnB w="19050" cap="flat" cmpd="sng" algn="ctr">
                      <a:solidFill>
                        <a:srgbClr val="FFFFFF"/>
                      </a:solidFill>
                      <a:prstDash val="solid"/>
                    </a:lnB>
                    <a:solidFill>
                      <a:srgbClr val="B4BCBE">
                        <a:alpha val="34902"/>
                      </a:srgbClr>
                    </a:solidFill>
                  </a:tcPr>
                </a:tc>
                <a:tc>
                  <a:txBody>
                    <a:bodyPr/>
                    <a:lstStyle/>
                    <a:p>
                      <a:pPr>
                        <a:buNone/>
                      </a:pPr>
                      <a:r>
                        <a:rPr lang="en-US" sz="2100">
                          <a:solidFill>
                            <a:schemeClr val="tx1">
                              <a:lumMod val="75000"/>
                              <a:lumOff val="25000"/>
                            </a:schemeClr>
                          </a:solidFill>
                        </a:rPr>
                        <a:t>Period</a:t>
                      </a:r>
                    </a:p>
                  </a:txBody>
                  <a:tcPr marL="337746" marR="175628" marT="175628" marB="175628" anchor="ctr">
                    <a:lnL w="12700" cmpd="sng">
                      <a:noFill/>
                      <a:prstDash val="solid"/>
                    </a:lnL>
                    <a:lnR w="12700" cmpd="sng">
                      <a:noFill/>
                      <a:prstDash val="solid"/>
                    </a:lnR>
                    <a:lnT w="12700" cmpd="sng">
                      <a:noFill/>
                      <a:prstDash val="solid"/>
                    </a:lnT>
                    <a:lnB w="19050" cap="flat" cmpd="sng" algn="ctr">
                      <a:solidFill>
                        <a:srgbClr val="FFFFFF"/>
                      </a:solidFill>
                      <a:prstDash val="solid"/>
                    </a:lnB>
                    <a:solidFill>
                      <a:srgbClr val="B4BCBE">
                        <a:alpha val="34902"/>
                      </a:srgbClr>
                    </a:solidFill>
                  </a:tcPr>
                </a:tc>
                <a:tc>
                  <a:txBody>
                    <a:bodyPr/>
                    <a:lstStyle/>
                    <a:p>
                      <a:pPr>
                        <a:buNone/>
                      </a:pPr>
                      <a:r>
                        <a:rPr lang="en-US" sz="2100">
                          <a:solidFill>
                            <a:schemeClr val="tx1">
                              <a:lumMod val="75000"/>
                              <a:lumOff val="25000"/>
                            </a:schemeClr>
                          </a:solidFill>
                        </a:rPr>
                        <a:t>Type</a:t>
                      </a:r>
                    </a:p>
                  </a:txBody>
                  <a:tcPr marL="337746" marR="175628" marT="175628" marB="175628" anchor="ctr">
                    <a:lnL w="12700" cmpd="sng">
                      <a:noFill/>
                      <a:prstDash val="solid"/>
                    </a:lnL>
                    <a:lnR w="12700" cmpd="sng">
                      <a:noFill/>
                      <a:prstDash val="solid"/>
                    </a:lnR>
                    <a:lnT w="12700" cmpd="sng">
                      <a:noFill/>
                      <a:prstDash val="solid"/>
                    </a:lnT>
                    <a:lnB w="19050" cap="flat" cmpd="sng" algn="ctr">
                      <a:solidFill>
                        <a:srgbClr val="FFFFFF"/>
                      </a:solidFill>
                      <a:prstDash val="solid"/>
                    </a:lnB>
                    <a:solidFill>
                      <a:srgbClr val="B4BCBE">
                        <a:alpha val="34902"/>
                      </a:srgbClr>
                    </a:solidFill>
                  </a:tcPr>
                </a:tc>
                <a:tc>
                  <a:txBody>
                    <a:bodyPr/>
                    <a:lstStyle/>
                    <a:p>
                      <a:pPr>
                        <a:buNone/>
                      </a:pPr>
                      <a:r>
                        <a:rPr lang="en-US" sz="2100">
                          <a:solidFill>
                            <a:schemeClr val="tx1">
                              <a:lumMod val="75000"/>
                              <a:lumOff val="25000"/>
                            </a:schemeClr>
                          </a:solidFill>
                        </a:rPr>
                        <a:t>Size</a:t>
                      </a:r>
                    </a:p>
                  </a:txBody>
                  <a:tcPr marL="337746" marR="175628" marT="175628" marB="175628" anchor="ctr">
                    <a:lnL w="12700" cmpd="sng">
                      <a:noFill/>
                      <a:prstDash val="solid"/>
                    </a:lnL>
                    <a:lnR w="12700" cmpd="sng">
                      <a:noFill/>
                      <a:prstDash val="solid"/>
                    </a:lnR>
                    <a:lnT w="12700" cmpd="sng">
                      <a:noFill/>
                      <a:prstDash val="solid"/>
                    </a:lnT>
                    <a:lnB w="19050" cap="flat" cmpd="sng" algn="ctr">
                      <a:solidFill>
                        <a:srgbClr val="FFFFFF"/>
                      </a:solidFill>
                      <a:prstDash val="solid"/>
                    </a:lnB>
                    <a:solidFill>
                      <a:srgbClr val="B4BCBE">
                        <a:alpha val="34902"/>
                      </a:srgbClr>
                    </a:solidFill>
                  </a:tcPr>
                </a:tc>
                <a:tc>
                  <a:txBody>
                    <a:bodyPr/>
                    <a:lstStyle/>
                    <a:p>
                      <a:pPr>
                        <a:buNone/>
                      </a:pPr>
                      <a:r>
                        <a:rPr lang="en-US" sz="2100" dirty="0">
                          <a:solidFill>
                            <a:schemeClr val="tx1">
                              <a:lumMod val="75000"/>
                              <a:lumOff val="25000"/>
                            </a:schemeClr>
                          </a:solidFill>
                        </a:rPr>
                        <a:t>Key Data Used</a:t>
                      </a:r>
                    </a:p>
                  </a:txBody>
                  <a:tcPr marL="337746" marR="175628" marT="175628" marB="175628" anchor="ctr">
                    <a:lnL w="12700" cmpd="sng">
                      <a:noFill/>
                      <a:prstDash val="solid"/>
                    </a:lnL>
                    <a:lnR w="12700" cmpd="sng">
                      <a:noFill/>
                      <a:prstDash val="solid"/>
                    </a:lnR>
                    <a:lnT w="12700" cmpd="sng">
                      <a:noFill/>
                      <a:prstDash val="solid"/>
                    </a:lnT>
                    <a:lnB w="19050" cap="flat" cmpd="sng" algn="ctr">
                      <a:solidFill>
                        <a:srgbClr val="FFFFFF"/>
                      </a:solidFill>
                      <a:prstDash val="solid"/>
                    </a:lnB>
                    <a:solidFill>
                      <a:srgbClr val="B4BCBE">
                        <a:alpha val="34902"/>
                      </a:srgbClr>
                    </a:solidFill>
                  </a:tcPr>
                </a:tc>
                <a:extLst>
                  <a:ext uri="{0D108BD9-81ED-4DB2-BD59-A6C34878D82A}">
                    <a16:rowId xmlns:a16="http://schemas.microsoft.com/office/drawing/2014/main" val="2807646863"/>
                  </a:ext>
                </a:extLst>
              </a:tr>
              <a:tr h="1035755">
                <a:tc>
                  <a:txBody>
                    <a:bodyPr/>
                    <a:lstStyle/>
                    <a:p>
                      <a:pPr>
                        <a:buNone/>
                      </a:pPr>
                      <a:r>
                        <a:rPr lang="en-US" sz="2100" b="1">
                          <a:solidFill>
                            <a:schemeClr val="tx1">
                              <a:lumMod val="75000"/>
                              <a:lumOff val="25000"/>
                            </a:schemeClr>
                          </a:solidFill>
                        </a:rPr>
                        <a:t>MIMIC-III</a:t>
                      </a:r>
                      <a:endParaRPr lang="en-US" sz="2100">
                        <a:solidFill>
                          <a:schemeClr val="tx1">
                            <a:lumMod val="75000"/>
                            <a:lumOff val="25000"/>
                          </a:schemeClr>
                        </a:solidFill>
                      </a:endParaRPr>
                    </a:p>
                  </a:txBody>
                  <a:tcPr marL="337746" marR="175628" marT="175628" marB="175628" anchor="ctr">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pPr>
                        <a:buNone/>
                      </a:pPr>
                      <a:r>
                        <a:rPr lang="en-US" sz="2100">
                          <a:solidFill>
                            <a:schemeClr val="tx1">
                              <a:lumMod val="75000"/>
                              <a:lumOff val="25000"/>
                            </a:schemeClr>
                          </a:solidFill>
                        </a:rPr>
                        <a:t>2001–2012</a:t>
                      </a:r>
                    </a:p>
                  </a:txBody>
                  <a:tcPr marL="337746" marR="175628" marT="175628" marB="175628" anchor="ctr">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pPr>
                        <a:buNone/>
                      </a:pPr>
                      <a:r>
                        <a:rPr lang="en-US" sz="2100">
                          <a:solidFill>
                            <a:schemeClr val="tx1">
                              <a:lumMod val="75000"/>
                              <a:lumOff val="25000"/>
                            </a:schemeClr>
                          </a:solidFill>
                        </a:rPr>
                        <a:t>ICU EHR</a:t>
                      </a:r>
                    </a:p>
                  </a:txBody>
                  <a:tcPr marL="337746" marR="175628" marT="175628" marB="175628" anchor="ctr">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pPr>
                        <a:buNone/>
                      </a:pPr>
                      <a:r>
                        <a:rPr lang="en-US" sz="2100">
                          <a:solidFill>
                            <a:schemeClr val="tx1">
                              <a:lumMod val="75000"/>
                              <a:lumOff val="25000"/>
                            </a:schemeClr>
                          </a:solidFill>
                        </a:rPr>
                        <a:t>~27,000 patients</a:t>
                      </a:r>
                    </a:p>
                  </a:txBody>
                  <a:tcPr marL="337746" marR="175628" marT="175628" marB="175628" anchor="ctr">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pPr>
                        <a:buNone/>
                      </a:pPr>
                      <a:r>
                        <a:rPr lang="en-US" sz="2100">
                          <a:solidFill>
                            <a:schemeClr val="tx1">
                              <a:lumMod val="75000"/>
                              <a:lumOff val="25000"/>
                            </a:schemeClr>
                          </a:solidFill>
                        </a:rPr>
                        <a:t>Medical discharge summaries &amp; lab test results</a:t>
                      </a:r>
                    </a:p>
                  </a:txBody>
                  <a:tcPr marL="337746" marR="175628" marT="175628" marB="175628" anchor="ctr">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extLst>
                  <a:ext uri="{0D108BD9-81ED-4DB2-BD59-A6C34878D82A}">
                    <a16:rowId xmlns:a16="http://schemas.microsoft.com/office/drawing/2014/main" val="3209181946"/>
                  </a:ext>
                </a:extLst>
              </a:tr>
              <a:tr h="1035755">
                <a:tc>
                  <a:txBody>
                    <a:bodyPr/>
                    <a:lstStyle/>
                    <a:p>
                      <a:pPr>
                        <a:buNone/>
                      </a:pPr>
                      <a:r>
                        <a:rPr lang="en-US" sz="2100" b="1">
                          <a:solidFill>
                            <a:schemeClr val="tx1">
                              <a:lumMod val="75000"/>
                              <a:lumOff val="25000"/>
                            </a:schemeClr>
                          </a:solidFill>
                        </a:rPr>
                        <a:t>MIMIC-IV</a:t>
                      </a:r>
                      <a:endParaRPr lang="en-US" sz="2100">
                        <a:solidFill>
                          <a:schemeClr val="tx1">
                            <a:lumMod val="75000"/>
                            <a:lumOff val="25000"/>
                          </a:schemeClr>
                        </a:solidFill>
                      </a:endParaRPr>
                    </a:p>
                  </a:txBody>
                  <a:tcPr marL="337746" marR="175628" marT="175628" marB="175628" anchor="ctr">
                    <a:lnL w="12700" cmpd="sng">
                      <a:noFill/>
                      <a:prstDash val="solid"/>
                    </a:lnL>
                    <a:lnR w="12700" cmpd="sng">
                      <a:noFill/>
                      <a:prstDash val="solid"/>
                    </a:lnR>
                    <a:lnT w="19050" cap="flat" cmpd="sng" algn="ctr">
                      <a:solidFill>
                        <a:srgbClr val="FFFFFF"/>
                      </a:solidFill>
                      <a:prstDash val="solid"/>
                    </a:lnT>
                    <a:lnB w="12700" cmpd="sng">
                      <a:noFill/>
                      <a:prstDash val="solid"/>
                    </a:lnB>
                    <a:solidFill>
                      <a:srgbClr val="B4BCBE">
                        <a:alpha val="34902"/>
                      </a:srgbClr>
                    </a:solidFill>
                  </a:tcPr>
                </a:tc>
                <a:tc>
                  <a:txBody>
                    <a:bodyPr/>
                    <a:lstStyle/>
                    <a:p>
                      <a:pPr>
                        <a:buNone/>
                      </a:pPr>
                      <a:r>
                        <a:rPr lang="en-US" sz="2100" dirty="0">
                          <a:solidFill>
                            <a:schemeClr val="tx1">
                              <a:lumMod val="75000"/>
                              <a:lumOff val="25000"/>
                            </a:schemeClr>
                          </a:solidFill>
                        </a:rPr>
                        <a:t>2008–2019</a:t>
                      </a:r>
                    </a:p>
                  </a:txBody>
                  <a:tcPr marL="337746" marR="175628" marT="175628" marB="175628" anchor="ctr">
                    <a:lnL w="12700" cmpd="sng">
                      <a:noFill/>
                      <a:prstDash val="solid"/>
                    </a:lnL>
                    <a:lnR w="12700" cmpd="sng">
                      <a:noFill/>
                      <a:prstDash val="solid"/>
                    </a:lnR>
                    <a:lnT w="19050" cap="flat" cmpd="sng" algn="ctr">
                      <a:solidFill>
                        <a:srgbClr val="FFFFFF"/>
                      </a:solidFill>
                      <a:prstDash val="solid"/>
                    </a:lnT>
                    <a:lnB w="12700" cmpd="sng">
                      <a:noFill/>
                      <a:prstDash val="solid"/>
                    </a:lnB>
                    <a:solidFill>
                      <a:srgbClr val="B4BCBE">
                        <a:alpha val="34902"/>
                      </a:srgbClr>
                    </a:solidFill>
                  </a:tcPr>
                </a:tc>
                <a:tc>
                  <a:txBody>
                    <a:bodyPr/>
                    <a:lstStyle/>
                    <a:p>
                      <a:pPr>
                        <a:buNone/>
                      </a:pPr>
                      <a:r>
                        <a:rPr lang="en-US" sz="2100">
                          <a:solidFill>
                            <a:schemeClr val="tx1">
                              <a:lumMod val="75000"/>
                              <a:lumOff val="25000"/>
                            </a:schemeClr>
                          </a:solidFill>
                        </a:rPr>
                        <a:t>ICU EHR</a:t>
                      </a:r>
                    </a:p>
                  </a:txBody>
                  <a:tcPr marL="337746" marR="175628" marT="175628" marB="175628" anchor="ctr">
                    <a:lnL w="12700" cmpd="sng">
                      <a:noFill/>
                      <a:prstDash val="solid"/>
                    </a:lnL>
                    <a:lnR w="12700" cmpd="sng">
                      <a:noFill/>
                      <a:prstDash val="solid"/>
                    </a:lnR>
                    <a:lnT w="19050" cap="flat" cmpd="sng" algn="ctr">
                      <a:solidFill>
                        <a:srgbClr val="FFFFFF"/>
                      </a:solidFill>
                      <a:prstDash val="solid"/>
                    </a:lnT>
                    <a:lnB w="12700" cmpd="sng">
                      <a:noFill/>
                      <a:prstDash val="solid"/>
                    </a:lnB>
                    <a:solidFill>
                      <a:srgbClr val="B4BCBE">
                        <a:alpha val="34902"/>
                      </a:srgbClr>
                    </a:solidFill>
                  </a:tcPr>
                </a:tc>
                <a:tc>
                  <a:txBody>
                    <a:bodyPr/>
                    <a:lstStyle/>
                    <a:p>
                      <a:pPr>
                        <a:buNone/>
                      </a:pPr>
                      <a:r>
                        <a:rPr lang="en-US" sz="2100">
                          <a:solidFill>
                            <a:schemeClr val="tx1">
                              <a:lumMod val="75000"/>
                              <a:lumOff val="25000"/>
                            </a:schemeClr>
                          </a:solidFill>
                        </a:rPr>
                        <a:t>~29,000 patients</a:t>
                      </a:r>
                    </a:p>
                  </a:txBody>
                  <a:tcPr marL="337746" marR="175628" marT="175628" marB="175628" anchor="ctr">
                    <a:lnL w="12700" cmpd="sng">
                      <a:noFill/>
                      <a:prstDash val="solid"/>
                    </a:lnL>
                    <a:lnR w="12700" cmpd="sng">
                      <a:noFill/>
                      <a:prstDash val="solid"/>
                    </a:lnR>
                    <a:lnT w="19050" cap="flat" cmpd="sng" algn="ctr">
                      <a:solidFill>
                        <a:srgbClr val="FFFFFF"/>
                      </a:solidFill>
                      <a:prstDash val="solid"/>
                    </a:lnT>
                    <a:lnB w="12700" cmpd="sng">
                      <a:noFill/>
                      <a:prstDash val="solid"/>
                    </a:lnB>
                    <a:solidFill>
                      <a:srgbClr val="B4BCBE">
                        <a:alpha val="34902"/>
                      </a:srgbClr>
                    </a:solidFill>
                  </a:tcPr>
                </a:tc>
                <a:tc>
                  <a:txBody>
                    <a:bodyPr/>
                    <a:lstStyle/>
                    <a:p>
                      <a:pPr>
                        <a:buNone/>
                      </a:pPr>
                      <a:r>
                        <a:rPr lang="en-US" sz="2100" dirty="0">
                          <a:solidFill>
                            <a:schemeClr val="tx1">
                              <a:lumMod val="75000"/>
                              <a:lumOff val="25000"/>
                            </a:schemeClr>
                          </a:solidFill>
                        </a:rPr>
                        <a:t>Discharge summaries &amp; lab test results</a:t>
                      </a:r>
                    </a:p>
                  </a:txBody>
                  <a:tcPr marL="337746" marR="175628" marT="175628" marB="175628" anchor="ctr">
                    <a:lnL w="12700" cmpd="sng">
                      <a:noFill/>
                      <a:prstDash val="solid"/>
                    </a:lnL>
                    <a:lnR w="12700" cmpd="sng">
                      <a:noFill/>
                      <a:prstDash val="solid"/>
                    </a:lnR>
                    <a:lnT w="19050" cap="flat" cmpd="sng" algn="ctr">
                      <a:solidFill>
                        <a:srgbClr val="FFFFFF"/>
                      </a:solidFill>
                      <a:prstDash val="solid"/>
                    </a:lnT>
                    <a:lnB w="12700" cmpd="sng">
                      <a:noFill/>
                      <a:prstDash val="solid"/>
                    </a:lnB>
                    <a:solidFill>
                      <a:srgbClr val="B4BCBE">
                        <a:alpha val="34902"/>
                      </a:srgbClr>
                    </a:solidFill>
                  </a:tcPr>
                </a:tc>
                <a:extLst>
                  <a:ext uri="{0D108BD9-81ED-4DB2-BD59-A6C34878D82A}">
                    <a16:rowId xmlns:a16="http://schemas.microsoft.com/office/drawing/2014/main" val="3028743985"/>
                  </a:ext>
                </a:extLst>
              </a:tr>
            </a:tbl>
          </a:graphicData>
        </a:graphic>
      </p:graphicFrame>
    </p:spTree>
    <p:extLst>
      <p:ext uri="{BB962C8B-B14F-4D97-AF65-F5344CB8AC3E}">
        <p14:creationId xmlns:p14="http://schemas.microsoft.com/office/powerpoint/2010/main" val="13885921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3D8FD166-5EB6-5C46-5EF9-778E8AEFC9E7}"/>
              </a:ext>
            </a:extLst>
          </p:cNvPr>
          <p:cNvSpPr>
            <a:spLocks noGrp="1"/>
          </p:cNvSpPr>
          <p:nvPr>
            <p:ph type="title"/>
          </p:nvPr>
        </p:nvSpPr>
        <p:spPr>
          <a:xfrm>
            <a:off x="838200" y="365125"/>
            <a:ext cx="10515600" cy="1325563"/>
          </a:xfrm>
        </p:spPr>
        <p:txBody>
          <a:bodyPr/>
          <a:lstStyle/>
          <a:p>
            <a:endParaRPr lang="en-US"/>
          </a:p>
        </p:txBody>
      </p:sp>
      <p:sp>
        <p:nvSpPr>
          <p:cNvPr id="4" name="Date Placeholder 3" hidden="1">
            <a:extLst>
              <a:ext uri="{FF2B5EF4-FFF2-40B4-BE49-F238E27FC236}">
                <a16:creationId xmlns:a16="http://schemas.microsoft.com/office/drawing/2014/main" id="{CB63839D-2A57-3CBC-966E-D0B3FA2E7923}"/>
              </a:ext>
            </a:extLst>
          </p:cNvPr>
          <p:cNvSpPr>
            <a:spLocks noGrp="1"/>
          </p:cNvSpPr>
          <p:nvPr>
            <p:ph type="dt" sz="half" idx="10"/>
          </p:nvPr>
        </p:nvSpPr>
        <p:spPr/>
        <p:txBody>
          <a:bodyPr/>
          <a:lstStyle/>
          <a:p>
            <a:pPr>
              <a:spcAft>
                <a:spcPts val="600"/>
              </a:spcAft>
            </a:pPr>
            <a:r>
              <a:rPr lang="en-US"/>
              <a:t>20XX</a:t>
            </a:r>
          </a:p>
        </p:txBody>
      </p:sp>
      <p:sp>
        <p:nvSpPr>
          <p:cNvPr id="5" name="Slide Number Placeholder 4" hidden="1">
            <a:extLst>
              <a:ext uri="{FF2B5EF4-FFF2-40B4-BE49-F238E27FC236}">
                <a16:creationId xmlns:a16="http://schemas.microsoft.com/office/drawing/2014/main" id="{ED689A33-1DD1-AF91-2746-C3C411501880}"/>
              </a:ext>
            </a:extLst>
          </p:cNvPr>
          <p:cNvSpPr>
            <a:spLocks noGrp="1"/>
          </p:cNvSpPr>
          <p:nvPr>
            <p:ph type="sldNum" sz="quarter" idx="12"/>
          </p:nvPr>
        </p:nvSpPr>
        <p:spPr/>
        <p:txBody>
          <a:bodyPr/>
          <a:lstStyle/>
          <a:p>
            <a:pPr>
              <a:spcAft>
                <a:spcPts val="600"/>
              </a:spcAft>
            </a:pPr>
            <a:fld id="{DBA1B0FB-D917-4C8C-928F-313BD683BF39}" type="slidenum">
              <a:rPr lang="en-US" smtClean="0"/>
              <a:pPr>
                <a:spcAft>
                  <a:spcPts val="600"/>
                </a:spcAft>
              </a:pPr>
              <a:t>13</a:t>
            </a:fld>
            <a:endParaRPr lang="en-US"/>
          </a:p>
        </p:txBody>
      </p:sp>
      <p:graphicFrame>
        <p:nvGraphicFramePr>
          <p:cNvPr id="7" name="Table 6">
            <a:extLst>
              <a:ext uri="{FF2B5EF4-FFF2-40B4-BE49-F238E27FC236}">
                <a16:creationId xmlns:a16="http://schemas.microsoft.com/office/drawing/2014/main" id="{392AD065-0996-0587-44AB-033BD46D391E}"/>
              </a:ext>
            </a:extLst>
          </p:cNvPr>
          <p:cNvGraphicFramePr>
            <a:graphicFrameLocks noGrp="1"/>
          </p:cNvGraphicFramePr>
          <p:nvPr>
            <p:extLst>
              <p:ext uri="{D42A27DB-BD31-4B8C-83A1-F6EECF244321}">
                <p14:modId xmlns:p14="http://schemas.microsoft.com/office/powerpoint/2010/main" val="3482216814"/>
              </p:ext>
            </p:extLst>
          </p:nvPr>
        </p:nvGraphicFramePr>
        <p:xfrm>
          <a:off x="838200" y="2207941"/>
          <a:ext cx="10515601" cy="3961928"/>
        </p:xfrm>
        <a:graphic>
          <a:graphicData uri="http://schemas.openxmlformats.org/drawingml/2006/table">
            <a:tbl>
              <a:tblPr>
                <a:tableStyleId>{5C22544A-7EE6-4342-B048-85BDC9FD1C3A}</a:tableStyleId>
              </a:tblPr>
              <a:tblGrid>
                <a:gridCol w="3407328">
                  <a:extLst>
                    <a:ext uri="{9D8B030D-6E8A-4147-A177-3AD203B41FA5}">
                      <a16:colId xmlns:a16="http://schemas.microsoft.com/office/drawing/2014/main" val="1874211845"/>
                    </a:ext>
                  </a:extLst>
                </a:gridCol>
                <a:gridCol w="1305909">
                  <a:extLst>
                    <a:ext uri="{9D8B030D-6E8A-4147-A177-3AD203B41FA5}">
                      <a16:colId xmlns:a16="http://schemas.microsoft.com/office/drawing/2014/main" val="68947756"/>
                    </a:ext>
                  </a:extLst>
                </a:gridCol>
                <a:gridCol w="1703527">
                  <a:extLst>
                    <a:ext uri="{9D8B030D-6E8A-4147-A177-3AD203B41FA5}">
                      <a16:colId xmlns:a16="http://schemas.microsoft.com/office/drawing/2014/main" val="2870494836"/>
                    </a:ext>
                  </a:extLst>
                </a:gridCol>
                <a:gridCol w="4098837">
                  <a:extLst>
                    <a:ext uri="{9D8B030D-6E8A-4147-A177-3AD203B41FA5}">
                      <a16:colId xmlns:a16="http://schemas.microsoft.com/office/drawing/2014/main" val="1738661997"/>
                    </a:ext>
                  </a:extLst>
                </a:gridCol>
              </a:tblGrid>
              <a:tr h="158567">
                <a:tc>
                  <a:txBody>
                    <a:bodyPr/>
                    <a:lstStyle/>
                    <a:p>
                      <a:pPr>
                        <a:buNone/>
                      </a:pPr>
                      <a:r>
                        <a:rPr lang="en-US" sz="1600"/>
                        <a:t>Dataset File</a:t>
                      </a:r>
                    </a:p>
                  </a:txBody>
                  <a:tcPr marL="82267" marR="82267" marT="41134" marB="41134" anchor="ctr"/>
                </a:tc>
                <a:tc>
                  <a:txBody>
                    <a:bodyPr/>
                    <a:lstStyle/>
                    <a:p>
                      <a:pPr>
                        <a:buNone/>
                      </a:pPr>
                      <a:r>
                        <a:rPr lang="en-US" sz="1600"/>
                        <a:t>Period</a:t>
                      </a:r>
                    </a:p>
                  </a:txBody>
                  <a:tcPr marL="82267" marR="82267" marT="41134" marB="41134" anchor="ctr"/>
                </a:tc>
                <a:tc>
                  <a:txBody>
                    <a:bodyPr/>
                    <a:lstStyle/>
                    <a:p>
                      <a:pPr>
                        <a:buNone/>
                      </a:pPr>
                      <a:r>
                        <a:rPr lang="en-US" sz="1600"/>
                        <a:t>Type</a:t>
                      </a:r>
                    </a:p>
                  </a:txBody>
                  <a:tcPr marL="82267" marR="82267" marT="41134" marB="41134" anchor="ctr"/>
                </a:tc>
                <a:tc>
                  <a:txBody>
                    <a:bodyPr/>
                    <a:lstStyle/>
                    <a:p>
                      <a:pPr>
                        <a:buNone/>
                      </a:pPr>
                      <a:r>
                        <a:rPr lang="en-US" sz="1600"/>
                        <a:t>Key Data Used</a:t>
                      </a:r>
                    </a:p>
                  </a:txBody>
                  <a:tcPr marL="82267" marR="82267" marT="41134" marB="41134" anchor="ctr"/>
                </a:tc>
                <a:extLst>
                  <a:ext uri="{0D108BD9-81ED-4DB2-BD59-A6C34878D82A}">
                    <a16:rowId xmlns:a16="http://schemas.microsoft.com/office/drawing/2014/main" val="1060942208"/>
                  </a:ext>
                </a:extLst>
              </a:tr>
              <a:tr h="605970">
                <a:tc>
                  <a:txBody>
                    <a:bodyPr/>
                    <a:lstStyle/>
                    <a:p>
                      <a:pPr>
                        <a:buNone/>
                      </a:pPr>
                      <a:r>
                        <a:rPr lang="en-US" sz="1600" dirty="0"/>
                        <a:t>patient_information.csv</a:t>
                      </a:r>
                    </a:p>
                  </a:txBody>
                  <a:tcPr marL="82267" marR="82267" marT="41134" marB="41134" anchor="ctr"/>
                </a:tc>
                <a:tc>
                  <a:txBody>
                    <a:bodyPr/>
                    <a:lstStyle/>
                    <a:p>
                      <a:pPr>
                        <a:buNone/>
                      </a:pPr>
                      <a:r>
                        <a:rPr lang="en-US" sz="1600"/>
                        <a:t>2017–2022</a:t>
                      </a:r>
                    </a:p>
                  </a:txBody>
                  <a:tcPr marL="82267" marR="82267" marT="41134" marB="41134" anchor="ctr"/>
                </a:tc>
                <a:tc>
                  <a:txBody>
                    <a:bodyPr/>
                    <a:lstStyle/>
                    <a:p>
                      <a:pPr>
                        <a:buNone/>
                      </a:pPr>
                      <a:r>
                        <a:rPr lang="en-US" sz="1600"/>
                        <a:t>Structured EHR</a:t>
                      </a:r>
                    </a:p>
                  </a:txBody>
                  <a:tcPr marL="82267" marR="82267" marT="41134" marB="41134" anchor="ctr"/>
                </a:tc>
                <a:tc>
                  <a:txBody>
                    <a:bodyPr/>
                    <a:lstStyle/>
                    <a:p>
                      <a:pPr>
                        <a:buNone/>
                      </a:pPr>
                      <a:r>
                        <a:rPr lang="fr-FR" sz="1600"/>
                        <a:t>Patient demographics, surgery type, ASA status, discharge disposition</a:t>
                      </a:r>
                    </a:p>
                  </a:txBody>
                  <a:tcPr marL="82267" marR="82267" marT="41134" marB="41134" anchor="ctr"/>
                </a:tc>
                <a:extLst>
                  <a:ext uri="{0D108BD9-81ED-4DB2-BD59-A6C34878D82A}">
                    <a16:rowId xmlns:a16="http://schemas.microsoft.com/office/drawing/2014/main" val="371947013"/>
                  </a:ext>
                </a:extLst>
              </a:tr>
              <a:tr h="605970">
                <a:tc>
                  <a:txBody>
                    <a:bodyPr/>
                    <a:lstStyle/>
                    <a:p>
                      <a:pPr>
                        <a:buNone/>
                      </a:pPr>
                      <a:r>
                        <a:rPr lang="en-US" sz="1600"/>
                        <a:t>patient_history.csv</a:t>
                      </a:r>
                    </a:p>
                  </a:txBody>
                  <a:tcPr marL="82267" marR="82267" marT="41134" marB="41134" anchor="ctr"/>
                </a:tc>
                <a:tc>
                  <a:txBody>
                    <a:bodyPr/>
                    <a:lstStyle/>
                    <a:p>
                      <a:pPr>
                        <a:buNone/>
                      </a:pPr>
                      <a:r>
                        <a:rPr lang="en-US" sz="1600"/>
                        <a:t>2017–2022</a:t>
                      </a:r>
                    </a:p>
                  </a:txBody>
                  <a:tcPr marL="82267" marR="82267" marT="41134" marB="41134" anchor="ctr"/>
                </a:tc>
                <a:tc>
                  <a:txBody>
                    <a:bodyPr/>
                    <a:lstStyle/>
                    <a:p>
                      <a:pPr>
                        <a:buNone/>
                      </a:pPr>
                      <a:r>
                        <a:rPr lang="en-US" sz="1600"/>
                        <a:t>Structured EHR</a:t>
                      </a:r>
                    </a:p>
                  </a:txBody>
                  <a:tcPr marL="82267" marR="82267" marT="41134" marB="41134" anchor="ctr"/>
                </a:tc>
                <a:tc>
                  <a:txBody>
                    <a:bodyPr/>
                    <a:lstStyle/>
                    <a:p>
                      <a:pPr>
                        <a:buNone/>
                      </a:pPr>
                      <a:r>
                        <a:rPr lang="en-US" sz="1600"/>
                        <a:t>Past medical history, comorbidities, previous procedures</a:t>
                      </a:r>
                    </a:p>
                  </a:txBody>
                  <a:tcPr marL="82267" marR="82267" marT="41134" marB="41134" anchor="ctr"/>
                </a:tc>
                <a:extLst>
                  <a:ext uri="{0D108BD9-81ED-4DB2-BD59-A6C34878D82A}">
                    <a16:rowId xmlns:a16="http://schemas.microsoft.com/office/drawing/2014/main" val="1423592546"/>
                  </a:ext>
                </a:extLst>
              </a:tr>
              <a:tr h="605970">
                <a:tc>
                  <a:txBody>
                    <a:bodyPr/>
                    <a:lstStyle/>
                    <a:p>
                      <a:pPr>
                        <a:buNone/>
                      </a:pPr>
                      <a:r>
                        <a:rPr lang="en-US" sz="1600"/>
                        <a:t>patient_procedure_events.csv</a:t>
                      </a:r>
                    </a:p>
                  </a:txBody>
                  <a:tcPr marL="82267" marR="82267" marT="41134" marB="41134" anchor="ctr"/>
                </a:tc>
                <a:tc>
                  <a:txBody>
                    <a:bodyPr/>
                    <a:lstStyle/>
                    <a:p>
                      <a:pPr>
                        <a:buNone/>
                      </a:pPr>
                      <a:r>
                        <a:rPr lang="en-US" sz="1600"/>
                        <a:t>2017–2022</a:t>
                      </a:r>
                    </a:p>
                  </a:txBody>
                  <a:tcPr marL="82267" marR="82267" marT="41134" marB="41134" anchor="ctr"/>
                </a:tc>
                <a:tc>
                  <a:txBody>
                    <a:bodyPr/>
                    <a:lstStyle/>
                    <a:p>
                      <a:pPr>
                        <a:buNone/>
                      </a:pPr>
                      <a:r>
                        <a:rPr lang="en-US" sz="1600"/>
                        <a:t>Structured EHR</a:t>
                      </a:r>
                    </a:p>
                  </a:txBody>
                  <a:tcPr marL="82267" marR="82267" marT="41134" marB="41134" anchor="ctr"/>
                </a:tc>
                <a:tc>
                  <a:txBody>
                    <a:bodyPr/>
                    <a:lstStyle/>
                    <a:p>
                      <a:pPr>
                        <a:buNone/>
                      </a:pPr>
                      <a:r>
                        <a:rPr lang="en-US" sz="1600"/>
                        <a:t>Procedure start/end times, surgical events, anesthesia details</a:t>
                      </a:r>
                    </a:p>
                  </a:txBody>
                  <a:tcPr marL="82267" marR="82267" marT="41134" marB="41134" anchor="ctr"/>
                </a:tc>
                <a:extLst>
                  <a:ext uri="{0D108BD9-81ED-4DB2-BD59-A6C34878D82A}">
                    <a16:rowId xmlns:a16="http://schemas.microsoft.com/office/drawing/2014/main" val="1254017221"/>
                  </a:ext>
                </a:extLst>
              </a:tr>
              <a:tr h="605970">
                <a:tc>
                  <a:txBody>
                    <a:bodyPr/>
                    <a:lstStyle/>
                    <a:p>
                      <a:pPr>
                        <a:buNone/>
                      </a:pPr>
                      <a:r>
                        <a:rPr lang="en-US" sz="1600"/>
                        <a:t>patient_medications.csv</a:t>
                      </a:r>
                    </a:p>
                  </a:txBody>
                  <a:tcPr marL="82267" marR="82267" marT="41134" marB="41134" anchor="ctr"/>
                </a:tc>
                <a:tc>
                  <a:txBody>
                    <a:bodyPr/>
                    <a:lstStyle/>
                    <a:p>
                      <a:pPr>
                        <a:buNone/>
                      </a:pPr>
                      <a:r>
                        <a:rPr lang="en-US" sz="1600"/>
                        <a:t>2017–2022</a:t>
                      </a:r>
                    </a:p>
                  </a:txBody>
                  <a:tcPr marL="82267" marR="82267" marT="41134" marB="41134" anchor="ctr"/>
                </a:tc>
                <a:tc>
                  <a:txBody>
                    <a:bodyPr/>
                    <a:lstStyle/>
                    <a:p>
                      <a:pPr>
                        <a:buNone/>
                      </a:pPr>
                      <a:r>
                        <a:rPr lang="en-US" sz="1600"/>
                        <a:t>Structured EHR</a:t>
                      </a:r>
                    </a:p>
                  </a:txBody>
                  <a:tcPr marL="82267" marR="82267" marT="41134" marB="41134" anchor="ctr"/>
                </a:tc>
                <a:tc>
                  <a:txBody>
                    <a:bodyPr/>
                    <a:lstStyle/>
                    <a:p>
                      <a:pPr>
                        <a:buNone/>
                      </a:pPr>
                      <a:r>
                        <a:rPr lang="en-US" sz="1600"/>
                        <a:t>Administered medications, doses, timestamps</a:t>
                      </a:r>
                    </a:p>
                  </a:txBody>
                  <a:tcPr marL="82267" marR="82267" marT="41134" marB="41134" anchor="ctr"/>
                </a:tc>
                <a:extLst>
                  <a:ext uri="{0D108BD9-81ED-4DB2-BD59-A6C34878D82A}">
                    <a16:rowId xmlns:a16="http://schemas.microsoft.com/office/drawing/2014/main" val="3163769326"/>
                  </a:ext>
                </a:extLst>
              </a:tr>
              <a:tr h="605970">
                <a:tc>
                  <a:txBody>
                    <a:bodyPr/>
                    <a:lstStyle/>
                    <a:p>
                      <a:pPr>
                        <a:buNone/>
                      </a:pPr>
                      <a:r>
                        <a:rPr lang="en-US" sz="1600"/>
                        <a:t>patient_labs.csv</a:t>
                      </a:r>
                    </a:p>
                  </a:txBody>
                  <a:tcPr marL="82267" marR="82267" marT="41134" marB="41134" anchor="ctr"/>
                </a:tc>
                <a:tc>
                  <a:txBody>
                    <a:bodyPr/>
                    <a:lstStyle/>
                    <a:p>
                      <a:pPr>
                        <a:buNone/>
                      </a:pPr>
                      <a:r>
                        <a:rPr lang="en-US" sz="1600"/>
                        <a:t>2017–2022</a:t>
                      </a:r>
                    </a:p>
                  </a:txBody>
                  <a:tcPr marL="82267" marR="82267" marT="41134" marB="41134" anchor="ctr"/>
                </a:tc>
                <a:tc>
                  <a:txBody>
                    <a:bodyPr/>
                    <a:lstStyle/>
                    <a:p>
                      <a:pPr>
                        <a:buNone/>
                      </a:pPr>
                      <a:r>
                        <a:rPr lang="en-US" sz="1600"/>
                        <a:t>Structured EHR</a:t>
                      </a:r>
                    </a:p>
                  </a:txBody>
                  <a:tcPr marL="82267" marR="82267" marT="41134" marB="41134" anchor="ctr"/>
                </a:tc>
                <a:tc>
                  <a:txBody>
                    <a:bodyPr/>
                    <a:lstStyle/>
                    <a:p>
                      <a:pPr>
                        <a:buNone/>
                      </a:pPr>
                      <a:r>
                        <a:rPr lang="en-US" sz="1600"/>
                        <a:t>Lab test names, results, reference ranges, timestamps</a:t>
                      </a:r>
                    </a:p>
                  </a:txBody>
                  <a:tcPr marL="82267" marR="82267" marT="41134" marB="41134" anchor="ctr"/>
                </a:tc>
                <a:extLst>
                  <a:ext uri="{0D108BD9-81ED-4DB2-BD59-A6C34878D82A}">
                    <a16:rowId xmlns:a16="http://schemas.microsoft.com/office/drawing/2014/main" val="1130391779"/>
                  </a:ext>
                </a:extLst>
              </a:tr>
              <a:tr h="605970">
                <a:tc>
                  <a:txBody>
                    <a:bodyPr/>
                    <a:lstStyle/>
                    <a:p>
                      <a:pPr>
                        <a:buNone/>
                      </a:pPr>
                      <a:r>
                        <a:rPr lang="fr-FR" sz="1600"/>
                        <a:t>patient_post_op_complications.csv</a:t>
                      </a:r>
                    </a:p>
                  </a:txBody>
                  <a:tcPr marL="82267" marR="82267" marT="41134" marB="41134" anchor="ctr"/>
                </a:tc>
                <a:tc>
                  <a:txBody>
                    <a:bodyPr/>
                    <a:lstStyle/>
                    <a:p>
                      <a:pPr>
                        <a:buNone/>
                      </a:pPr>
                      <a:r>
                        <a:rPr lang="en-US" sz="1600"/>
                        <a:t>2017–2022</a:t>
                      </a:r>
                    </a:p>
                  </a:txBody>
                  <a:tcPr marL="82267" marR="82267" marT="41134" marB="41134" anchor="ctr"/>
                </a:tc>
                <a:tc>
                  <a:txBody>
                    <a:bodyPr/>
                    <a:lstStyle/>
                    <a:p>
                      <a:pPr>
                        <a:buNone/>
                      </a:pPr>
                      <a:r>
                        <a:rPr lang="en-US" sz="1600"/>
                        <a:t>Structured EHR</a:t>
                      </a:r>
                    </a:p>
                  </a:txBody>
                  <a:tcPr marL="82267" marR="82267" marT="41134" marB="41134" anchor="ctr"/>
                </a:tc>
                <a:tc>
                  <a:txBody>
                    <a:bodyPr/>
                    <a:lstStyle/>
                    <a:p>
                      <a:pPr>
                        <a:buNone/>
                      </a:pPr>
                      <a:r>
                        <a:rPr lang="en-US" sz="1600" dirty="0"/>
                        <a:t>Postoperative complication outcomes for prediction</a:t>
                      </a:r>
                    </a:p>
                  </a:txBody>
                  <a:tcPr marL="82267" marR="82267" marT="41134" marB="41134" anchor="ctr"/>
                </a:tc>
                <a:extLst>
                  <a:ext uri="{0D108BD9-81ED-4DB2-BD59-A6C34878D82A}">
                    <a16:rowId xmlns:a16="http://schemas.microsoft.com/office/drawing/2014/main" val="1491252514"/>
                  </a:ext>
                </a:extLst>
              </a:tr>
            </a:tbl>
          </a:graphicData>
        </a:graphic>
      </p:graphicFrame>
    </p:spTree>
    <p:extLst>
      <p:ext uri="{BB962C8B-B14F-4D97-AF65-F5344CB8AC3E}">
        <p14:creationId xmlns:p14="http://schemas.microsoft.com/office/powerpoint/2010/main" val="37047238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C45BC8-3F1C-7F7B-53F0-2942736FC7BB}"/>
              </a:ext>
            </a:extLst>
          </p:cNvPr>
          <p:cNvSpPr>
            <a:spLocks noGrp="1"/>
          </p:cNvSpPr>
          <p:nvPr>
            <p:ph type="title"/>
          </p:nvPr>
        </p:nvSpPr>
        <p:spPr>
          <a:xfrm>
            <a:off x="550863" y="483924"/>
            <a:ext cx="11090275" cy="1091393"/>
          </a:xfrm>
        </p:spPr>
        <p:txBody>
          <a:bodyPr/>
          <a:lstStyle/>
          <a:p>
            <a:r>
              <a:rPr lang="en-US" cap="none" dirty="0">
                <a:latin typeface="Walbaum Display Light"/>
              </a:rPr>
              <a:t>Experimental setup</a:t>
            </a:r>
            <a:endParaRPr lang="en-US">
              <a:latin typeface="Walbaum Display Light"/>
            </a:endParaRPr>
          </a:p>
        </p:txBody>
      </p:sp>
      <p:sp>
        <p:nvSpPr>
          <p:cNvPr id="3" name="Content Placeholder 2">
            <a:extLst>
              <a:ext uri="{FF2B5EF4-FFF2-40B4-BE49-F238E27FC236}">
                <a16:creationId xmlns:a16="http://schemas.microsoft.com/office/drawing/2014/main" id="{6D928A33-EF76-2C55-BCAA-8764EBF87D19}"/>
              </a:ext>
            </a:extLst>
          </p:cNvPr>
          <p:cNvSpPr>
            <a:spLocks noGrp="1"/>
          </p:cNvSpPr>
          <p:nvPr>
            <p:ph sz="quarter" idx="13"/>
          </p:nvPr>
        </p:nvSpPr>
        <p:spPr>
          <a:xfrm>
            <a:off x="550863" y="1897238"/>
            <a:ext cx="11090274" cy="3913188"/>
          </a:xfrm>
        </p:spPr>
        <p:txBody>
          <a:bodyPr vert="horz" lIns="91440" tIns="45720" rIns="91440" bIns="45720" rtlCol="0" anchor="t">
            <a:normAutofit/>
          </a:bodyPr>
          <a:lstStyle/>
          <a:p>
            <a:pPr marL="285750" indent="-285750">
              <a:buFont typeface="Arial"/>
              <a:buChar char="•"/>
            </a:pPr>
            <a:r>
              <a:rPr lang="en-US" sz="2400" dirty="0">
                <a:latin typeface="Aptos"/>
                <a:ea typeface="+mn-lt"/>
                <a:cs typeface="+mn-lt"/>
              </a:rPr>
              <a:t>Compared with models like GRU, </a:t>
            </a:r>
            <a:r>
              <a:rPr lang="en-US" sz="2400" err="1">
                <a:latin typeface="Aptos"/>
                <a:ea typeface="+mn-lt"/>
                <a:cs typeface="+mn-lt"/>
              </a:rPr>
              <a:t>PatchTST</a:t>
            </a:r>
            <a:r>
              <a:rPr lang="en-US" sz="2400" dirty="0">
                <a:latin typeface="Aptos"/>
                <a:ea typeface="+mn-lt"/>
                <a:cs typeface="+mn-lt"/>
              </a:rPr>
              <a:t>, </a:t>
            </a:r>
            <a:r>
              <a:rPr lang="en-US" sz="2400" err="1">
                <a:latin typeface="Aptos"/>
                <a:ea typeface="+mn-lt"/>
                <a:cs typeface="+mn-lt"/>
              </a:rPr>
              <a:t>LLaMA</a:t>
            </a:r>
            <a:r>
              <a:rPr lang="en-US" sz="2400" dirty="0">
                <a:latin typeface="Aptos"/>
                <a:ea typeface="+mn-lt"/>
                <a:cs typeface="+mn-lt"/>
              </a:rPr>
              <a:t>, and EHR-</a:t>
            </a:r>
            <a:r>
              <a:rPr lang="en-US" sz="2400" err="1">
                <a:latin typeface="Aptos"/>
                <a:ea typeface="+mn-lt"/>
                <a:cs typeface="+mn-lt"/>
              </a:rPr>
              <a:t>KnowGen</a:t>
            </a:r>
            <a:r>
              <a:rPr lang="en-US" sz="2400" dirty="0">
                <a:latin typeface="Aptos"/>
                <a:ea typeface="+mn-lt"/>
                <a:cs typeface="+mn-lt"/>
              </a:rPr>
              <a:t>.</a:t>
            </a:r>
          </a:p>
          <a:p>
            <a:pPr marL="285750" indent="-285750">
              <a:buFont typeface="Arial"/>
              <a:buChar char="•"/>
            </a:pPr>
            <a:r>
              <a:rPr lang="en-US" sz="2400" dirty="0">
                <a:latin typeface="Aptos"/>
                <a:ea typeface="+mn-lt"/>
                <a:cs typeface="+mn-lt"/>
              </a:rPr>
              <a:t>Evaluated using Micro-F1 and Macro-F1 on MIMIC-III and IV datasets.</a:t>
            </a:r>
          </a:p>
          <a:p>
            <a:pPr marL="285750" indent="-285750">
              <a:buFont typeface="Arial"/>
              <a:buChar char="•"/>
            </a:pPr>
            <a:r>
              <a:rPr lang="en-US" sz="2400" dirty="0">
                <a:latin typeface="Aptos"/>
                <a:ea typeface="+mn-lt"/>
                <a:cs typeface="+mn-lt"/>
              </a:rPr>
              <a:t>Used Flan-T5 as LLM backbone for fairness.</a:t>
            </a:r>
            <a:endParaRPr lang="en-US" sz="2400" dirty="0">
              <a:latin typeface="Aptos"/>
            </a:endParaRPr>
          </a:p>
          <a:p>
            <a:endParaRPr lang="en-US" dirty="0"/>
          </a:p>
        </p:txBody>
      </p:sp>
      <p:sp>
        <p:nvSpPr>
          <p:cNvPr id="4" name="Date Placeholder 3">
            <a:extLst>
              <a:ext uri="{FF2B5EF4-FFF2-40B4-BE49-F238E27FC236}">
                <a16:creationId xmlns:a16="http://schemas.microsoft.com/office/drawing/2014/main" id="{EB405807-05B3-B9F7-9A0D-08AE9C5FCE78}"/>
              </a:ext>
            </a:extLst>
          </p:cNvPr>
          <p:cNvSpPr>
            <a:spLocks noGrp="1"/>
          </p:cNvSpPr>
          <p:nvPr>
            <p:ph type="dt" sz="half" idx="10"/>
          </p:nvPr>
        </p:nvSpPr>
        <p:spPr/>
        <p:txBody>
          <a:bodyPr/>
          <a:lstStyle/>
          <a:p>
            <a:r>
              <a:rPr lang="en-US"/>
              <a:t>20XX</a:t>
            </a:r>
            <a:endParaRPr lang="en-US" dirty="0"/>
          </a:p>
        </p:txBody>
      </p:sp>
      <p:sp>
        <p:nvSpPr>
          <p:cNvPr id="5" name="Slide Number Placeholder 4">
            <a:extLst>
              <a:ext uri="{FF2B5EF4-FFF2-40B4-BE49-F238E27FC236}">
                <a16:creationId xmlns:a16="http://schemas.microsoft.com/office/drawing/2014/main" id="{316D5C08-4394-D088-232D-090814678D30}"/>
              </a:ext>
            </a:extLst>
          </p:cNvPr>
          <p:cNvSpPr>
            <a:spLocks noGrp="1"/>
          </p:cNvSpPr>
          <p:nvPr>
            <p:ph type="sldNum" sz="quarter" idx="12"/>
          </p:nvPr>
        </p:nvSpPr>
        <p:spPr/>
        <p:txBody>
          <a:bodyPr/>
          <a:lstStyle/>
          <a:p>
            <a:fld id="{DBA1B0FB-D917-4C8C-928F-313BD683BF39}" type="slidenum">
              <a:rPr lang="en-US" smtClean="0"/>
              <a:t>14</a:t>
            </a:fld>
            <a:endParaRPr lang="en-US" dirty="0"/>
          </a:p>
        </p:txBody>
      </p:sp>
    </p:spTree>
    <p:extLst>
      <p:ext uri="{BB962C8B-B14F-4D97-AF65-F5344CB8AC3E}">
        <p14:creationId xmlns:p14="http://schemas.microsoft.com/office/powerpoint/2010/main" val="11401005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72343A-9CB0-F2AD-EF62-5DEE3E97F956}"/>
              </a:ext>
            </a:extLst>
          </p:cNvPr>
          <p:cNvSpPr>
            <a:spLocks noGrp="1"/>
          </p:cNvSpPr>
          <p:nvPr>
            <p:ph type="title"/>
          </p:nvPr>
        </p:nvSpPr>
        <p:spPr>
          <a:xfrm>
            <a:off x="250420" y="897586"/>
            <a:ext cx="5004972" cy="1864196"/>
          </a:xfrm>
        </p:spPr>
        <p:txBody>
          <a:bodyPr anchor="b">
            <a:noAutofit/>
          </a:bodyPr>
          <a:lstStyle/>
          <a:p>
            <a:r>
              <a:rPr lang="en-US" sz="4000" dirty="0">
                <a:latin typeface="Walbaum Display Light"/>
              </a:rPr>
              <a:t>Experimental results</a:t>
            </a:r>
            <a:endParaRPr lang="en-US" sz="4000">
              <a:latin typeface="Walbaum Display Light"/>
            </a:endParaRPr>
          </a:p>
        </p:txBody>
      </p:sp>
      <p:pic>
        <p:nvPicPr>
          <p:cNvPr id="23" name="Content Placeholder 22" descr="A screenshot of a data sheet&#10;&#10;AI-generated content may be incorrect.">
            <a:extLst>
              <a:ext uri="{FF2B5EF4-FFF2-40B4-BE49-F238E27FC236}">
                <a16:creationId xmlns:a16="http://schemas.microsoft.com/office/drawing/2014/main" id="{C4302BB1-D4E5-76CF-0D30-5B66DFEF2348}"/>
              </a:ext>
            </a:extLst>
          </p:cNvPr>
          <p:cNvPicPr>
            <a:picLocks noGrp="1" noChangeAspect="1"/>
          </p:cNvPicPr>
          <p:nvPr>
            <p:ph idx="1"/>
          </p:nvPr>
        </p:nvPicPr>
        <p:blipFill>
          <a:blip r:embed="rId3"/>
          <a:stretch>
            <a:fillRect/>
          </a:stretch>
        </p:blipFill>
        <p:spPr>
          <a:xfrm>
            <a:off x="5964537" y="455043"/>
            <a:ext cx="5683190" cy="2756139"/>
          </a:xfrm>
          <a:prstGeom prst="rect">
            <a:avLst/>
          </a:prstGeom>
        </p:spPr>
      </p:pic>
      <p:sp>
        <p:nvSpPr>
          <p:cNvPr id="29" name="Date Placeholder 4">
            <a:extLst>
              <a:ext uri="{FF2B5EF4-FFF2-40B4-BE49-F238E27FC236}">
                <a16:creationId xmlns:a16="http://schemas.microsoft.com/office/drawing/2014/main" id="{177E46A4-051A-8C9F-6075-B0303AD31753}"/>
              </a:ext>
            </a:extLst>
          </p:cNvPr>
          <p:cNvSpPr>
            <a:spLocks noGrp="1"/>
          </p:cNvSpPr>
          <p:nvPr>
            <p:ph type="dt" sz="half" idx="10"/>
          </p:nvPr>
        </p:nvSpPr>
        <p:spPr/>
        <p:txBody>
          <a:bodyPr/>
          <a:lstStyle/>
          <a:p>
            <a:pPr>
              <a:spcAft>
                <a:spcPts val="600"/>
              </a:spcAft>
            </a:pPr>
            <a:fld id="{60ED920F-C37C-4FDD-979C-0462A1C7E82F}" type="datetime1">
              <a:rPr lang="en-US"/>
              <a:pPr>
                <a:spcAft>
                  <a:spcPts val="600"/>
                </a:spcAft>
              </a:pPr>
              <a:t>9/29/2026</a:t>
            </a:fld>
            <a:endParaRPr lang="en-US"/>
          </a:p>
        </p:txBody>
      </p:sp>
      <p:sp>
        <p:nvSpPr>
          <p:cNvPr id="30" name="Slide Number Placeholder 5">
            <a:extLst>
              <a:ext uri="{FF2B5EF4-FFF2-40B4-BE49-F238E27FC236}">
                <a16:creationId xmlns:a16="http://schemas.microsoft.com/office/drawing/2014/main" id="{5EFA59E8-4311-F235-AB05-B61F4D4E08AD}"/>
              </a:ext>
            </a:extLst>
          </p:cNvPr>
          <p:cNvSpPr>
            <a:spLocks noGrp="1"/>
          </p:cNvSpPr>
          <p:nvPr>
            <p:ph type="sldNum" sz="quarter" idx="12"/>
          </p:nvPr>
        </p:nvSpPr>
        <p:spPr/>
        <p:txBody>
          <a:bodyPr/>
          <a:lstStyle/>
          <a:p>
            <a:pPr>
              <a:spcAft>
                <a:spcPts val="600"/>
              </a:spcAft>
            </a:pPr>
            <a:fld id="{196A61CA-0502-4EE4-9724-96EA822543E5}" type="slidenum">
              <a:rPr lang="en-US" dirty="0"/>
              <a:pPr>
                <a:spcAft>
                  <a:spcPts val="600"/>
                </a:spcAft>
              </a:pPr>
              <a:t>15</a:t>
            </a:fld>
            <a:endParaRPr lang="en-US"/>
          </a:p>
        </p:txBody>
      </p:sp>
      <p:sp>
        <p:nvSpPr>
          <p:cNvPr id="4" name="Slide Number Placeholder 3" hidden="1">
            <a:extLst>
              <a:ext uri="{FF2B5EF4-FFF2-40B4-BE49-F238E27FC236}">
                <a16:creationId xmlns:a16="http://schemas.microsoft.com/office/drawing/2014/main" id="{D863A962-D60E-5D49-0E8B-463A50E7B62A}"/>
              </a:ext>
            </a:extLst>
          </p:cNvPr>
          <p:cNvSpPr>
            <a:spLocks noGrp="1"/>
          </p:cNvSpPr>
          <p:nvPr>
            <p:ph type="sldNum" sz="quarter" idx="4294967295"/>
          </p:nvPr>
        </p:nvSpPr>
        <p:spPr>
          <a:xfrm>
            <a:off x="11563350" y="3219450"/>
            <a:ext cx="628650" cy="430213"/>
          </a:xfrm>
        </p:spPr>
        <p:txBody>
          <a:bodyPr/>
          <a:lstStyle/>
          <a:p>
            <a:pPr>
              <a:spcAft>
                <a:spcPts val="600"/>
              </a:spcAft>
            </a:pPr>
            <a:fld id="{DBA1B0FB-D917-4C8C-928F-313BD683BF39}" type="slidenum">
              <a:rPr lang="en-US" smtClean="0"/>
              <a:pPr>
                <a:spcAft>
                  <a:spcPts val="600"/>
                </a:spcAft>
              </a:pPr>
              <a:t>15</a:t>
            </a:fld>
            <a:endParaRPr lang="en-US"/>
          </a:p>
        </p:txBody>
      </p:sp>
      <p:pic>
        <p:nvPicPr>
          <p:cNvPr id="27" name="Picture 26" descr="A screenshot of a table&#10;&#10;AI-generated content may be incorrect.">
            <a:extLst>
              <a:ext uri="{FF2B5EF4-FFF2-40B4-BE49-F238E27FC236}">
                <a16:creationId xmlns:a16="http://schemas.microsoft.com/office/drawing/2014/main" id="{442B8684-B747-4C7A-6BC9-5B2D11254899}"/>
              </a:ext>
            </a:extLst>
          </p:cNvPr>
          <p:cNvPicPr>
            <a:picLocks noChangeAspect="1"/>
          </p:cNvPicPr>
          <p:nvPr/>
        </p:nvPicPr>
        <p:blipFill>
          <a:blip r:embed="rId4"/>
          <a:stretch>
            <a:fillRect/>
          </a:stretch>
        </p:blipFill>
        <p:spPr>
          <a:xfrm>
            <a:off x="249447" y="3656701"/>
            <a:ext cx="5553973" cy="2736370"/>
          </a:xfrm>
          <a:prstGeom prst="rect">
            <a:avLst/>
          </a:prstGeom>
        </p:spPr>
      </p:pic>
      <p:sp>
        <p:nvSpPr>
          <p:cNvPr id="3" name="TextBox 2">
            <a:extLst>
              <a:ext uri="{FF2B5EF4-FFF2-40B4-BE49-F238E27FC236}">
                <a16:creationId xmlns:a16="http://schemas.microsoft.com/office/drawing/2014/main" id="{A2A2DC14-E795-7094-527F-D53C0A4BD7B3}"/>
              </a:ext>
            </a:extLst>
          </p:cNvPr>
          <p:cNvSpPr txBox="1"/>
          <p:nvPr/>
        </p:nvSpPr>
        <p:spPr>
          <a:xfrm>
            <a:off x="6176210" y="3789946"/>
            <a:ext cx="5474368" cy="295465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2100" dirty="0">
                <a:latin typeface="Walbaum Display Light"/>
                <a:ea typeface="+mn-lt"/>
                <a:cs typeface="+mn-lt"/>
              </a:rPr>
              <a:t>Evaluated on MIMIC-III and MIMIC-IV datasets.</a:t>
            </a:r>
          </a:p>
          <a:p>
            <a:pPr marL="285750" indent="-285750">
              <a:buFont typeface="Arial"/>
              <a:buChar char="•"/>
            </a:pPr>
            <a:r>
              <a:rPr lang="en-US" sz="2100" dirty="0">
                <a:latin typeface="Walbaum Display Light"/>
                <a:ea typeface="+mn-lt"/>
                <a:cs typeface="+mn-lt"/>
              </a:rPr>
              <a:t>Outperformed baseline models like GRU, </a:t>
            </a:r>
            <a:r>
              <a:rPr lang="en-US" sz="2100" dirty="0" err="1">
                <a:latin typeface="Walbaum Display Light"/>
                <a:ea typeface="+mn-lt"/>
                <a:cs typeface="+mn-lt"/>
              </a:rPr>
              <a:t>PatchTST</a:t>
            </a:r>
            <a:r>
              <a:rPr lang="en-US" sz="2100" dirty="0">
                <a:latin typeface="Walbaum Display Light"/>
                <a:ea typeface="+mn-lt"/>
                <a:cs typeface="+mn-lt"/>
              </a:rPr>
              <a:t>, and </a:t>
            </a:r>
            <a:r>
              <a:rPr lang="en-US" sz="2100" dirty="0" err="1">
                <a:latin typeface="Walbaum Display Light"/>
                <a:ea typeface="+mn-lt"/>
                <a:cs typeface="+mn-lt"/>
              </a:rPr>
              <a:t>LLaMA</a:t>
            </a:r>
            <a:r>
              <a:rPr lang="en-US" sz="2100" dirty="0">
                <a:latin typeface="Walbaum Display Light"/>
                <a:ea typeface="+mn-lt"/>
                <a:cs typeface="+mn-lt"/>
              </a:rPr>
              <a:t>.</a:t>
            </a:r>
          </a:p>
          <a:p>
            <a:pPr marL="285750" indent="-285750">
              <a:buFont typeface="Arial"/>
              <a:buChar char="•"/>
            </a:pPr>
            <a:r>
              <a:rPr lang="en-US" sz="2100" dirty="0">
                <a:latin typeface="Walbaum Display Light"/>
                <a:ea typeface="+mn-lt"/>
                <a:cs typeface="+mn-lt"/>
              </a:rPr>
              <a:t>Achieved highest Macro and Micro F1-scores.</a:t>
            </a:r>
          </a:p>
          <a:p>
            <a:pPr marL="285750" indent="-285750">
              <a:buFont typeface="Arial"/>
              <a:buChar char="•"/>
            </a:pPr>
            <a:r>
              <a:rPr lang="en-US" sz="2100" dirty="0">
                <a:latin typeface="Walbaum Display Light"/>
                <a:ea typeface="+mn-lt"/>
                <a:cs typeface="+mn-lt"/>
              </a:rPr>
              <a:t>Demonstrated efficiency with fewer parameters.</a:t>
            </a:r>
            <a:endParaRPr lang="en-US" sz="2100" dirty="0">
              <a:latin typeface="Walbaum Display Light"/>
            </a:endParaRPr>
          </a:p>
          <a:p>
            <a:pPr algn="l"/>
            <a:endParaRPr lang="en-US" dirty="0"/>
          </a:p>
        </p:txBody>
      </p:sp>
    </p:spTree>
    <p:extLst>
      <p:ext uri="{BB962C8B-B14F-4D97-AF65-F5344CB8AC3E}">
        <p14:creationId xmlns:p14="http://schemas.microsoft.com/office/powerpoint/2010/main" val="6528417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Placeholder 7" descr="Data Points Digital background">
            <a:extLst>
              <a:ext uri="{FF2B5EF4-FFF2-40B4-BE49-F238E27FC236}">
                <a16:creationId xmlns:a16="http://schemas.microsoft.com/office/drawing/2014/main" id="{1358CD3B-43A8-5BF7-2E60-B0563F068D11}"/>
              </a:ext>
            </a:extLst>
          </p:cNvPr>
          <p:cNvPicPr>
            <a:picLocks noGrp="1" noChangeAspect="1"/>
          </p:cNvPicPr>
          <p:nvPr>
            <p:ph type="pic" sz="quarter" idx="13"/>
          </p:nvPr>
        </p:nvPicPr>
        <p:blipFill>
          <a:blip r:embed="rId3">
            <a:alphaModFix amt="45000"/>
            <a:extLst>
              <a:ext uri="{28A0092B-C50C-407E-A947-70E740481C1C}">
                <a14:useLocalDpi xmlns:a14="http://schemas.microsoft.com/office/drawing/2010/main" val="0"/>
              </a:ext>
            </a:extLst>
          </a:blip>
          <a:srcRect/>
          <a:stretch/>
        </p:blipFill>
        <p:spPr/>
      </p:pic>
      <p:sp>
        <p:nvSpPr>
          <p:cNvPr id="7" name="Title 6">
            <a:extLst>
              <a:ext uri="{FF2B5EF4-FFF2-40B4-BE49-F238E27FC236}">
                <a16:creationId xmlns:a16="http://schemas.microsoft.com/office/drawing/2014/main" id="{8A84D4AF-8D29-5A55-F3F8-1E928E3B08FF}"/>
              </a:ext>
            </a:extLst>
          </p:cNvPr>
          <p:cNvSpPr>
            <a:spLocks noGrp="1"/>
          </p:cNvSpPr>
          <p:nvPr>
            <p:ph type="ctrTitle"/>
          </p:nvPr>
        </p:nvSpPr>
        <p:spPr>
          <a:xfrm>
            <a:off x="143774" y="327133"/>
            <a:ext cx="9144000" cy="1380226"/>
          </a:xfrm>
        </p:spPr>
        <p:txBody>
          <a:bodyPr/>
          <a:lstStyle/>
          <a:p>
            <a:r>
              <a:rPr lang="en-US" dirty="0"/>
              <a:t>Ablation studies</a:t>
            </a:r>
          </a:p>
        </p:txBody>
      </p:sp>
      <p:sp>
        <p:nvSpPr>
          <p:cNvPr id="8" name="Subtitle 7">
            <a:extLst>
              <a:ext uri="{FF2B5EF4-FFF2-40B4-BE49-F238E27FC236}">
                <a16:creationId xmlns:a16="http://schemas.microsoft.com/office/drawing/2014/main" id="{6450744F-A4B6-FD90-F6DA-4EF9A192E377}"/>
              </a:ext>
            </a:extLst>
          </p:cNvPr>
          <p:cNvSpPr>
            <a:spLocks noGrp="1"/>
          </p:cNvSpPr>
          <p:nvPr>
            <p:ph type="subTitle" idx="1"/>
          </p:nvPr>
        </p:nvSpPr>
        <p:spPr>
          <a:xfrm>
            <a:off x="287547" y="1844519"/>
            <a:ext cx="9144000" cy="2286000"/>
          </a:xfrm>
        </p:spPr>
        <p:txBody>
          <a:bodyPr/>
          <a:lstStyle/>
          <a:p>
            <a:r>
              <a:rPr lang="en-US" dirty="0"/>
              <a:t>Enhancing your presentation</a:t>
            </a:r>
          </a:p>
        </p:txBody>
      </p:sp>
      <p:sp>
        <p:nvSpPr>
          <p:cNvPr id="2" name="Slide Number Placeholder 1">
            <a:extLst>
              <a:ext uri="{FF2B5EF4-FFF2-40B4-BE49-F238E27FC236}">
                <a16:creationId xmlns:a16="http://schemas.microsoft.com/office/drawing/2014/main" id="{78490E93-CE40-A965-B53E-1590511B9161}"/>
              </a:ext>
            </a:extLst>
          </p:cNvPr>
          <p:cNvSpPr>
            <a:spLocks noGrp="1"/>
          </p:cNvSpPr>
          <p:nvPr>
            <p:ph type="sldNum" sz="quarter" idx="12"/>
          </p:nvPr>
        </p:nvSpPr>
        <p:spPr/>
        <p:txBody>
          <a:bodyPr/>
          <a:lstStyle/>
          <a:p>
            <a:fld id="{CBD12358-51D2-46B3-9BDE-DF29528B9454}" type="slidenum">
              <a:rPr lang="en-US" smtClean="0"/>
              <a:t>16</a:t>
            </a:fld>
            <a:endParaRPr lang="en-US"/>
          </a:p>
        </p:txBody>
      </p:sp>
      <p:pic>
        <p:nvPicPr>
          <p:cNvPr id="3" name="Picture 2">
            <a:extLst>
              <a:ext uri="{FF2B5EF4-FFF2-40B4-BE49-F238E27FC236}">
                <a16:creationId xmlns:a16="http://schemas.microsoft.com/office/drawing/2014/main" id="{DB0D1E88-F302-041E-6DB6-55EB3A8F29DF}"/>
              </a:ext>
            </a:extLst>
          </p:cNvPr>
          <p:cNvPicPr>
            <a:picLocks noChangeAspect="1"/>
          </p:cNvPicPr>
          <p:nvPr/>
        </p:nvPicPr>
        <p:blipFill>
          <a:blip r:embed="rId4"/>
          <a:stretch>
            <a:fillRect/>
          </a:stretch>
        </p:blipFill>
        <p:spPr>
          <a:xfrm>
            <a:off x="709163" y="1843987"/>
            <a:ext cx="6057900" cy="1933575"/>
          </a:xfrm>
          <a:prstGeom prst="rect">
            <a:avLst/>
          </a:prstGeom>
        </p:spPr>
      </p:pic>
      <p:pic>
        <p:nvPicPr>
          <p:cNvPr id="4" name="Picture 3" descr="A table with numbers and a few black text&#10;&#10;AI-generated content may be incorrect.">
            <a:extLst>
              <a:ext uri="{FF2B5EF4-FFF2-40B4-BE49-F238E27FC236}">
                <a16:creationId xmlns:a16="http://schemas.microsoft.com/office/drawing/2014/main" id="{FF2890A7-0116-1850-BABA-168E2584CBB2}"/>
              </a:ext>
            </a:extLst>
          </p:cNvPr>
          <p:cNvPicPr>
            <a:picLocks noChangeAspect="1"/>
          </p:cNvPicPr>
          <p:nvPr/>
        </p:nvPicPr>
        <p:blipFill>
          <a:blip r:embed="rId5"/>
          <a:stretch>
            <a:fillRect/>
          </a:stretch>
        </p:blipFill>
        <p:spPr>
          <a:xfrm>
            <a:off x="5477504" y="4303054"/>
            <a:ext cx="6010275" cy="2105025"/>
          </a:xfrm>
          <a:prstGeom prst="rect">
            <a:avLst/>
          </a:prstGeom>
        </p:spPr>
      </p:pic>
      <p:sp>
        <p:nvSpPr>
          <p:cNvPr id="6" name="TextBox 5">
            <a:extLst>
              <a:ext uri="{FF2B5EF4-FFF2-40B4-BE49-F238E27FC236}">
                <a16:creationId xmlns:a16="http://schemas.microsoft.com/office/drawing/2014/main" id="{CC117D75-3F36-858C-7F9F-491230A3B7D5}"/>
              </a:ext>
            </a:extLst>
          </p:cNvPr>
          <p:cNvSpPr txBox="1"/>
          <p:nvPr/>
        </p:nvSpPr>
        <p:spPr>
          <a:xfrm>
            <a:off x="541420" y="4291263"/>
            <a:ext cx="4692315" cy="198515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2100" dirty="0">
                <a:latin typeface="Walbaum Display Light"/>
                <a:ea typeface="+mn-lt"/>
                <a:cs typeface="+mn-lt"/>
              </a:rPr>
              <a:t>To understand the </a:t>
            </a:r>
            <a:r>
              <a:rPr lang="en-US" sz="2100" b="1" dirty="0">
                <a:latin typeface="Walbaum Display Light"/>
                <a:ea typeface="+mn-lt"/>
                <a:cs typeface="+mn-lt"/>
              </a:rPr>
              <a:t>contribution of each module</a:t>
            </a:r>
            <a:r>
              <a:rPr lang="en-US" sz="2100" dirty="0">
                <a:latin typeface="Walbaum Display Light"/>
                <a:ea typeface="+mn-lt"/>
                <a:cs typeface="+mn-lt"/>
              </a:rPr>
              <a:t> in the </a:t>
            </a:r>
            <a:r>
              <a:rPr lang="en-US" sz="2100" dirty="0" err="1">
                <a:latin typeface="Walbaum Display Light"/>
                <a:ea typeface="+mn-lt"/>
                <a:cs typeface="+mn-lt"/>
              </a:rPr>
              <a:t>ProMedTS</a:t>
            </a:r>
            <a:r>
              <a:rPr lang="en-US" sz="2100" dirty="0">
                <a:latin typeface="Walbaum Display Light"/>
                <a:ea typeface="+mn-lt"/>
                <a:cs typeface="+mn-lt"/>
              </a:rPr>
              <a:t> framework.</a:t>
            </a:r>
            <a:endParaRPr lang="en-US" sz="2100" dirty="0">
              <a:latin typeface="Walbaum Display Light"/>
            </a:endParaRPr>
          </a:p>
          <a:p>
            <a:pPr marL="285750" indent="-285750">
              <a:buFont typeface="Arial"/>
              <a:buChar char="•"/>
            </a:pPr>
            <a:r>
              <a:rPr lang="en-US" sz="2100" dirty="0">
                <a:latin typeface="Walbaum Display Light"/>
                <a:ea typeface="+mn-lt"/>
                <a:cs typeface="+mn-lt"/>
              </a:rPr>
              <a:t>To test what happens when certain features are </a:t>
            </a:r>
            <a:r>
              <a:rPr lang="en-US" sz="2100" b="1" dirty="0">
                <a:latin typeface="Walbaum Display Light"/>
                <a:ea typeface="+mn-lt"/>
                <a:cs typeface="+mn-lt"/>
              </a:rPr>
              <a:t>removed or modified</a:t>
            </a:r>
            <a:r>
              <a:rPr lang="en-US" sz="2100" dirty="0">
                <a:latin typeface="Walbaum Display Light"/>
                <a:ea typeface="+mn-lt"/>
                <a:cs typeface="+mn-lt"/>
              </a:rPr>
              <a:t>.</a:t>
            </a:r>
            <a:endParaRPr lang="en-US" sz="2100" dirty="0">
              <a:latin typeface="Walbaum Display Light"/>
            </a:endParaRPr>
          </a:p>
          <a:p>
            <a:pPr algn="l"/>
            <a:endParaRPr lang="en-US" dirty="0"/>
          </a:p>
        </p:txBody>
      </p:sp>
    </p:spTree>
    <p:extLst>
      <p:ext uri="{BB962C8B-B14F-4D97-AF65-F5344CB8AC3E}">
        <p14:creationId xmlns:p14="http://schemas.microsoft.com/office/powerpoint/2010/main" val="28555141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76CC09F-7383-3A4C-555C-35DA0BB4B76E}"/>
              </a:ext>
            </a:extLst>
          </p:cNvPr>
          <p:cNvSpPr>
            <a:spLocks noGrp="1"/>
          </p:cNvSpPr>
          <p:nvPr>
            <p:ph type="title"/>
          </p:nvPr>
        </p:nvSpPr>
        <p:spPr/>
        <p:txBody>
          <a:bodyPr/>
          <a:lstStyle/>
          <a:p>
            <a:r>
              <a:rPr lang="en-US" dirty="0"/>
              <a:t>Limitations</a:t>
            </a:r>
          </a:p>
        </p:txBody>
      </p:sp>
      <p:sp>
        <p:nvSpPr>
          <p:cNvPr id="6" name="Content Placeholder 5">
            <a:extLst>
              <a:ext uri="{FF2B5EF4-FFF2-40B4-BE49-F238E27FC236}">
                <a16:creationId xmlns:a16="http://schemas.microsoft.com/office/drawing/2014/main" id="{9BE7E655-DBBE-1E38-D543-EB34028F2F2B}"/>
              </a:ext>
            </a:extLst>
          </p:cNvPr>
          <p:cNvSpPr>
            <a:spLocks noGrp="1"/>
          </p:cNvSpPr>
          <p:nvPr>
            <p:ph sz="half" idx="1"/>
          </p:nvPr>
        </p:nvSpPr>
        <p:spPr/>
        <p:txBody>
          <a:bodyPr vert="horz" lIns="91440" tIns="45720" rIns="91440" bIns="45720" rtlCol="0" anchor="t">
            <a:normAutofit/>
          </a:bodyPr>
          <a:lstStyle/>
          <a:p>
            <a:pPr marL="285750" indent="-285750">
              <a:buChar char="•"/>
            </a:pPr>
            <a:r>
              <a:rPr lang="en-US" sz="2400" dirty="0">
                <a:latin typeface="Aptos"/>
                <a:ea typeface="+mn-lt"/>
                <a:cs typeface="+mn-lt"/>
              </a:rPr>
              <a:t>Limited Evaluation Scope</a:t>
            </a:r>
            <a:endParaRPr lang="en-US" sz="2400">
              <a:latin typeface="Aptos"/>
            </a:endParaRPr>
          </a:p>
          <a:p>
            <a:pPr marL="285750" indent="-285750">
              <a:buChar char="•"/>
            </a:pPr>
            <a:r>
              <a:rPr lang="en-US" sz="2400" dirty="0">
                <a:latin typeface="Aptos"/>
                <a:ea typeface="+mn-lt"/>
                <a:cs typeface="+mn-lt"/>
              </a:rPr>
              <a:t>High-Level Disease Focus</a:t>
            </a:r>
          </a:p>
          <a:p>
            <a:pPr marL="285750" indent="-285750">
              <a:buChar char="•"/>
            </a:pPr>
            <a:r>
              <a:rPr lang="en-US" sz="2400" dirty="0">
                <a:latin typeface="Aptos"/>
                <a:ea typeface="+mn-lt"/>
                <a:cs typeface="+mn-lt"/>
              </a:rPr>
              <a:t>Lack of Explainability</a:t>
            </a:r>
            <a:endParaRPr lang="en-US" sz="2400" dirty="0">
              <a:latin typeface="Aptos"/>
            </a:endParaRPr>
          </a:p>
        </p:txBody>
      </p:sp>
      <p:sp>
        <p:nvSpPr>
          <p:cNvPr id="7" name="Content Placeholder 6">
            <a:extLst>
              <a:ext uri="{FF2B5EF4-FFF2-40B4-BE49-F238E27FC236}">
                <a16:creationId xmlns:a16="http://schemas.microsoft.com/office/drawing/2014/main" id="{845A03A5-6D4D-7072-B3BD-F2DA38CADEB0}"/>
              </a:ext>
            </a:extLst>
          </p:cNvPr>
          <p:cNvSpPr>
            <a:spLocks noGrp="1"/>
          </p:cNvSpPr>
          <p:nvPr>
            <p:ph sz="half" idx="13"/>
          </p:nvPr>
        </p:nvSpPr>
        <p:spPr/>
        <p:txBody>
          <a:bodyPr vert="horz" lIns="91440" tIns="45720" rIns="91440" bIns="45720" rtlCol="0" anchor="t">
            <a:normAutofit/>
          </a:bodyPr>
          <a:lstStyle/>
          <a:p>
            <a:pPr marL="514350" lvl="1" indent="-285750">
              <a:buFont typeface="Arial"/>
              <a:buChar char="•"/>
            </a:pPr>
            <a:r>
              <a:rPr lang="en-US" sz="2400" dirty="0">
                <a:latin typeface="Aptos"/>
                <a:ea typeface="+mn-lt"/>
                <a:cs typeface="+mn-lt"/>
              </a:rPr>
              <a:t>Computational Cost &amp; Data Volume</a:t>
            </a:r>
            <a:endParaRPr lang="en-US" sz="2400">
              <a:latin typeface="Aptos"/>
            </a:endParaRPr>
          </a:p>
          <a:p>
            <a:pPr marL="514350" lvl="1" indent="-285750">
              <a:buFont typeface="Arial"/>
              <a:buChar char="•"/>
            </a:pPr>
            <a:r>
              <a:rPr lang="en-US" sz="2400" dirty="0">
                <a:latin typeface="Aptos"/>
                <a:ea typeface="+mn-lt"/>
                <a:cs typeface="+mn-lt"/>
              </a:rPr>
              <a:t>Anomaly Caption Bias</a:t>
            </a:r>
            <a:endParaRPr lang="en-US" sz="2400">
              <a:latin typeface="Aptos"/>
            </a:endParaRPr>
          </a:p>
          <a:p>
            <a:pPr marL="514350" lvl="1" indent="-285750">
              <a:buFont typeface="Arial"/>
              <a:buChar char="•"/>
            </a:pPr>
            <a:r>
              <a:rPr lang="en-US" sz="2400" dirty="0">
                <a:latin typeface="Aptos"/>
                <a:ea typeface="+mn-lt"/>
                <a:cs typeface="+mn-lt"/>
              </a:rPr>
              <a:t>Limited Clinical Validation</a:t>
            </a:r>
            <a:endParaRPr lang="en-US" sz="2400" b="1">
              <a:latin typeface="Aptos"/>
            </a:endParaRPr>
          </a:p>
        </p:txBody>
      </p:sp>
      <p:sp>
        <p:nvSpPr>
          <p:cNvPr id="2" name="Slide Number Placeholder 1">
            <a:extLst>
              <a:ext uri="{FF2B5EF4-FFF2-40B4-BE49-F238E27FC236}">
                <a16:creationId xmlns:a16="http://schemas.microsoft.com/office/drawing/2014/main" id="{A027B9D5-0D89-34A9-3B0B-C68153A8FFF5}"/>
              </a:ext>
            </a:extLst>
          </p:cNvPr>
          <p:cNvSpPr>
            <a:spLocks noGrp="1"/>
          </p:cNvSpPr>
          <p:nvPr>
            <p:ph type="sldNum" sz="quarter" idx="12"/>
          </p:nvPr>
        </p:nvSpPr>
        <p:spPr/>
        <p:txBody>
          <a:bodyPr/>
          <a:lstStyle/>
          <a:p>
            <a:fld id="{DBA1B0FB-D917-4C8C-928F-313BD683BF39}" type="slidenum">
              <a:rPr lang="en-US" smtClean="0"/>
              <a:t>17</a:t>
            </a:fld>
            <a:endParaRPr lang="en-US"/>
          </a:p>
        </p:txBody>
      </p:sp>
    </p:spTree>
    <p:extLst>
      <p:ext uri="{BB962C8B-B14F-4D97-AF65-F5344CB8AC3E}">
        <p14:creationId xmlns:p14="http://schemas.microsoft.com/office/powerpoint/2010/main" val="2330188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76CC09F-7383-3A4C-555C-35DA0BB4B76E}"/>
              </a:ext>
            </a:extLst>
          </p:cNvPr>
          <p:cNvSpPr>
            <a:spLocks noGrp="1"/>
          </p:cNvSpPr>
          <p:nvPr>
            <p:ph type="title"/>
          </p:nvPr>
        </p:nvSpPr>
        <p:spPr/>
        <p:txBody>
          <a:bodyPr/>
          <a:lstStyle/>
          <a:p>
            <a:r>
              <a:rPr lang="en-US" cap="none" dirty="0">
                <a:latin typeface="Walbaum Display Light"/>
              </a:rPr>
              <a:t>Conclusion</a:t>
            </a:r>
          </a:p>
        </p:txBody>
      </p:sp>
      <p:sp>
        <p:nvSpPr>
          <p:cNvPr id="6" name="Content Placeholder 5">
            <a:extLst>
              <a:ext uri="{FF2B5EF4-FFF2-40B4-BE49-F238E27FC236}">
                <a16:creationId xmlns:a16="http://schemas.microsoft.com/office/drawing/2014/main" id="{9BE7E655-DBBE-1E38-D543-EB34028F2F2B}"/>
              </a:ext>
            </a:extLst>
          </p:cNvPr>
          <p:cNvSpPr>
            <a:spLocks noGrp="1"/>
          </p:cNvSpPr>
          <p:nvPr>
            <p:ph sz="half" idx="1"/>
          </p:nvPr>
        </p:nvSpPr>
        <p:spPr>
          <a:xfrm>
            <a:off x="550862" y="2097175"/>
            <a:ext cx="10395788" cy="3995650"/>
          </a:xfrm>
        </p:spPr>
        <p:txBody>
          <a:bodyPr vert="horz" lIns="91440" tIns="45720" rIns="91440" bIns="45720" rtlCol="0" anchor="t">
            <a:normAutofit/>
          </a:bodyPr>
          <a:lstStyle/>
          <a:p>
            <a:pPr marL="514350" lvl="1" indent="-285750">
              <a:buFont typeface="Arial"/>
              <a:buChar char="•"/>
            </a:pPr>
            <a:r>
              <a:rPr lang="en-US" sz="2400" b="0" dirty="0" err="1">
                <a:ea typeface="+mn-lt"/>
                <a:cs typeface="+mn-lt"/>
              </a:rPr>
              <a:t>ProMedTS</a:t>
            </a:r>
            <a:r>
              <a:rPr lang="en-US" sz="2400" b="0" dirty="0">
                <a:ea typeface="+mn-lt"/>
                <a:cs typeface="+mn-lt"/>
              </a:rPr>
              <a:t> bridges text and time-series through prompt-guided multimodal learning.</a:t>
            </a:r>
            <a:endParaRPr lang="en-US" sz="2400" dirty="0">
              <a:ea typeface="+mn-lt"/>
              <a:cs typeface="+mn-lt"/>
            </a:endParaRPr>
          </a:p>
          <a:p>
            <a:pPr marL="514350" lvl="1" indent="-285750">
              <a:buFont typeface="Arial"/>
              <a:buChar char="•"/>
            </a:pPr>
            <a:r>
              <a:rPr lang="en-US" sz="2400" b="0" dirty="0">
                <a:ea typeface="+mn-lt"/>
                <a:cs typeface="+mn-lt"/>
              </a:rPr>
              <a:t>Achieves state-of-the-art results on MIMIC datasets.</a:t>
            </a:r>
            <a:endParaRPr lang="en-US" sz="2400" dirty="0">
              <a:ea typeface="+mn-lt"/>
              <a:cs typeface="+mn-lt"/>
            </a:endParaRPr>
          </a:p>
          <a:p>
            <a:pPr marL="514350" lvl="1" indent="-285750">
              <a:buFont typeface="Arial"/>
              <a:buChar char="•"/>
            </a:pPr>
            <a:r>
              <a:rPr lang="en-US" sz="2400" b="0" dirty="0">
                <a:ea typeface="+mn-lt"/>
                <a:cs typeface="+mn-lt"/>
              </a:rPr>
              <a:t>Limitations include lack of explainability and specific clinical focus.</a:t>
            </a:r>
            <a:endParaRPr lang="en-US" sz="2400" dirty="0">
              <a:ea typeface="+mn-lt"/>
              <a:cs typeface="+mn-lt"/>
            </a:endParaRPr>
          </a:p>
          <a:p>
            <a:pPr lvl="1"/>
            <a:endParaRPr lang="en-US" dirty="0"/>
          </a:p>
        </p:txBody>
      </p:sp>
      <p:sp>
        <p:nvSpPr>
          <p:cNvPr id="2" name="Slide Number Placeholder 1">
            <a:extLst>
              <a:ext uri="{FF2B5EF4-FFF2-40B4-BE49-F238E27FC236}">
                <a16:creationId xmlns:a16="http://schemas.microsoft.com/office/drawing/2014/main" id="{DECE7BF0-AC9F-9213-DF88-3E4040086F11}"/>
              </a:ext>
            </a:extLst>
          </p:cNvPr>
          <p:cNvSpPr>
            <a:spLocks noGrp="1"/>
          </p:cNvSpPr>
          <p:nvPr>
            <p:ph type="sldNum" sz="quarter" idx="12"/>
          </p:nvPr>
        </p:nvSpPr>
        <p:spPr/>
        <p:txBody>
          <a:bodyPr/>
          <a:lstStyle/>
          <a:p>
            <a:fld id="{DBA1B0FB-D917-4C8C-928F-313BD683BF39}" type="slidenum">
              <a:rPr lang="en-US" smtClean="0"/>
              <a:t>18</a:t>
            </a:fld>
            <a:endParaRPr lang="en-US"/>
          </a:p>
        </p:txBody>
      </p:sp>
    </p:spTree>
    <p:extLst>
      <p:ext uri="{BB962C8B-B14F-4D97-AF65-F5344CB8AC3E}">
        <p14:creationId xmlns:p14="http://schemas.microsoft.com/office/powerpoint/2010/main" val="33534607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545968-70F7-0180-6448-3547E442EF4A}"/>
              </a:ext>
            </a:extLst>
          </p:cNvPr>
          <p:cNvSpPr>
            <a:spLocks noGrp="1"/>
          </p:cNvSpPr>
          <p:nvPr>
            <p:ph type="title"/>
          </p:nvPr>
        </p:nvSpPr>
        <p:spPr>
          <a:noFill/>
        </p:spPr>
        <p:txBody>
          <a:bodyPr anchor="t">
            <a:noAutofit/>
          </a:bodyPr>
          <a:lstStyle/>
          <a:p>
            <a:r>
              <a:rPr lang="en-US" cap="none" dirty="0">
                <a:latin typeface="Walbaum Display Light"/>
              </a:rPr>
              <a:t>References</a:t>
            </a:r>
          </a:p>
        </p:txBody>
      </p:sp>
      <p:sp>
        <p:nvSpPr>
          <p:cNvPr id="8" name="Content Placeholder 7">
            <a:extLst>
              <a:ext uri="{FF2B5EF4-FFF2-40B4-BE49-F238E27FC236}">
                <a16:creationId xmlns:a16="http://schemas.microsoft.com/office/drawing/2014/main" id="{215CE58D-2739-522B-7C3A-6A7C985360C0}"/>
              </a:ext>
            </a:extLst>
          </p:cNvPr>
          <p:cNvSpPr>
            <a:spLocks noGrp="1"/>
          </p:cNvSpPr>
          <p:nvPr>
            <p:ph sz="half" idx="1"/>
          </p:nvPr>
        </p:nvSpPr>
        <p:spPr>
          <a:xfrm>
            <a:off x="553720" y="1830801"/>
            <a:ext cx="10929188" cy="4383944"/>
          </a:xfrm>
          <a:noFill/>
        </p:spPr>
        <p:txBody>
          <a:bodyPr vert="horz" lIns="0" tIns="0" rIns="91440" bIns="45720" rtlCol="0" anchor="t">
            <a:normAutofit/>
          </a:bodyPr>
          <a:lstStyle/>
          <a:p>
            <a:pPr marL="285750" indent="-285750">
              <a:buChar char="•"/>
            </a:pPr>
            <a:r>
              <a:rPr lang="en-US" dirty="0">
                <a:ea typeface="+mn-lt"/>
                <a:cs typeface="+mn-lt"/>
              </a:rPr>
              <a:t>Harsha Nori, Nicholas King, Scott Mayer McKinney, Dean Carignan, and Eric Horvitz. 2023. Capabilities of gpt-4 on medical challenge problems. </a:t>
            </a:r>
            <a:r>
              <a:rPr lang="en-US" err="1">
                <a:ea typeface="+mn-lt"/>
                <a:cs typeface="+mn-lt"/>
              </a:rPr>
              <a:t>arXiv</a:t>
            </a:r>
            <a:r>
              <a:rPr lang="en-US" dirty="0">
                <a:ea typeface="+mn-lt"/>
                <a:cs typeface="+mn-lt"/>
              </a:rPr>
              <a:t> preprint arXiv:2303.13375.</a:t>
            </a:r>
            <a:endParaRPr lang="en-US"/>
          </a:p>
          <a:p>
            <a:pPr marL="285750" indent="-285750">
              <a:buChar char="•"/>
            </a:pPr>
            <a:r>
              <a:rPr lang="en-US" dirty="0" err="1">
                <a:ea typeface="+mn-lt"/>
                <a:cs typeface="+mn-lt"/>
              </a:rPr>
              <a:t>Jieneng</a:t>
            </a:r>
            <a:r>
              <a:rPr lang="en-US" dirty="0">
                <a:ea typeface="+mn-lt"/>
                <a:cs typeface="+mn-lt"/>
              </a:rPr>
              <a:t> Chen, </a:t>
            </a:r>
            <a:r>
              <a:rPr lang="en-US" dirty="0" err="1">
                <a:ea typeface="+mn-lt"/>
                <a:cs typeface="+mn-lt"/>
              </a:rPr>
              <a:t>Yongyi</a:t>
            </a:r>
            <a:r>
              <a:rPr lang="en-US" dirty="0">
                <a:ea typeface="+mn-lt"/>
                <a:cs typeface="+mn-lt"/>
              </a:rPr>
              <a:t> Lu, </a:t>
            </a:r>
            <a:r>
              <a:rPr lang="en-US" dirty="0" err="1">
                <a:ea typeface="+mn-lt"/>
                <a:cs typeface="+mn-lt"/>
              </a:rPr>
              <a:t>Qihang</a:t>
            </a:r>
            <a:r>
              <a:rPr lang="en-US" dirty="0">
                <a:ea typeface="+mn-lt"/>
                <a:cs typeface="+mn-lt"/>
              </a:rPr>
              <a:t> Yu, </a:t>
            </a:r>
            <a:r>
              <a:rPr lang="en-US" dirty="0" err="1">
                <a:ea typeface="+mn-lt"/>
                <a:cs typeface="+mn-lt"/>
              </a:rPr>
              <a:t>Xiangde</a:t>
            </a:r>
            <a:r>
              <a:rPr lang="en-US" dirty="0">
                <a:ea typeface="+mn-lt"/>
                <a:cs typeface="+mn-lt"/>
              </a:rPr>
              <a:t> Luo, Ehsan Adeli, Yan Wang, Le Lu, Alan L Yuille, and </a:t>
            </a:r>
            <a:r>
              <a:rPr lang="en-US" dirty="0" err="1">
                <a:ea typeface="+mn-lt"/>
                <a:cs typeface="+mn-lt"/>
              </a:rPr>
              <a:t>Yuyin</a:t>
            </a:r>
            <a:r>
              <a:rPr lang="en-US" dirty="0">
                <a:ea typeface="+mn-lt"/>
                <a:cs typeface="+mn-lt"/>
              </a:rPr>
              <a:t> Zhou. 2021. </a:t>
            </a:r>
            <a:r>
              <a:rPr lang="en-US" dirty="0" err="1">
                <a:ea typeface="+mn-lt"/>
                <a:cs typeface="+mn-lt"/>
              </a:rPr>
              <a:t>Transunet</a:t>
            </a:r>
            <a:r>
              <a:rPr lang="en-US" dirty="0">
                <a:ea typeface="+mn-lt"/>
                <a:cs typeface="+mn-lt"/>
              </a:rPr>
              <a:t>: Transformers make strong encoders for medical image segmentation. </a:t>
            </a:r>
            <a:r>
              <a:rPr lang="en-US" dirty="0" err="1">
                <a:ea typeface="+mn-lt"/>
                <a:cs typeface="+mn-lt"/>
              </a:rPr>
              <a:t>arXiv</a:t>
            </a:r>
            <a:r>
              <a:rPr lang="en-US" dirty="0">
                <a:ea typeface="+mn-lt"/>
                <a:cs typeface="+mn-lt"/>
              </a:rPr>
              <a:t> preprint arXiv:2102.04306.</a:t>
            </a:r>
          </a:p>
          <a:p>
            <a:pPr marL="285750" indent="-285750">
              <a:buChar char="•"/>
            </a:pPr>
            <a:r>
              <a:rPr lang="en-US" dirty="0">
                <a:ea typeface="+mn-lt"/>
                <a:cs typeface="+mn-lt"/>
              </a:rPr>
              <a:t>Karan Singhal, </a:t>
            </a:r>
            <a:r>
              <a:rPr lang="en-US" err="1">
                <a:ea typeface="+mn-lt"/>
                <a:cs typeface="+mn-lt"/>
              </a:rPr>
              <a:t>Shekoofeh</a:t>
            </a:r>
            <a:r>
              <a:rPr lang="en-US" dirty="0">
                <a:ea typeface="+mn-lt"/>
                <a:cs typeface="+mn-lt"/>
              </a:rPr>
              <a:t> Azizi, Tao Tu, S Sara Mahdavi, Jason Wei, Hyung Won Chung, Nathan Scales, Ajay </a:t>
            </a:r>
            <a:r>
              <a:rPr lang="en-US" err="1">
                <a:ea typeface="+mn-lt"/>
                <a:cs typeface="+mn-lt"/>
              </a:rPr>
              <a:t>Tanwani</a:t>
            </a:r>
            <a:r>
              <a:rPr lang="en-US" dirty="0">
                <a:ea typeface="+mn-lt"/>
                <a:cs typeface="+mn-lt"/>
              </a:rPr>
              <a:t>, Heather Cole-Lewis, Stephen Pfohl, et al. 2023. Large language models encode clinical knowledge. Nature, 620(7972):172–180. </a:t>
            </a:r>
          </a:p>
          <a:p>
            <a:pPr marL="285750" indent="-285750">
              <a:buChar char="•"/>
            </a:pPr>
            <a:r>
              <a:rPr lang="en-US" dirty="0">
                <a:ea typeface="+mn-lt"/>
                <a:cs typeface="+mn-lt"/>
              </a:rPr>
              <a:t>HP Vinutha, B Poornima, and BM Sagar. 2018. Detection of outliers using interquartile range technique from intrusion dataset. In Information and Decision Sciences: Proceedings of the 6th International Conference on FICTA, pages 511–518. Springer.</a:t>
            </a:r>
            <a:endParaRPr lang="en-US" dirty="0"/>
          </a:p>
        </p:txBody>
      </p:sp>
      <p:sp>
        <p:nvSpPr>
          <p:cNvPr id="3" name="Slide Number Placeholder 2">
            <a:extLst>
              <a:ext uri="{FF2B5EF4-FFF2-40B4-BE49-F238E27FC236}">
                <a16:creationId xmlns:a16="http://schemas.microsoft.com/office/drawing/2014/main" id="{F248D27A-A5AD-56F4-9C4F-989C5ACA0D91}"/>
              </a:ext>
            </a:extLst>
          </p:cNvPr>
          <p:cNvSpPr>
            <a:spLocks noGrp="1"/>
          </p:cNvSpPr>
          <p:nvPr>
            <p:ph type="sldNum" sz="quarter" idx="12"/>
          </p:nvPr>
        </p:nvSpPr>
        <p:spPr/>
        <p:txBody>
          <a:bodyPr/>
          <a:lstStyle/>
          <a:p>
            <a:fld id="{CBD12358-51D2-46B3-9BDE-DF29528B9454}" type="slidenum">
              <a:rPr lang="en-US" smtClean="0"/>
              <a:t>19</a:t>
            </a:fld>
            <a:endParaRPr lang="en-US"/>
          </a:p>
        </p:txBody>
      </p:sp>
    </p:spTree>
    <p:extLst>
      <p:ext uri="{BB962C8B-B14F-4D97-AF65-F5344CB8AC3E}">
        <p14:creationId xmlns:p14="http://schemas.microsoft.com/office/powerpoint/2010/main" val="3144403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BAC361-0D7A-DC05-86B5-6DD77D322F5B}"/>
              </a:ext>
            </a:extLst>
          </p:cNvPr>
          <p:cNvSpPr>
            <a:spLocks noGrp="1"/>
          </p:cNvSpPr>
          <p:nvPr>
            <p:ph type="title"/>
          </p:nvPr>
        </p:nvSpPr>
        <p:spPr>
          <a:noFill/>
        </p:spPr>
        <p:txBody>
          <a:bodyPr anchor="b">
            <a:normAutofit/>
          </a:bodyPr>
          <a:lstStyle/>
          <a:p>
            <a:r>
              <a:rPr lang="en-US" dirty="0"/>
              <a:t>Thank you</a:t>
            </a:r>
          </a:p>
        </p:txBody>
      </p:sp>
      <p:pic>
        <p:nvPicPr>
          <p:cNvPr id="25" name="Picture Placeholder 24" descr="A close-up of a network">
            <a:extLst>
              <a:ext uri="{FF2B5EF4-FFF2-40B4-BE49-F238E27FC236}">
                <a16:creationId xmlns:a16="http://schemas.microsoft.com/office/drawing/2014/main" id="{41A1C574-72C6-642F-E4D2-FF0C993AEF78}"/>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t="1" b="1"/>
          <a:stretch/>
        </p:blipFill>
        <p:spPr/>
      </p:pic>
      <p:sp>
        <p:nvSpPr>
          <p:cNvPr id="4" name="Slide Number Placeholder 3">
            <a:extLst>
              <a:ext uri="{FF2B5EF4-FFF2-40B4-BE49-F238E27FC236}">
                <a16:creationId xmlns:a16="http://schemas.microsoft.com/office/drawing/2014/main" id="{D58868EF-FCEA-5558-6696-247EF4DC6AEA}"/>
              </a:ext>
            </a:extLst>
          </p:cNvPr>
          <p:cNvSpPr>
            <a:spLocks noGrp="1"/>
          </p:cNvSpPr>
          <p:nvPr>
            <p:ph type="sldNum" sz="quarter" idx="12"/>
          </p:nvPr>
        </p:nvSpPr>
        <p:spPr/>
        <p:txBody>
          <a:bodyPr/>
          <a:lstStyle/>
          <a:p>
            <a:fld id="{DBA1B0FB-D917-4C8C-928F-313BD683BF39}" type="slidenum">
              <a:rPr lang="en-US" smtClean="0"/>
              <a:t>20</a:t>
            </a:fld>
            <a:endParaRPr lang="en-US"/>
          </a:p>
        </p:txBody>
      </p:sp>
    </p:spTree>
    <p:extLst>
      <p:ext uri="{BB962C8B-B14F-4D97-AF65-F5344CB8AC3E}">
        <p14:creationId xmlns:p14="http://schemas.microsoft.com/office/powerpoint/2010/main" val="254763024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descr="A screenshot of a medical report&#10;&#10;AI-generated content may be incorrect.">
            <a:extLst>
              <a:ext uri="{FF2B5EF4-FFF2-40B4-BE49-F238E27FC236}">
                <a16:creationId xmlns:a16="http://schemas.microsoft.com/office/drawing/2014/main" id="{3BE0318A-DBF9-6FB6-A11E-AEBAAAAC2323}"/>
              </a:ext>
            </a:extLst>
          </p:cNvPr>
          <p:cNvPicPr>
            <a:picLocks noGrp="1" noChangeAspect="1"/>
          </p:cNvPicPr>
          <p:nvPr>
            <p:ph idx="1"/>
          </p:nvPr>
        </p:nvPicPr>
        <p:blipFill>
          <a:blip r:embed="rId2"/>
          <a:stretch>
            <a:fillRect/>
          </a:stretch>
        </p:blipFill>
        <p:spPr>
          <a:xfrm>
            <a:off x="744198" y="455139"/>
            <a:ext cx="7871138" cy="5908768"/>
          </a:xfrm>
          <a:prstGeom prst="rect">
            <a:avLst/>
          </a:prstGeom>
        </p:spPr>
      </p:pic>
      <p:sp>
        <p:nvSpPr>
          <p:cNvPr id="5" name="Date Placeholder 4">
            <a:extLst>
              <a:ext uri="{FF2B5EF4-FFF2-40B4-BE49-F238E27FC236}">
                <a16:creationId xmlns:a16="http://schemas.microsoft.com/office/drawing/2014/main" id="{CCFCED24-FD02-B527-D26A-19CF53985F01}"/>
              </a:ext>
            </a:extLst>
          </p:cNvPr>
          <p:cNvSpPr>
            <a:spLocks noGrp="1"/>
          </p:cNvSpPr>
          <p:nvPr>
            <p:ph type="dt" sz="half" idx="10"/>
          </p:nvPr>
        </p:nvSpPr>
        <p:spPr/>
        <p:txBody>
          <a:bodyPr/>
          <a:lstStyle/>
          <a:p>
            <a:r>
              <a:rPr lang="en-US"/>
              <a:t>20XX</a:t>
            </a:r>
            <a:endParaRPr lang="en-US" dirty="0"/>
          </a:p>
        </p:txBody>
      </p:sp>
      <p:sp>
        <p:nvSpPr>
          <p:cNvPr id="6" name="Slide Number Placeholder 5">
            <a:extLst>
              <a:ext uri="{FF2B5EF4-FFF2-40B4-BE49-F238E27FC236}">
                <a16:creationId xmlns:a16="http://schemas.microsoft.com/office/drawing/2014/main" id="{A4A3177D-CB64-FA20-FCB5-F55A16F0ECD9}"/>
              </a:ext>
            </a:extLst>
          </p:cNvPr>
          <p:cNvSpPr>
            <a:spLocks noGrp="1"/>
          </p:cNvSpPr>
          <p:nvPr>
            <p:ph type="sldNum" sz="quarter" idx="12"/>
          </p:nvPr>
        </p:nvSpPr>
        <p:spPr/>
        <p:txBody>
          <a:bodyPr/>
          <a:lstStyle/>
          <a:p>
            <a:fld id="{DBA1B0FB-D917-4C8C-928F-313BD683BF39}" type="slidenum">
              <a:rPr lang="en-US" smtClean="0"/>
              <a:t>21</a:t>
            </a:fld>
            <a:endParaRPr lang="en-US" dirty="0"/>
          </a:p>
        </p:txBody>
      </p:sp>
    </p:spTree>
    <p:extLst>
      <p:ext uri="{BB962C8B-B14F-4D97-AF65-F5344CB8AC3E}">
        <p14:creationId xmlns:p14="http://schemas.microsoft.com/office/powerpoint/2010/main" val="489991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D30276-584D-65A7-B29B-7B20733D3A63}"/>
              </a:ext>
            </a:extLst>
          </p:cNvPr>
          <p:cNvSpPr>
            <a:spLocks noGrp="1"/>
          </p:cNvSpPr>
          <p:nvPr>
            <p:ph type="title"/>
          </p:nvPr>
        </p:nvSpPr>
        <p:spPr>
          <a:xfrm>
            <a:off x="3779" y="3517"/>
            <a:ext cx="12799329" cy="2893315"/>
          </a:xfrm>
        </p:spPr>
        <p:txBody>
          <a:bodyPr>
            <a:normAutofit/>
          </a:bodyPr>
          <a:lstStyle/>
          <a:p>
            <a:pPr marL="342900" indent="-342900">
              <a:buFont typeface="Arial"/>
              <a:buChar char="•"/>
            </a:pPr>
            <a:r>
              <a:rPr lang="en-US" sz="2400">
                <a:ea typeface="+mj-lt"/>
                <a:cs typeface="+mj-lt"/>
              </a:rPr>
              <a:t>How were anomaly-caption templates chosen and validated clinically?</a:t>
            </a:r>
            <a:endParaRPr lang="en-US" sz="2400"/>
          </a:p>
          <a:p>
            <a:pPr marL="342900" indent="-342900">
              <a:buFont typeface="Arial"/>
              <a:buChar char="•"/>
            </a:pPr>
            <a:r>
              <a:rPr lang="en-US" sz="2400">
                <a:ea typeface="+mj-lt"/>
                <a:cs typeface="+mj-lt"/>
              </a:rPr>
              <a:t>Which components are most sensitive to hyperparameters (α,β,γ)?</a:t>
            </a:r>
            <a:endParaRPr lang="en-US" sz="2400"/>
          </a:p>
          <a:p>
            <a:pPr marL="342900" indent="-342900">
              <a:buFont typeface="Arial"/>
              <a:buChar char="•"/>
            </a:pPr>
            <a:r>
              <a:rPr lang="en-US" sz="2400">
                <a:ea typeface="+mj-lt"/>
                <a:cs typeface="+mj-lt"/>
              </a:rPr>
              <a:t>How were prompt init tokens constructed — random or BERT-initialized?</a:t>
            </a:r>
            <a:endParaRPr lang="en-US" sz="2400"/>
          </a:p>
          <a:p>
            <a:pPr marL="342900" indent="-342900">
              <a:buFont typeface="Arial"/>
              <a:buChar char="•"/>
            </a:pPr>
            <a:r>
              <a:rPr lang="en-US" sz="2400">
                <a:ea typeface="+mj-lt"/>
                <a:cs typeface="+mj-lt"/>
              </a:rPr>
              <a:t>Any unpublished negative results (failures/timeouts)?</a:t>
            </a:r>
            <a:endParaRPr lang="en-US" sz="2400"/>
          </a:p>
          <a:p>
            <a:pPr marL="342900" indent="-342900">
              <a:buFont typeface="Arial"/>
              <a:buChar char="•"/>
            </a:pPr>
            <a:r>
              <a:rPr lang="en-US" sz="2400">
                <a:ea typeface="+mj-lt"/>
                <a:cs typeface="+mj-lt"/>
              </a:rPr>
              <a:t>Plans for waveform integration and clinician evaluations?   -&gt; QUESTIONS</a:t>
            </a:r>
            <a:endParaRPr lang="en-US" sz="2400"/>
          </a:p>
          <a:p>
            <a:endParaRPr lang="en-US"/>
          </a:p>
        </p:txBody>
      </p:sp>
      <p:sp>
        <p:nvSpPr>
          <p:cNvPr id="5" name="Date Placeholder 4">
            <a:extLst>
              <a:ext uri="{FF2B5EF4-FFF2-40B4-BE49-F238E27FC236}">
                <a16:creationId xmlns:a16="http://schemas.microsoft.com/office/drawing/2014/main" id="{102F120F-7AA9-3D14-4F8C-E5E6B1C9D57A}"/>
              </a:ext>
            </a:extLst>
          </p:cNvPr>
          <p:cNvSpPr>
            <a:spLocks noGrp="1"/>
          </p:cNvSpPr>
          <p:nvPr>
            <p:ph type="dt" sz="half" idx="10"/>
          </p:nvPr>
        </p:nvSpPr>
        <p:spPr/>
        <p:txBody>
          <a:bodyPr/>
          <a:lstStyle/>
          <a:p>
            <a:r>
              <a:rPr lang="en-US"/>
              <a:t>20XX</a:t>
            </a:r>
            <a:endParaRPr lang="en-US" dirty="0"/>
          </a:p>
        </p:txBody>
      </p:sp>
      <p:sp>
        <p:nvSpPr>
          <p:cNvPr id="6" name="Slide Number Placeholder 5">
            <a:extLst>
              <a:ext uri="{FF2B5EF4-FFF2-40B4-BE49-F238E27FC236}">
                <a16:creationId xmlns:a16="http://schemas.microsoft.com/office/drawing/2014/main" id="{8E138F25-0FB7-061B-B7B9-EDF241048737}"/>
              </a:ext>
            </a:extLst>
          </p:cNvPr>
          <p:cNvSpPr>
            <a:spLocks noGrp="1"/>
          </p:cNvSpPr>
          <p:nvPr>
            <p:ph type="sldNum" sz="quarter" idx="12"/>
          </p:nvPr>
        </p:nvSpPr>
        <p:spPr/>
        <p:txBody>
          <a:bodyPr/>
          <a:lstStyle/>
          <a:p>
            <a:fld id="{DBA1B0FB-D917-4C8C-928F-313BD683BF39}" type="slidenum">
              <a:rPr lang="en-US" smtClean="0"/>
              <a:t>22</a:t>
            </a:fld>
            <a:endParaRPr lang="en-US" dirty="0"/>
          </a:p>
        </p:txBody>
      </p:sp>
    </p:spTree>
    <p:extLst>
      <p:ext uri="{BB962C8B-B14F-4D97-AF65-F5344CB8AC3E}">
        <p14:creationId xmlns:p14="http://schemas.microsoft.com/office/powerpoint/2010/main" val="988323442"/>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F49CD38-5B57-4682-9FCE-B9174068D0AE}">
  <ds:schemaRefs>
    <ds:schemaRef ds:uri="http://schemas.microsoft.com/sharepoint/v3/contenttype/forms"/>
  </ds:schemaRefs>
</ds:datastoreItem>
</file>

<file path=customXml/itemProps2.xml><?xml version="1.0" encoding="utf-8"?>
<ds:datastoreItem xmlns:ds="http://schemas.openxmlformats.org/officeDocument/2006/customXml" ds:itemID="{1F342EE1-43E5-4AFB-895D-B61B9656DC14}">
  <ds:schemaRefs>
    <ds:schemaRef ds:uri="http://schemas.microsoft.com/office/2006/documentManagement/types"/>
    <ds:schemaRef ds:uri="http://purl.org/dc/terms/"/>
    <ds:schemaRef ds:uri="71af3243-3dd4-4a8d-8c0d-dd76da1f02a5"/>
    <ds:schemaRef ds:uri="http://schemas.microsoft.com/office/2006/metadata/properties"/>
    <ds:schemaRef ds:uri="16c05727-aa75-4e4a-9b5f-8a80a1165891"/>
    <ds:schemaRef ds:uri="http://purl.org/dc/elements/1.1/"/>
    <ds:schemaRef ds:uri="http://schemas.openxmlformats.org/package/2006/metadata/core-properties"/>
    <ds:schemaRef ds:uri="http://schemas.microsoft.com/sharepoint/v3"/>
    <ds:schemaRef ds:uri="http://purl.org/dc/dcmitype/"/>
    <ds:schemaRef ds:uri="http://schemas.microsoft.com/office/infopath/2007/PartnerControls"/>
    <ds:schemaRef ds:uri="230e9df3-be65-4c73-a93b-d1236ebd677e"/>
    <ds:schemaRef ds:uri="http://www.w3.org/XML/1998/namespace"/>
  </ds:schemaRefs>
</ds:datastoreItem>
</file>

<file path=customXml/itemProps3.xml><?xml version="1.0" encoding="utf-8"?>
<ds:datastoreItem xmlns:ds="http://schemas.openxmlformats.org/officeDocument/2006/customXml" ds:itemID="{797783A8-901D-4F73-81D7-AA6841BEB3D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3DFloatVTI</Template>
  <TotalTime>47</TotalTime>
  <Words>2813</Words>
  <Application>Microsoft Office PowerPoint</Application>
  <PresentationFormat>Widescreen</PresentationFormat>
  <Paragraphs>292</Paragraphs>
  <Slides>22</Slides>
  <Notes>16</Notes>
  <HiddenSlides>0</HiddenSlides>
  <MMClips>0</MMClips>
  <ScaleCrop>false</ScaleCrop>
  <HeadingPairs>
    <vt:vector size="4" baseType="variant">
      <vt:variant>
        <vt:lpstr>Theme</vt:lpstr>
      </vt:variant>
      <vt:variant>
        <vt:i4>1</vt:i4>
      </vt:variant>
      <vt:variant>
        <vt:lpstr>Slide Titles</vt:lpstr>
      </vt:variant>
      <vt:variant>
        <vt:i4>22</vt:i4>
      </vt:variant>
    </vt:vector>
  </HeadingPairs>
  <TitlesOfParts>
    <vt:vector size="23" baseType="lpstr">
      <vt:lpstr>Office Theme</vt:lpstr>
      <vt:lpstr>PowerPoint Presentation</vt:lpstr>
      <vt:lpstr>Authors and affiliations</vt:lpstr>
      <vt:lpstr>Background/Motivation</vt:lpstr>
      <vt:lpstr>Problem   Statement</vt:lpstr>
      <vt:lpstr>Related works</vt:lpstr>
      <vt:lpstr>Healthcare with Large Language Models</vt:lpstr>
      <vt:lpstr>Overview of ProMedTS Framework</vt:lpstr>
      <vt:lpstr>Time-Series Prompt Embedding (TSPE)</vt:lpstr>
      <vt:lpstr>PowerPoint Presentation</vt:lpstr>
      <vt:lpstr>PowerPoint Presentation</vt:lpstr>
      <vt:lpstr>LLM-based Disease Diagnosis with ProMedTS</vt:lpstr>
      <vt:lpstr>Datasets Used</vt:lpstr>
      <vt:lpstr>PowerPoint Presentation</vt:lpstr>
      <vt:lpstr>Experimental setup</vt:lpstr>
      <vt:lpstr>Experimental results</vt:lpstr>
      <vt:lpstr>Ablation studies</vt:lpstr>
      <vt:lpstr>Limitations</vt:lpstr>
      <vt:lpstr>Conclusion</vt:lpstr>
      <vt:lpstr>References</vt:lpstr>
      <vt:lpstr>Thank you</vt:lpstr>
      <vt:lpstr>PowerPoint Presentation</vt:lpstr>
      <vt:lpstr>How were anomaly-caption templates chosen and validated clinically? Which components are most sensitive to hyperparameters (α,β,γ)? How were prompt init tokens constructed — random or BERT-initialized? Any unpublished negative results (failures/timeouts)? Plans for waveform integration and clinician evaluations?   -&gt; QUESTIONS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Sreehitha Korrapati</cp:lastModifiedBy>
  <cp:revision>745</cp:revision>
  <dcterms:created xsi:type="dcterms:W3CDTF">2025-10-27T16:26:37Z</dcterms:created>
  <dcterms:modified xsi:type="dcterms:W3CDTF">2026-09-29T22:48:58Z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